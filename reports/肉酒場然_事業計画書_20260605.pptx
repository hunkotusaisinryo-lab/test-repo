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82296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C8963C"/>
                </a:solidFill>
              </a:rPr>
              <a:t>肉酒場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645920"/>
            <a:ext cx="6400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</a:rPr>
              <a:t>然（ぜん）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3291840"/>
            <a:ext cx="50292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456432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1">
                <a:solidFill>
                  <a:srgbClr val="F0E6D3"/>
                </a:solidFill>
              </a:rPr>
              <a:t>糀漬け肉の定食と、和の一杯。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29768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8A7A6A"/>
                </a:solidFill>
              </a:rPr>
              <a:t>事業計画書　2026年6月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457200"/>
            <a:ext cx="34747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0" b="1" i="0">
                <a:solidFill>
                  <a:srgbClr val="2A1E12"/>
                </a:solidFill>
              </a:rPr>
              <a:t>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1 / 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私たちのビジョン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24712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2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28800"/>
            <a:ext cx="11430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C8963C"/>
                </a:solidFill>
              </a:rPr>
              <a:t>7年で100店舗。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200400"/>
            <a:ext cx="11430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0E6D3"/>
                </a:solidFill>
              </a:rPr>
              <a:t>発酵と肉の掛け合わせで、
日本の食文化に新しい定番をつくる。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4663440"/>
            <a:ext cx="9144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8A7A6A"/>
                </a:solidFill>
              </a:rPr>
              <a:t>居酒屋×発酵×定食　という空白地帯に参入し、
糀漬け肉料理を「日本の新定番」として全国に広める。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なぜ今か　――　市場の追い風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24712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3 / 23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737360"/>
            <a:ext cx="3657600" cy="41148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2024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8963C"/>
                </a:solidFill>
              </a:rPr>
              <a:t>外食産業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51460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35.7兆円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520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8A7A6A"/>
                </a:solidFill>
              </a:rPr>
              <a:t>2025年市場規模
（前年比＋3.5%）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34840" y="1737360"/>
            <a:ext cx="3657600" cy="41148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192024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8963C"/>
                </a:solidFill>
              </a:rPr>
              <a:t>居酒屋業態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51460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48ヶ月連続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3520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8A7A6A"/>
                </a:solidFill>
              </a:rPr>
              <a:t>売上前年比プラス
コロナ前超え達成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75320" y="1737360"/>
            <a:ext cx="3657600" cy="41148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58200" y="192024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8963C"/>
                </a:solidFill>
              </a:rPr>
              <a:t>発酵食品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251460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SNS急拡大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520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8A7A6A"/>
                </a:solidFill>
              </a:rPr>
              <a:t>健康志向×体験価値
Z世代・40代双方に刺さる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594360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8963C"/>
                </a:solidFill>
              </a:rPr>
              <a:t>→ 出店タイミングは今が最適。居酒屋×発酵×定食の空白地帯は誰もいない。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肉酒場 然のコンセプト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24712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4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916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963C"/>
                </a:solidFill>
              </a:rPr>
              <a:t>業態定義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148840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昼：糀漬け肉定食の専門店
夜：発酵×肉の創作酒場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20040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963C"/>
                </a:solidFill>
              </a:rPr>
              <a:t>三つの独自性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3749040"/>
            <a:ext cx="64008" cy="62179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370332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糀漬け×低温調理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06908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7A6A"/>
                </a:solidFill>
              </a:rPr>
              <a:t>前日仕込みで品質均一化。FC展開時の再現性を担保。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4645151"/>
            <a:ext cx="64008" cy="62179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4599431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昼夜二毛作モデル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4965191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7A6A"/>
                </a:solidFill>
              </a:rPr>
              <a:t>ランチ定食で固定売上 ＋ ディナー酒場でドリンク収益。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5541264"/>
            <a:ext cx="64008" cy="62179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5495544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石板焼き体験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5861304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7A6A"/>
                </a:solidFill>
              </a:rPr>
              <a:t>煙・音・ロゼ色の断面がSNS映え。来店動機を設計する。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1691640"/>
            <a:ext cx="5486400" cy="475488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182880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963C"/>
                </a:solidFill>
              </a:rPr>
              <a:t>ポジショニングマップ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2331720"/>
            <a:ext cx="5212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       健康・発酵（高）
            ↑
   びゃく   │
            │   ★肉酒場 然
            │  （空白地帯）
大衆──────┼──────── こだわり
 ひまり堂   │ なかよし
 つむぎ堂   │
            ↓
       健康・発酵（低）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5806440"/>
            <a:ext cx="5212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963C"/>
                </a:solidFill>
              </a:rPr>
              <a:t>「健康・発酵 × 肉 × ランチ＆ディナー」
は競合ゼロの完全空白地帯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看板3品　――　これを食べに来る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24712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5 / 23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691640"/>
            <a:ext cx="3703320" cy="48006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828800"/>
            <a:ext cx="594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2240280" y="1847088"/>
            <a:ext cx="1783080" cy="329184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40280" y="1847088"/>
            <a:ext cx="1783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120B"/>
                </a:solidFill>
              </a:rPr>
              <a:t>SNS映え No.1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286000"/>
            <a:ext cx="3337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糀漬けサガリの
石板焼き定食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246120"/>
            <a:ext cx="3337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8963C"/>
                </a:solidFill>
              </a:rPr>
              <a:t>¥1,980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931920"/>
            <a:ext cx="3337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北海道産サガリを糀で48時間熟成。
石板で焼き上げる煙と音が体験価値に。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892040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原価率 34.5%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0" y="1691640"/>
            <a:ext cx="3703320" cy="48006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828800"/>
            <a:ext cx="594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02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847088"/>
            <a:ext cx="1783080" cy="329184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0" y="1847088"/>
            <a:ext cx="1783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120B"/>
                </a:solidFill>
              </a:rPr>
              <a:t>定食の王道×発酵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286000"/>
            <a:ext cx="3337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糀漬け豚の
厚切りカツ定食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246120"/>
            <a:ext cx="3337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8963C"/>
                </a:solidFill>
              </a:rPr>
              <a:t>¥1,780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931920"/>
            <a:ext cx="3337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糀漬け豚ロースを低温調理後に揚げる。
ロゼ色の断面が口コミの起点。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892040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原価率 32.1%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75320" y="1691640"/>
            <a:ext cx="3703320" cy="48006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58200" y="1828800"/>
            <a:ext cx="594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03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12680" y="1847088"/>
            <a:ext cx="1783080" cy="329184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12680" y="1847088"/>
            <a:ext cx="1783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120B"/>
                </a:solidFill>
              </a:rPr>
              <a:t>ヘルシー需要取込み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58200" y="2286000"/>
            <a:ext cx="3337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糀漬け鶏の
ロースト定食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58200" y="3246120"/>
            <a:ext cx="3337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8963C"/>
                </a:solidFill>
              </a:rPr>
              <a:t>¥1,680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58200" y="3931920"/>
            <a:ext cx="3337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鶏もも肉を糀×ハーブで低温ロースト。
鶏の旨みが最大限に引き出される。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58200" y="4892040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原価率 35.6%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9224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8A7A6A"/>
                </a:solidFill>
              </a:rPr>
              <a:t>全3品にライス・味噌汁・小鉢2品・漬物が付く。「体にいい定食」を徹底追求。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COMPETITION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競合5店　繁盛の法則と然の優位性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24712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6 / 23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664208"/>
            <a:ext cx="11247120" cy="38404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709928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20B"/>
                </a:solidFill>
              </a:rPr>
              <a:t>店舗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18104" y="1709928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20B"/>
                </a:solidFill>
              </a:rPr>
              <a:t>月商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1144" y="1709928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20B"/>
                </a:solidFill>
              </a:rPr>
              <a:t>ランチ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9864" y="1709928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20B"/>
                </a:solidFill>
              </a:rPr>
              <a:t>発酵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8583" y="1709928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20B"/>
                </a:solidFill>
              </a:rPr>
              <a:t>肉特化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47304" y="1709928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20B"/>
                </a:solidFill>
              </a:rPr>
              <a:t>FC展開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066543"/>
            <a:ext cx="11247120" cy="585216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" y="2185415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なかよし（恵比寿）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18104" y="2185415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非公開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2185415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9864" y="2185415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58583" y="2185415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47304" y="2185415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◎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688336"/>
            <a:ext cx="11247120" cy="585216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2807208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つむぎ堂（新宿）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18104" y="2807208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1,500万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1144" y="2807208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69864" y="2807208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58583" y="2807208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47304" y="2807208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◎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310128"/>
            <a:ext cx="11247120" cy="585216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" y="3429000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びゃく（学芸大学）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18104" y="3429000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非公開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81144" y="3429000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69864" y="3429000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◎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58583" y="3429000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✗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47304" y="3429000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△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931920"/>
            <a:ext cx="11247120" cy="585216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" y="4050792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ひまり堂（恵比寿）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18104" y="4050792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850万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81144" y="4050792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69864" y="4050792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✗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58583" y="4050792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47304" y="4050792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◎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4553712"/>
            <a:ext cx="11247120" cy="585216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9224" y="4672584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ひまり商店（新橋）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118104" y="4672584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1,700万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81144" y="4672584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769864" y="4672584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✗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58583" y="4672584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✗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47304" y="4672584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◎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5175504"/>
            <a:ext cx="11247120" cy="585216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9224" y="5294376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963C"/>
                </a:solidFill>
              </a:rPr>
              <a:t>★ 肉酒場 然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118104" y="5294376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963C"/>
                </a:solidFill>
              </a:rPr>
              <a:t>720万目標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81144" y="5294376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963C"/>
                </a:solidFill>
              </a:rPr>
              <a:t>◎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69864" y="5294376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963C"/>
                </a:solidFill>
              </a:rPr>
              <a:t>◎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58583" y="5294376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963C"/>
                </a:solidFill>
              </a:rPr>
              <a:t>◎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47304" y="5294376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963C"/>
                </a:solidFill>
              </a:rPr>
              <a:t>◎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" y="644652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8963C"/>
                </a:solidFill>
              </a:rPr>
              <a:t>「健康・発酵 × 肉 × ランチ×ディナー × FC」を同時に満たすのは然だけ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FOUNDER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代表者プロフィール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24712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7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916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63C"/>
                </a:solidFill>
              </a:rPr>
              <a:t>経歴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2249424"/>
            <a:ext cx="64008" cy="43891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2176272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前職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10512" y="2176272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都内約25店舗展開　焼肉レストランブランド　運営本部長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2907791"/>
            <a:ext cx="64008" cy="43891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" y="2834639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現 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10512" y="2834639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やきとり家すみれ　運営本部長（SV体制構築・販促・業績管理）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3566160"/>
            <a:ext cx="64008" cy="43891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8" y="349300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兼 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10512" y="3493008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EC通販事業 経営メンバー（販売戦略・商品企画・数値分析）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16916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63C"/>
                </a:solidFill>
              </a:rPr>
              <a:t>5つの強み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92240" y="2249424"/>
            <a:ext cx="5394960" cy="53035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9400" y="2267712"/>
            <a:ext cx="512064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01  複数店舗の運営経験（本部長として売上・利益・人材を総合管理）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92240" y="2935224"/>
            <a:ext cx="5394960" cy="53035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400" y="2953512"/>
            <a:ext cx="512064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02  現場と経営の両立（現場課題と経営数値の両方を深く理解）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3621024"/>
            <a:ext cx="5394960" cy="53035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3639312"/>
            <a:ext cx="512064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03  数字に基づく改善力（客数・客単価・原価・人件費を分解改善）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92240" y="4306824"/>
            <a:ext cx="5394960" cy="53035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29400" y="4325112"/>
            <a:ext cx="512064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04  商品企画・販促経験（SNS・LINE・キャンペーンによる集客実績）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92240" y="4992624"/>
            <a:ext cx="5394960" cy="53035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29400" y="5010912"/>
            <a:ext cx="512064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05  人材育成と仕組み化（属人化しない標準化・教育体制の構築）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5532120"/>
            <a:ext cx="11247120" cy="96012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55961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C8963C"/>
                </a:solidFill>
              </a:rPr>
              <a:t>「飲食の現場と数字を両方知っている人間が、
　ゼロから作るブランドだから強い。」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FINANCIALS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収支計画　――　堅実な数字設計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24712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8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64208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63C"/>
                </a:solidFill>
              </a:rPr>
              <a:t>月次売上目標（安定期・30席）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103120"/>
            <a:ext cx="5577840" cy="329184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" y="212140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20B"/>
                </a:solidFill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5" y="2121408"/>
            <a:ext cx="960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20B"/>
                </a:solidFill>
              </a:rPr>
              <a:t>客単価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2615" y="2121408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20B"/>
                </a:solidFill>
              </a:rPr>
              <a:t>席数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9856" y="2121408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20B"/>
                </a:solidFill>
              </a:rPr>
              <a:t>回転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88536" y="2121408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20B"/>
                </a:solidFill>
              </a:rPr>
              <a:t>営業日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65775" y="2121408"/>
            <a:ext cx="960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20B"/>
                </a:solidFill>
              </a:rPr>
              <a:t>売上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450592"/>
            <a:ext cx="5577840" cy="4572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2523744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ランチ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82495" y="2523744"/>
            <a:ext cx="960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2,000円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42615" y="2523744"/>
            <a:ext cx="777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30席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19856" y="2523744"/>
            <a:ext cx="868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1.8回転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88536" y="2523744"/>
            <a:ext cx="777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25日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65775" y="2523744"/>
            <a:ext cx="960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270万円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926080"/>
            <a:ext cx="5577840" cy="4572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99923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ディナー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82495" y="2999232"/>
            <a:ext cx="960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5,000円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42615" y="2999232"/>
            <a:ext cx="777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30席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19856" y="2999232"/>
            <a:ext cx="868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1.2回転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88536" y="2999232"/>
            <a:ext cx="777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25日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65775" y="2999232"/>
            <a:ext cx="960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450万円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401568"/>
            <a:ext cx="5577840" cy="457200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" y="3474720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合計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82495" y="3474720"/>
            <a:ext cx="960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42615" y="3474720"/>
            <a:ext cx="777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19856" y="3474720"/>
            <a:ext cx="868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88536" y="3474720"/>
            <a:ext cx="777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65775" y="3474720"/>
            <a:ext cx="960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720万円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" y="38404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63C"/>
                </a:solidFill>
              </a:rPr>
              <a:t>フェーズ別収支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4315968"/>
            <a:ext cx="5577840" cy="5486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4407408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立ち上げ期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11680" y="4407408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7A6A"/>
                </a:solidFill>
              </a:rPr>
              <a:t>0〜3ヶ月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08960" y="4407408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360万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97680" y="4407408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0392B"/>
                </a:solidFill>
              </a:rPr>
              <a:t>▲72万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4910328"/>
            <a:ext cx="5577840" cy="5486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5001768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成長期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11680" y="5001768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7A6A"/>
                </a:solidFill>
              </a:rPr>
              <a:t>3〜6ヶ月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108960" y="5001768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504万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97680" y="5001768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8A7A6A"/>
                </a:solidFill>
              </a:rPr>
              <a:t>＋14万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5504688"/>
            <a:ext cx="5577840" cy="5486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5596128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安定期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011680" y="5596128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7A6A"/>
                </a:solidFill>
              </a:rPr>
              <a:t>6ヶ月〜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108960" y="5596128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648万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97680" y="5596128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77A5A"/>
                </a:solidFill>
              </a:rPr>
              <a:t>＋142万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492240" y="1664208"/>
            <a:ext cx="5486400" cy="484632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29400" y="1792224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63C"/>
                </a:solidFill>
              </a:rPr>
              <a:t>損益分岐点分析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492240" y="2286000"/>
            <a:ext cx="5486400" cy="475488"/>
          </a:xfrm>
          <a:prstGeom prst="rect">
            <a:avLst/>
          </a:prstGeom>
          <a:solidFill>
            <a:srgbClr val="2218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629400" y="2359152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損益分岐点売上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509760" y="235915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</a:rPr>
              <a:t>460万円/月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92240" y="2798064"/>
            <a:ext cx="5486400" cy="475488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629400" y="2871216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目標売上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509760" y="287121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</a:rPr>
              <a:t>720万円/月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492240" y="3310128"/>
            <a:ext cx="5486400" cy="475488"/>
          </a:xfrm>
          <a:prstGeom prst="rect">
            <a:avLst/>
          </a:prstGeom>
          <a:solidFill>
            <a:srgbClr val="2218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629400" y="3383280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目標対比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509760" y="338328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</a:rPr>
              <a:t>64%で黒字転換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492240" y="3822191"/>
            <a:ext cx="5486400" cy="475488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629400" y="3895343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固定費合計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509760" y="3895343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</a:rPr>
              <a:t>約175万円/月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492240" y="4334256"/>
            <a:ext cx="5486400" cy="475488"/>
          </a:xfrm>
          <a:prstGeom prst="rect">
            <a:avLst/>
          </a:prstGeom>
          <a:solidFill>
            <a:srgbClr val="2218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29400" y="4407408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FL比率（安定期）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509760" y="440740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</a:rPr>
              <a:t>48.6%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492240" y="4846320"/>
            <a:ext cx="5486400" cy="475488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629400" y="4919472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安定期営業利益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509760" y="491947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C8963C"/>
                </a:solidFill>
              </a:rPr>
              <a:t>約142万円/月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492240" y="5358384"/>
            <a:ext cx="5486400" cy="475488"/>
          </a:xfrm>
          <a:prstGeom prst="rect">
            <a:avLst/>
          </a:prstGeom>
          <a:solidFill>
            <a:srgbClr val="2218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629400" y="5431536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月次返済（友人＋公庫）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509760" y="543153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</a:rPr>
              <a:t>約20万円/月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492240" y="5870448"/>
            <a:ext cx="5486400" cy="475488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629400" y="5943600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返済後手残り（安定期）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509760" y="594360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C8963C"/>
                </a:solidFill>
              </a:rPr>
              <a:t>約122万円/月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FUNDING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資金調達計画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24712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9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916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63C"/>
                </a:solidFill>
              </a:rPr>
              <a:t>調達構成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176272"/>
            <a:ext cx="5577840" cy="62179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249424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0E6D3"/>
                </a:solidFill>
              </a:rPr>
              <a:t>代表 自己資金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2231136"/>
            <a:ext cx="1463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8963C"/>
                </a:solidFill>
              </a:rPr>
              <a:t>630万円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69080" y="2267712"/>
            <a:ext cx="1920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90%持分（株式）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862072"/>
            <a:ext cx="5577840" cy="62179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935224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0E6D3"/>
                </a:solidFill>
              </a:rPr>
              <a:t>友人 出資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2916936"/>
            <a:ext cx="1463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8963C"/>
                </a:solidFill>
              </a:rPr>
              <a:t>70万円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69080" y="2953512"/>
            <a:ext cx="1920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10%持分（株式）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547872"/>
            <a:ext cx="5577840" cy="62179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621024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0E6D3"/>
                </a:solidFill>
              </a:rPr>
              <a:t>友人 株主借入金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602736"/>
            <a:ext cx="1463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8963C"/>
                </a:solidFill>
              </a:rPr>
              <a:t>1,430万円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69080" y="3639312"/>
            <a:ext cx="1920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金利1%・10年返済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233672"/>
            <a:ext cx="5577840" cy="62179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306824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0E6D3"/>
                </a:solidFill>
              </a:rPr>
              <a:t>日本政策金融公庫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4288536"/>
            <a:ext cx="1463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8963C"/>
                </a:solidFill>
              </a:rPr>
              <a:t>500万円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69080" y="4325112"/>
            <a:ext cx="1920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金利2%・7年返済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937760"/>
            <a:ext cx="5577840" cy="658368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02920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調達総額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97480" y="4992624"/>
            <a:ext cx="2560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963C"/>
                </a:solidFill>
              </a:rPr>
              <a:t>2,630万円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16916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63C"/>
                </a:solidFill>
              </a:rPr>
              <a:t>資金使途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92240" y="2176272"/>
            <a:ext cx="5486400" cy="493776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29400" y="2249424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物件取得費（保証金・礼金）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0" y="2249424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1" i="0">
                <a:solidFill>
                  <a:srgbClr val="F0E6D3"/>
                </a:solidFill>
              </a:rPr>
              <a:t>350万円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92240" y="2706624"/>
            <a:ext cx="5486400" cy="493776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29400" y="2779776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内装・設備工事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49840" y="277977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1" i="0">
                <a:solidFill>
                  <a:srgbClr val="F0E6D3"/>
                </a:solidFill>
              </a:rPr>
              <a:t>870万円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92240" y="3236976"/>
            <a:ext cx="5486400" cy="493776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29400" y="3310128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厨房機器・備品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49840" y="331012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1" i="0">
                <a:solidFill>
                  <a:srgbClr val="F0E6D3"/>
                </a:solidFill>
              </a:rPr>
              <a:t>200万円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92240" y="3767327"/>
            <a:ext cx="5486400" cy="493776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29400" y="3840479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仕入・食材初回発注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49840" y="3840479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1" i="0">
                <a:solidFill>
                  <a:srgbClr val="F0E6D3"/>
                </a:solidFill>
              </a:rPr>
              <a:t>50万円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92240" y="4297679"/>
            <a:ext cx="5486400" cy="493776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29400" y="4370831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採用・オープン前研修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49840" y="4370831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1" i="0">
                <a:solidFill>
                  <a:srgbClr val="F0E6D3"/>
                </a:solidFill>
              </a:rPr>
              <a:t>80万円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92240" y="4828031"/>
            <a:ext cx="5486400" cy="493776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29400" y="4901183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マーケティング（3ヶ月分）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49840" y="4901183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1" i="0">
                <a:solidFill>
                  <a:srgbClr val="F0E6D3"/>
                </a:solidFill>
              </a:rPr>
              <a:t>45万円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92240" y="5358383"/>
            <a:ext cx="5486400" cy="493776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29400" y="5431535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運転資金（3ヶ月分）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49840" y="5431535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1" i="0">
                <a:solidFill>
                  <a:srgbClr val="F0E6D3"/>
                </a:solidFill>
              </a:rPr>
              <a:t>405万円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92240" y="5888736"/>
            <a:ext cx="5486400" cy="493776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29400" y="5961888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963C"/>
                </a:solidFill>
              </a:rPr>
              <a:t>手元残金（緊急予備）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49840" y="596188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1" i="0">
                <a:solidFill>
                  <a:srgbClr val="C8963C"/>
                </a:solidFill>
              </a:rPr>
              <a:t>630万円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644652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8963C"/>
                </a:solidFill>
              </a:rPr>
              <a:t>手元残金630万円は立ち上げ期の赤字（▲216万）を十分カバー。財務安全性は高い。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展開ロードマップ　7年で100店舗へ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24712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10 / 23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664208"/>
            <a:ext cx="2788920" cy="43891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91640"/>
            <a:ext cx="2606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20B"/>
                </a:solidFill>
              </a:rPr>
              <a:t>実証期　1〜2年目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103120"/>
            <a:ext cx="2788920" cy="46634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219456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1〜2店舗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" y="2852928"/>
            <a:ext cx="2542032" cy="127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2971800"/>
            <a:ext cx="2606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直営1号店で型をつくる
QSC・レシピ・教育マニュアル完成
インフルエンサー戦略で認知獲得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937760"/>
            <a:ext cx="2788920" cy="777240"/>
          </a:xfrm>
          <a:prstGeom prst="rect">
            <a:avLst/>
          </a:prstGeom>
          <a:solidFill>
            <a:srgbClr val="1A12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4983480"/>
            <a:ext cx="26060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8963C"/>
                </a:solidFill>
              </a:rPr>
              <a:t>KPI: 月商黒字化
リピート率60%以上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29000" y="1664208"/>
            <a:ext cx="2788920" cy="43891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0440" y="1691640"/>
            <a:ext cx="2606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20B"/>
                </a:solidFill>
              </a:rPr>
              <a:t>横展開期　3年目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29000" y="2103120"/>
            <a:ext cx="2788920" cy="46634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38728" y="219456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2〜5店舗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38728" y="2852928"/>
            <a:ext cx="2542032" cy="127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38728" y="2971800"/>
            <a:ext cx="2606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直営2〜3号店 ＋ FC募集開始
FC加盟オーナー教育体制構築
三軒茶屋・目黒・自由が丘エリアへ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29000" y="4937760"/>
            <a:ext cx="2788920" cy="777240"/>
          </a:xfrm>
          <a:prstGeom prst="rect">
            <a:avLst/>
          </a:prstGeom>
          <a:solidFill>
            <a:srgbClr val="1A12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38728" y="4983480"/>
            <a:ext cx="26060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8963C"/>
                </a:solidFill>
              </a:rPr>
              <a:t>KPI: FC1号店開業
グループ月商2,000万超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55080" y="1664208"/>
            <a:ext cx="2788920" cy="43891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1691640"/>
            <a:ext cx="2606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20B"/>
                </a:solidFill>
              </a:rPr>
              <a:t>加速期　4〜5年目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55080" y="2103120"/>
            <a:ext cx="2788920" cy="46634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64808" y="219456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20〜50店舗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64808" y="2852928"/>
            <a:ext cx="2542032" cy="127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64808" y="2971800"/>
            <a:ext cx="2606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FC中心に年15〜20店舗ペース
魚酒場 然・鶏酒場 然も展開開始
SV体制・本部機能を整備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55080" y="4937760"/>
            <a:ext cx="2788920" cy="777240"/>
          </a:xfrm>
          <a:prstGeom prst="rect">
            <a:avLst/>
          </a:prstGeom>
          <a:solidFill>
            <a:srgbClr val="1A12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64808" y="4983480"/>
            <a:ext cx="26060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8963C"/>
                </a:solidFill>
              </a:rPr>
              <a:t>KPI: FC比率70%以上
年商10億超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281160" y="1664208"/>
            <a:ext cx="2788920" cy="43891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72600" y="1691640"/>
            <a:ext cx="2606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20B"/>
                </a:solidFill>
              </a:rPr>
              <a:t>確立期　6〜7年目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81160" y="2103120"/>
            <a:ext cx="2788920" cy="46634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90888" y="219456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8963C"/>
                </a:solidFill>
              </a:rPr>
              <a:t>100店舗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390888" y="2852928"/>
            <a:ext cx="2542032" cy="127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90888" y="2971800"/>
            <a:ext cx="2606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全国展開・上場検討
ブランド価値の確立
「然」を食文化のアイコンへ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81160" y="4937760"/>
            <a:ext cx="2788920" cy="777240"/>
          </a:xfrm>
          <a:prstGeom prst="rect">
            <a:avLst/>
          </a:prstGeom>
          <a:solidFill>
            <a:srgbClr val="1A12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90888" y="4983480"/>
            <a:ext cx="26060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8963C"/>
                </a:solidFill>
              </a:rPr>
              <a:t>KPI: 100店舗達成
上場準備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90672" y="3520440"/>
            <a:ext cx="2560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C8963C"/>
                </a:solidFill>
              </a:rPr>
              <a:t>→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16752" y="3520440"/>
            <a:ext cx="2560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C8963C"/>
                </a:solidFill>
              </a:rPr>
              <a:t>→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42832" y="3520440"/>
            <a:ext cx="2560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C8963C"/>
                </a:solidFill>
              </a:rPr>
              <a:t>→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644652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8A7A6A"/>
                </a:solidFill>
              </a:rPr>
              <a:t>FC展開により資本効率を最大化。オーナーのノウハウを型にして横展開する。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GROUP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グループ事業戦略　――　3つの柱で成長する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24712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11 / 23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664208"/>
            <a:ext cx="3703320" cy="48920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1051560" y="1810512"/>
            <a:ext cx="2926080" cy="29260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1810512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20B"/>
                </a:solidFill>
              </a:rPr>
              <a:t>メイン事業　Year1〜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76272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肉酒場 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999232"/>
            <a:ext cx="3383280" cy="6350"/>
          </a:xfrm>
          <a:prstGeom prst="rect">
            <a:avLst/>
          </a:prstGeom>
          <a:solidFill>
            <a:srgbClr val="8A7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08960"/>
            <a:ext cx="3429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糀漬け肉×定食居酒屋の直営・FC展開。
7年目100店舗・年商86億を目指すコア事業。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434840"/>
            <a:ext cx="3703320" cy="475488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462272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63C"/>
                </a:solidFill>
              </a:rPr>
              <a:t>7年目目標：年商 86億円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98348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100店舗 / FC展開 / 上場検討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120" y="1664208"/>
            <a:ext cx="3703320" cy="48920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17830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02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37760" y="1810512"/>
            <a:ext cx="2926080" cy="29260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37760" y="1810512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20B"/>
                </a:solidFill>
              </a:rPr>
              <a:t>1人OP特化　Year4〜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176272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新業態ブランド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26280" y="2999232"/>
            <a:ext cx="3383280" cy="6350"/>
          </a:xfrm>
          <a:prstGeom prst="rect">
            <a:avLst/>
          </a:prstGeom>
          <a:solidFill>
            <a:srgbClr val="8A7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3108960"/>
            <a:ext cx="3429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1人〜2人で運営できる小型FC業態。
低投資・高回転モデルで地方・郊外に展開。
発酵×定食の然ノウハウを凝縮。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89120" y="4434840"/>
            <a:ext cx="3703320" cy="475488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26280" y="4462272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63C"/>
                </a:solidFill>
              </a:rPr>
              <a:t>7年目目標：年商 12億円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6280" y="498348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50店舗 / FC特化 / 低コスト出店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75320" y="1664208"/>
            <a:ext cx="3703320" cy="48920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0" y="17830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03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823960" y="1810512"/>
            <a:ext cx="2926080" cy="29260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23960" y="1810512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20B"/>
                </a:solidFill>
              </a:rPr>
              <a:t>事業部化　Year3〜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2176272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SNS事業部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12480" y="2999232"/>
            <a:ext cx="3383280" cy="6350"/>
          </a:xfrm>
          <a:prstGeom prst="rect">
            <a:avLst/>
          </a:prstGeom>
          <a:solidFill>
            <a:srgbClr val="8A7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80" y="3108960"/>
            <a:ext cx="3429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3年目に事業部として独立。
SNSコンサルティングと
クリエイティブ制作を軸に
飲食業界特化で展開。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75320" y="4434840"/>
            <a:ext cx="3703320" cy="475488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12480" y="4462272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63C"/>
                </a:solidFill>
              </a:rPr>
              <a:t>7年目目標：年商 2.5億円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0" y="498348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月額顧問契約 / 案件単価UP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5669280"/>
            <a:ext cx="11247120" cy="822960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574243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8A7A6A"/>
                </a:solidFill>
              </a:rPr>
              <a:t>7年目グループ合計年商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0" y="57150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8963C"/>
                </a:solidFill>
              </a:rPr>
              <a:t>約103億円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89520" y="5788152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（然86億 ＋ 新業態12億 ＋ コンサル2.5億）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11 / 23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MARKETING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集客・マーケティング戦略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24712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11 / 23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664208"/>
            <a:ext cx="5669280" cy="233172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773936"/>
            <a:ext cx="5349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① インフルエンサー戦略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212848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8963C"/>
                </a:solidFill>
              </a:rPr>
              <a:t>ひまり商店モデル（初月1,700万円）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2" y="2551176"/>
            <a:ext cx="5303520" cy="6350"/>
          </a:xfrm>
          <a:prstGeom prst="rect">
            <a:avLst/>
          </a:prstGeom>
          <a:solidFill>
            <a:srgbClr val="8A7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651760"/>
            <a:ext cx="53492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開業3ヶ月前からマイクロ〜メガ
インフルエンサーをリスト化。
無料招待→動画・リール投稿で
オープン前から認知を爆発させる。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664208"/>
            <a:ext cx="5669280" cy="233172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65392" y="1773936"/>
            <a:ext cx="5349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② Instagram中心のSNS設計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65392" y="2212848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8963C"/>
                </a:solidFill>
              </a:rPr>
              <a:t>石板の煙・音・断面美を動画化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65392" y="2551176"/>
            <a:ext cx="5303520" cy="6350"/>
          </a:xfrm>
          <a:prstGeom prst="rect">
            <a:avLst/>
          </a:prstGeom>
          <a:solidFill>
            <a:srgbClr val="8A7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65392" y="2651760"/>
            <a:ext cx="53492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撮られることを前提にした
商品・空間・BGMの設計。
「映え」ではなく「体験動画」
として拡散される仕掛けを作る。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133088"/>
            <a:ext cx="5669280" cy="233172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4242816"/>
            <a:ext cx="5349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③ MEO（Googleマップ）対策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" y="4681728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8963C"/>
                </a:solidFill>
              </a:rPr>
              <a:t>「肉酒場 三軒茶屋」で1位獲得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7512" y="5020056"/>
            <a:ext cx="5303520" cy="6350"/>
          </a:xfrm>
          <a:prstGeom prst="rect">
            <a:avLst/>
          </a:prstGeom>
          <a:solidFill>
            <a:srgbClr val="8A7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" y="5120640"/>
            <a:ext cx="53492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業態説明に「糀漬け肉定食居酒屋」
を明記。写真・口コミ・投稿頻度
で上位表示を維持する。
AI検索（AIO）にも対応した記述。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4133088"/>
            <a:ext cx="5669280" cy="233172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65392" y="4242816"/>
            <a:ext cx="5349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④ ランチ×ディナー来店設計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65392" y="4681728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8963C"/>
                </a:solidFill>
              </a:rPr>
              <a:t>一人の客が昼も夜も来る店に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65392" y="5020056"/>
            <a:ext cx="5303520" cy="6350"/>
          </a:xfrm>
          <a:prstGeom prst="rect">
            <a:avLst/>
          </a:prstGeom>
          <a:solidFill>
            <a:srgbClr val="8A7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65392" y="5120640"/>
            <a:ext cx="53492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ランチで日常客を獲得し、
夜の酒場に引き上げる。
LINE公式・スタンプカードで
リピートを仕組み化する。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LAUNCH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オープン戦略　――　開業前から火をつける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24712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13 / 23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664208"/>
            <a:ext cx="2788920" cy="402336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6344" y="1691640"/>
            <a:ext cx="26791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8963C"/>
                </a:solidFill>
              </a:rPr>
              <a:t>-6ヶ月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" y="2121408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仕込み期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542032"/>
            <a:ext cx="2788920" cy="416052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9496" y="2651760"/>
            <a:ext cx="64008" cy="67665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65176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物件契約・内装着工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9496" y="3611880"/>
            <a:ext cx="64008" cy="67665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61188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Instagramアカウント開設（コンセプト発信）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9496" y="4572000"/>
            <a:ext cx="64008" cy="67665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57200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インフルエンサーリスト作成（50名以上）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9496" y="5532120"/>
            <a:ext cx="64008" cy="67665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53212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メニュー最終決定・レシピ標準化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55848" y="1664208"/>
            <a:ext cx="2788920" cy="402336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10712" y="1691640"/>
            <a:ext cx="26791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8963C"/>
                </a:solidFill>
              </a:rPr>
              <a:t>-3ヶ月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65576" y="2121408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認知獲得期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55848" y="2542032"/>
            <a:ext cx="2788920" cy="416052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483864" y="2651760"/>
            <a:ext cx="64008" cy="67665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30168" y="265176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マイクロインフルエンサー（1万〜10万）20名招待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83864" y="3611880"/>
            <a:ext cx="64008" cy="67665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30168" y="361188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工事中の様子・仕込み動画をリール投稿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83864" y="4572000"/>
            <a:ext cx="64008" cy="67665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30168" y="457200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Googleビジネスプロフィール登録・MEO開始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83864" y="5532120"/>
            <a:ext cx="64008" cy="67665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30168" y="553212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プレスリリース・食メディアへのアプローチ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0216" y="1664208"/>
            <a:ext cx="2788920" cy="402336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55080" y="1691640"/>
            <a:ext cx="26791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8963C"/>
                </a:solidFill>
              </a:rPr>
              <a:t>-1ヶ月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9944" y="2121408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加熱期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00216" y="2542032"/>
            <a:ext cx="2788920" cy="416052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28232" y="2651760"/>
            <a:ext cx="64008" cy="67665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74536" y="265176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メガインフルエンサー（10万〜）5名招待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28232" y="3611880"/>
            <a:ext cx="64008" cy="67665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74536" y="361188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プレオープン（関係者・常連候補・地元住民）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28232" y="4572000"/>
            <a:ext cx="64008" cy="67665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74536" y="457200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Instagramカウントダウン投稿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28232" y="5532120"/>
            <a:ext cx="64008" cy="67665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74536" y="553212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Googleマップ写真・口コミ初期投稿の準備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44584" y="1664208"/>
            <a:ext cx="2788920" cy="40233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99448" y="1691640"/>
            <a:ext cx="26791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120B"/>
                </a:solidFill>
              </a:rPr>
              <a:t>OPEN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54312" y="2121408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爆発期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244584" y="2542032"/>
            <a:ext cx="2788920" cy="416052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372600" y="2651760"/>
            <a:ext cx="64008" cy="67665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518904" y="265176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オープン当日ライブ配信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372600" y="3611880"/>
            <a:ext cx="64008" cy="67665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518904" y="361188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初月は意図的に「並ばせる」演出で話題化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372600" y="4572000"/>
            <a:ext cx="64008" cy="67665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518904" y="457200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日次で売上・客数・SNS反応をモニタリング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372600" y="5532120"/>
            <a:ext cx="64008" cy="67665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518904" y="553212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口コミ返信を毎日・MEO評価を週次チェック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2920" y="649224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8A7A6A"/>
                </a:solidFill>
              </a:rPr>
              <a:t>参考：ひまり商店（新橋）は開業前からのインフルエンサー戦略で初月1,700万円を達成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FC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FC展開戦略　――　型をつくり、型で増やす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24712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14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916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63C"/>
                </a:solidFill>
              </a:rPr>
              <a:t>FCパッケージ設計（予定）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176272"/>
            <a:ext cx="5577840" cy="566928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267712"/>
            <a:ext cx="2377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加盟金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2231136"/>
            <a:ext cx="1691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200万円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267712"/>
            <a:ext cx="1554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ブランド使用権・初期研修込み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788920"/>
            <a:ext cx="5577840" cy="566928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880360"/>
            <a:ext cx="2377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ロイヤリティ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2843784"/>
            <a:ext cx="1691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売上の3%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880360"/>
            <a:ext cx="1554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本部サポート・仕入支援含む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401568"/>
            <a:ext cx="5577840" cy="566928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493008"/>
            <a:ext cx="2377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保証金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3456432"/>
            <a:ext cx="1691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100万円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3493008"/>
            <a:ext cx="1554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退会時返還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014216"/>
            <a:ext cx="5577840" cy="566928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105656"/>
            <a:ext cx="2377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加盟者の初期投資目安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360" y="4069080"/>
            <a:ext cx="1691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1,500〜2,000万円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4105656"/>
            <a:ext cx="1554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物件・内装・設備込み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626864"/>
            <a:ext cx="5577840" cy="566928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718304"/>
            <a:ext cx="2377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FC加盟者の想定月商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80360" y="4681728"/>
            <a:ext cx="1691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600〜720万円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718304"/>
            <a:ext cx="1554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直営モデルの再現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5239512"/>
            <a:ext cx="5577840" cy="566928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330952"/>
            <a:ext cx="2377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FCオーナーの想定手残り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80360" y="5294376"/>
            <a:ext cx="1691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963C"/>
                </a:solidFill>
              </a:rPr>
              <a:t>月60〜90万円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34840" y="5330952"/>
            <a:ext cx="1554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ロイヤリティ・返済後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16916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63C"/>
                </a:solidFill>
              </a:rPr>
              <a:t>FC加盟者ターゲット像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92240" y="2176272"/>
            <a:ext cx="5486400" cy="126187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92240" y="2176272"/>
            <a:ext cx="82296" cy="126187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93408" y="2267712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飲食経験者の独立志望者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93408" y="2697479"/>
            <a:ext cx="51206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元料理人・飲食チェーン出身者。
現場力があり、ブランドの型を活かせる。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92240" y="3566160"/>
            <a:ext cx="5486400" cy="126187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492240" y="3566160"/>
            <a:ext cx="82296" cy="126187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93408" y="365760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副業・投資目的の個人オーナー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93408" y="4087367"/>
            <a:ext cx="51206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他業種からの参入。オーナー不在でも
回るオペレーションを本部が支援。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92240" y="4956048"/>
            <a:ext cx="5486400" cy="126187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492240" y="4956048"/>
            <a:ext cx="82296" cy="126187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93408" y="5047488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地方への展開パートナー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93408" y="5477255"/>
            <a:ext cx="51206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東京モデルを地方に持ち込む
エリアFCオーナー。複数店舗可。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75120" y="6291072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FC本部収益（100店舗時）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9224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100店×720万×3%ロイヤリティ ＝ 月2,160万円 / 年2.6億円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LOCATION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立地・出店戦略　――　勝てる場所を選ぶ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24712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15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916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63C"/>
                </a:solidFill>
              </a:rPr>
              <a:t>物件選定スコアリング基準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176272"/>
            <a:ext cx="5577840" cy="5486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267712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7A6A"/>
                </a:solidFill>
              </a:rPr>
              <a:t>乗降者数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267712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5万人/日以上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249424"/>
            <a:ext cx="594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8963C"/>
                </a:solidFill>
              </a:rPr>
              <a:t>◎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770632"/>
            <a:ext cx="5577840" cy="5486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862072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7A6A"/>
                </a:solidFill>
              </a:rPr>
              <a:t>駅徒歩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862072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5分以内・路面優先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2843784"/>
            <a:ext cx="594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8963C"/>
                </a:solidFill>
              </a:rPr>
              <a:t>◎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364991"/>
            <a:ext cx="5577840" cy="5486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456431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7A6A"/>
                </a:solidFill>
              </a:rPr>
              <a:t>坪数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456431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15〜25坪（理想20坪）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3438143"/>
            <a:ext cx="594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8963C"/>
                </a:solidFill>
              </a:rPr>
              <a:t>◎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959352"/>
            <a:ext cx="5577840" cy="5486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050792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7A6A"/>
                </a:solidFill>
              </a:rPr>
              <a:t>家賃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050792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50万円以内（坪2.5万以下）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4032504"/>
            <a:ext cx="594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8963C"/>
                </a:solidFill>
              </a:rPr>
              <a:t>◎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553712"/>
            <a:ext cx="5577840" cy="5486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645152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7A6A"/>
                </a:solidFill>
              </a:rPr>
              <a:t>設備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0" y="4645152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重飲食対応・居抜き優先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4626864"/>
            <a:ext cx="594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8963C"/>
                </a:solidFill>
              </a:rPr>
              <a:t>◎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5148072"/>
            <a:ext cx="5577840" cy="5486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239512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7A6A"/>
                </a:solidFill>
              </a:rPr>
              <a:t>競合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5239512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同業態が近くに集中していない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0" y="5221224"/>
            <a:ext cx="594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8A7A6A"/>
                </a:solidFill>
              </a:rPr>
              <a:t>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16916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63C"/>
                </a:solidFill>
              </a:rPr>
              <a:t>優先出店エリア（1号店候補）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92240" y="2176272"/>
            <a:ext cx="5486400" cy="135331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29400" y="2267712"/>
            <a:ext cx="21031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8963C"/>
                </a:solidFill>
              </a:rPr>
              <a:t>★ 三軒茶屋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22860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0" i="0">
                <a:solidFill>
                  <a:srgbClr val="FFFFFF"/>
                </a:solidFill>
              </a:rPr>
              <a:t>約10万人/日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29400" y="2724912"/>
            <a:ext cx="5212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住宅街×夜の人通り◎
飲食激戦区だが差別化余地大
渋谷から2駅の好立地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92240" y="3657600"/>
            <a:ext cx="5486400" cy="135331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29400" y="3749040"/>
            <a:ext cx="21031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8963C"/>
                </a:solidFill>
              </a:rPr>
              <a:t>★ 目黒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0" y="376732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0" i="0">
                <a:solidFill>
                  <a:srgbClr val="FFFFFF"/>
                </a:solidFill>
              </a:rPr>
              <a:t>約12万人/日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29400" y="4206240"/>
            <a:ext cx="5212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30〜40代富裕層多い
平均客単価が高く取りやすい
ランチ需要も強い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92240" y="5138928"/>
            <a:ext cx="5486400" cy="135331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29400" y="5230368"/>
            <a:ext cx="21031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8963C"/>
                </a:solidFill>
              </a:rPr>
              <a:t>★ 自由が丘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5248656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0" i="0">
                <a:solidFill>
                  <a:srgbClr val="FFFFFF"/>
                </a:solidFill>
              </a:rPr>
              <a:t>約8万人/日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5687568"/>
            <a:ext cx="5212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感度高い客層・SNS拡散◎
カフェ・グルメ激戦区
ブランドイメージ向上に寄与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644652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8963C"/>
                </a:solidFill>
              </a:rPr>
              <a:t>1号店は三軒茶屋〜目黒エリアで検討。居抜き物件を優先し初期投資を抑制する。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BRAND &amp; SNS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ブランド・SNS戦略　――　「然」を育てる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24712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16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916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63C"/>
                </a:solidFill>
              </a:rPr>
              <a:t>ブランドアーキテクチャ</a:t>
            </a:r>
          </a:p>
        </p:txBody>
      </p:sp>
      <p:sp>
        <p:nvSpPr>
          <p:cNvPr id="8" name="Rectangle 7"/>
          <p:cNvSpPr/>
          <p:nvPr/>
        </p:nvSpPr>
        <p:spPr>
          <a:xfrm>
            <a:off x="1920240" y="2176272"/>
            <a:ext cx="2697480" cy="512064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20240" y="2203704"/>
            <a:ext cx="2697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A120B"/>
                </a:solidFill>
              </a:rPr>
              <a:t>然（ぜん）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3246120"/>
            <a:ext cx="1874519" cy="420624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" y="3273552"/>
            <a:ext cx="1764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8963C"/>
                </a:solidFill>
              </a:rPr>
              <a:t>肉酒場 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" y="3730752"/>
            <a:ext cx="176479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7A6A"/>
                </a:solidFill>
              </a:rPr>
              <a:t>1号店〜
糀漬け肉×石板焼き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77440" y="3246120"/>
            <a:ext cx="1874519" cy="420624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32304" y="3273552"/>
            <a:ext cx="1764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8963C"/>
                </a:solidFill>
              </a:rPr>
              <a:t>魚酒場 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32304" y="3730752"/>
            <a:ext cx="176479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7A6A"/>
                </a:solidFill>
              </a:rPr>
              <a:t>2年目〜
魚介×発酵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120" y="3246120"/>
            <a:ext cx="1874519" cy="420624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43984" y="3273552"/>
            <a:ext cx="1764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8963C"/>
                </a:solidFill>
              </a:rPr>
              <a:t>鶏酒場 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43984" y="3730752"/>
            <a:ext cx="176479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7A6A"/>
                </a:solidFill>
              </a:rPr>
              <a:t>3年目〜
やきとり×糀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407408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63C"/>
                </a:solidFill>
              </a:rPr>
              <a:t>SEO / MEO / AIO設計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892040"/>
            <a:ext cx="530352" cy="36576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910328"/>
            <a:ext cx="5303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20B"/>
                </a:solidFill>
              </a:rPr>
              <a:t>SEO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" y="4892040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「肉酒場」「糀漬け定食」＋エリア名でコンテンツ設計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5330952"/>
            <a:ext cx="530352" cy="36576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5349240"/>
            <a:ext cx="5303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20B"/>
                </a:solidFill>
              </a:rPr>
              <a:t>MEO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" y="5330952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Googleマップ説明に「糀漬け肉定食居酒屋」を明記。写真・口コミを週次更新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769864"/>
            <a:ext cx="530352" cy="36576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5788152"/>
            <a:ext cx="5303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20B"/>
                </a:solidFill>
              </a:rPr>
              <a:t>AIO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5769864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AI検索で「糀漬け肉定食の居酒屋」として説明されやすい構造的な記述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6208775"/>
            <a:ext cx="530352" cy="36576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6227063"/>
            <a:ext cx="5303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20B"/>
                </a:solidFill>
              </a:rPr>
              <a:t>指名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" y="6208775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「然（ぜん）」を固有名詞として育て、リピーター指名検索を増やす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16916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63C"/>
                </a:solidFill>
              </a:rPr>
              <a:t>SNSコンテンツ設計（Instagram）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92240" y="2176272"/>
            <a:ext cx="5486400" cy="1042415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29400" y="224028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体験動画（リール）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424160" y="2267712"/>
            <a:ext cx="1280160" cy="292608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424160" y="2267712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8963C"/>
                </a:solidFill>
              </a:rPr>
              <a:t>週3本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29400" y="2633472"/>
            <a:ext cx="521208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石板の煙・音・肉の断面。
「見ていて気持ちいい」が拡散の鍵。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92240" y="3310128"/>
            <a:ext cx="5486400" cy="1042415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29400" y="3374136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仕込みの裏側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424160" y="3401568"/>
            <a:ext cx="1280160" cy="292608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424160" y="3401568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8963C"/>
                </a:solidFill>
              </a:rPr>
              <a:t>週2本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29400" y="3767328"/>
            <a:ext cx="521208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糀漬けの工程・仕込み動画。
「作り手が見える」信頼感を演出。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92240" y="4443983"/>
            <a:ext cx="5486400" cy="1042415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29400" y="4507991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インフルエンサーUGC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424160" y="4535423"/>
            <a:ext cx="1280160" cy="292608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424160" y="4535423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8963C"/>
                </a:solidFill>
              </a:rPr>
              <a:t>随時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9400" y="4901183"/>
            <a:ext cx="521208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招待者の投稿をリポスト。
他者目線の口コミが最強の広告。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92240" y="5577840"/>
            <a:ext cx="5486400" cy="1042415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629400" y="5641848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オーナーの想い発信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424160" y="5669280"/>
            <a:ext cx="1280160" cy="292608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424160" y="5669280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8963C"/>
                </a:solidFill>
              </a:rPr>
              <a:t>週1本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29400" y="6035040"/>
            <a:ext cx="521208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開業ストーリー・日々の学び。
「この人から買いたい」を育てる。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オペレーション設計　――　型が利益を生む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24712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17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916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63C"/>
                </a:solidFill>
              </a:rPr>
              <a:t>仕込みフロー（前日→当日）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176272"/>
            <a:ext cx="5577840" cy="512064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267712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前日 15:00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267712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サガリ・豚・鶏を糀に漬け込み（各48h）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724912"/>
            <a:ext cx="5577840" cy="512064"/>
          </a:xfrm>
          <a:prstGeom prst="rect">
            <a:avLst/>
          </a:prstGeom>
          <a:solidFill>
            <a:srgbClr val="2218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16352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前日 17:00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816352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低温調理器にセット（サガリ55℃×4h）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273552"/>
            <a:ext cx="5577840" cy="512064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64992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当日 10:00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3364992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仕込み完了・ポーション確認・ライン設定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822191"/>
            <a:ext cx="5577840" cy="512064"/>
          </a:xfrm>
          <a:prstGeom prst="rect">
            <a:avLst/>
          </a:prstGeom>
          <a:solidFill>
            <a:srgbClr val="2218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913631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11:30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3913631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ランチ営業開始（石板+トッピング仕上げ30秒）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370831"/>
            <a:ext cx="5577840" cy="512064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462271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14:00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20240" y="4462271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ランチ終了・ディナー仕込み補充・清掃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919472"/>
            <a:ext cx="5577840" cy="512064"/>
          </a:xfrm>
          <a:prstGeom prst="rect">
            <a:avLst/>
          </a:prstGeom>
          <a:solidFill>
            <a:srgbClr val="2218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010912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17:30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5010912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ディナー営業開始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468112"/>
            <a:ext cx="5577840" cy="512064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5559552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22:30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20240" y="5559552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閉店・翌日仕込み開始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16916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63C"/>
                </a:solidFill>
              </a:rPr>
              <a:t>FC展開を可能にする3つの仕組み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92240" y="2176272"/>
            <a:ext cx="5486400" cy="135331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92240" y="2176272"/>
            <a:ext cx="82296" cy="135331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93408" y="2267712"/>
            <a:ext cx="5120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① 低温調理×前日仕込み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93408" y="2724912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温度・時間が数値化されているため
誰が作っても同じ品質に仕上がる。
料理経験が浅いスタッフでも対応可能。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92240" y="3657600"/>
            <a:ext cx="5486400" cy="135331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92240" y="3657600"/>
            <a:ext cx="82296" cy="135331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93408" y="3749040"/>
            <a:ext cx="5120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② 石板仕上げ（30秒）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93408" y="420624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調理の最終工程は石板で30秒焼くだけ。
オペレーションが極めてシンプルで
ホール兼務も可能なスキーム。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92240" y="5138928"/>
            <a:ext cx="5486400" cy="135331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92240" y="5138928"/>
            <a:ext cx="82296" cy="135331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93408" y="5230368"/>
            <a:ext cx="5120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③ レシピ・マニュアルの完全数値化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93408" y="5687568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仕込み温度・時間・グラム数を
全てマニュアル化。SVが巡回研修で
品質を均一化する体制を構築。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644652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8963C"/>
                </a:solidFill>
              </a:rPr>
              <a:t>「低温調理×石板仕上げ」は職人不要のオペレーションを実現し、FC展開の最大の武器になる。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DATA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データ経営　――　感覚ではなく数字で動く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24712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18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916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63C"/>
                </a:solidFill>
              </a:rPr>
              <a:t>KPI管理サイクル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176272"/>
            <a:ext cx="1874519" cy="40233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203704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A120B"/>
                </a:solidFill>
              </a:rPr>
              <a:t>日次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578608"/>
            <a:ext cx="1874519" cy="288036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2706624"/>
            <a:ext cx="1691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• 客数・客単価・売上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3346704"/>
            <a:ext cx="1691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• 時間帯別回転数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3986783"/>
            <a:ext cx="1691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• メニュー別注文数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" y="4626864"/>
            <a:ext cx="1691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• SNSエンゲージメント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60320" y="2176272"/>
            <a:ext cx="1874519" cy="40233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60320" y="2203704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A120B"/>
                </a:solidFill>
              </a:rPr>
              <a:t>週次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60320" y="2578608"/>
            <a:ext cx="1874519" cy="288036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70048" y="2706624"/>
            <a:ext cx="1691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• 原価率・人件費率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70048" y="3346704"/>
            <a:ext cx="1691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• FL比率の確認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70048" y="3986783"/>
            <a:ext cx="1691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• 口コミ・MEO評価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70048" y="4626864"/>
            <a:ext cx="1691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• 前週比・前年比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17720" y="2176272"/>
            <a:ext cx="1874519" cy="40233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17720" y="2203704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A120B"/>
                </a:solidFill>
              </a:rPr>
              <a:t>月次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17720" y="2578608"/>
            <a:ext cx="1874519" cy="288036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27448" y="2706624"/>
            <a:ext cx="1691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• 損益計算書の確認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27448" y="3346704"/>
            <a:ext cx="1691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• リピート率・新規比率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27448" y="3986783"/>
            <a:ext cx="1691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• メニュー見直し判断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27448" y="4626864"/>
            <a:ext cx="1691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• 広告ROI測定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16916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63C"/>
                </a:solidFill>
              </a:rPr>
              <a:t>重要KPI目標値（1号店・安定期）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92240" y="2176272"/>
            <a:ext cx="5486400" cy="420624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29400" y="2221992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月商目標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400" y="221284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720万円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69880" y="2240280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7A6A"/>
                </a:solidFill>
              </a:rPr>
              <a:t>安定期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92240" y="2624328"/>
            <a:ext cx="5486400" cy="420624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29400" y="2670048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損益分岐点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15400" y="2660904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460万円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69880" y="2688336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7A6A"/>
                </a:solidFill>
              </a:rPr>
              <a:t>目標の64%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92240" y="3072384"/>
            <a:ext cx="5486400" cy="420624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29400" y="3118104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ランチ回転数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15400" y="31089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1.8回転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69880" y="3136392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7A6A"/>
                </a:solidFill>
              </a:rPr>
              <a:t>30席×25日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92240" y="3520439"/>
            <a:ext cx="5486400" cy="420624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29400" y="3566159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ディナー回転数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15400" y="3557015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1.2回転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69880" y="3584447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7A6A"/>
                </a:solidFill>
              </a:rPr>
              <a:t>30席×25日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92240" y="3968496"/>
            <a:ext cx="5486400" cy="420624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29400" y="4014216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原価率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15400" y="4005072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30%以下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69880" y="4032504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7A6A"/>
                </a:solidFill>
              </a:rPr>
              <a:t>FL管理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92240" y="4416552"/>
            <a:ext cx="5486400" cy="420624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29400" y="4462272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人件費率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15400" y="445312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18〜22%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469880" y="4480560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7A6A"/>
                </a:solidFill>
              </a:rPr>
              <a:t>体制次第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492240" y="4864608"/>
            <a:ext cx="5486400" cy="420624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629400" y="4910328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FL比率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915400" y="4901184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48〜52%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469880" y="4928616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7A6A"/>
                </a:solidFill>
              </a:rPr>
              <a:t>目標50%以下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492240" y="5312664"/>
            <a:ext cx="5486400" cy="420624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629400" y="5358384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リピート率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400" y="53492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60%以上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469880" y="5376672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7A6A"/>
                </a:solidFill>
              </a:rPr>
              <a:t>6ヶ月後目標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492240" y="5760720"/>
            <a:ext cx="5486400" cy="420624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629400" y="5806440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Googleマップ評価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915400" y="579729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4.0以上維持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469880" y="5824728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7A6A"/>
                </a:solidFill>
              </a:rPr>
              <a:t>MEO管理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492240" y="6208776"/>
            <a:ext cx="5486400" cy="420624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29400" y="6254496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A6A"/>
                </a:solidFill>
              </a:rPr>
              <a:t>Instagram フォロワー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915400" y="6245352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1万人（1年目）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469880" y="6272784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7A6A"/>
                </a:solidFill>
              </a:rPr>
              <a:t>SNS資産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02920" y="649224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8A7A6A"/>
                </a:solidFill>
              </a:rPr>
              <a:t>参考：つむぎ堂は毎日注文数・売上をスタッフと共有するデータ経営で坪月商57万円を実現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HQ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本部経費・賞与引当　――　スケールと共に整備する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24712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19 /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916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963C"/>
                </a:solidFill>
              </a:rPr>
              <a:t>本部経費ロードマップ（Year3〜）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240280"/>
            <a:ext cx="5760720" cy="59436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33172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963C"/>
                </a:solidFill>
              </a:rPr>
              <a:t>3年目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33172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0.3億円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35000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SV1名・経理外注・小オフィス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880360"/>
            <a:ext cx="5760720" cy="59436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97180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963C"/>
                </a:solidFill>
              </a:rPr>
              <a:t>4年目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297180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0.8億円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99008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SV2名・人事採用・本部スタッフ3名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520440"/>
            <a:ext cx="5760720" cy="59436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61188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963C"/>
                </a:solidFill>
              </a:rPr>
              <a:t>5年目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361188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1.5億円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63016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本部スタッフ6名・FC支援チーム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160520"/>
            <a:ext cx="5760720" cy="59436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25196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963C"/>
                </a:solidFill>
              </a:rPr>
              <a:t>6年目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0200" y="425196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2.5億円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427024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SV5名・マーケ専任・IT担当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800600"/>
            <a:ext cx="5760720" cy="594360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89204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963C"/>
                </a:solidFill>
              </a:rPr>
              <a:t>7年目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0200" y="489204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4.0億円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491032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本部組織完成形（100店舗対応）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5440680"/>
            <a:ext cx="5760720" cy="59436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53212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963C"/>
                </a:solidFill>
              </a:rPr>
              <a:t>8〜10年目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00200" y="553212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5〜7億円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555040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上場準備・海外展開準備コスト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169164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963C"/>
                </a:solidFill>
              </a:rPr>
              <a:t>賞与引当（売上の1%相当）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2240280"/>
            <a:ext cx="5212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0E6D3"/>
                </a:solidFill>
              </a:rPr>
              <a:t>全店舗売上に対して1%を
グループ本部へ計上。
・ブランド維持費（商標登録・更新）
・POSシステム・オペレーションツール
・本部マーケティング共通費
・FC加盟店サポート費用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92240" y="4389120"/>
            <a:ext cx="5394960" cy="50292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0" y="4416552"/>
            <a:ext cx="3200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20B"/>
                </a:solidFill>
              </a:rPr>
              <a:t>7年目 賞与引当総額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92640" y="4416552"/>
            <a:ext cx="2011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1" i="0">
                <a:solidFill>
                  <a:srgbClr val="1A120B"/>
                </a:solidFill>
              </a:rPr>
              <a:t>約1.0億円/年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5074920"/>
            <a:ext cx="5394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F0E6D3"/>
                </a:solidFill>
              </a:rPr>
              <a:t>賞与引当は売上1%で毎月積立。社員・バイトへの賞与原資として管理。
→ 100店舗時、本部だけで年商ベース約35億円規模のグループ収入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6172200"/>
            <a:ext cx="11247120" cy="50292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6217920"/>
            <a:ext cx="10972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本部経費・賞与引当控除後の実効営業利益率：Year3〜9% / Year7〜12% / Year10〜13%（15%から約2〜3%下方修正）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19 / 23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10-YEAR GROWTH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10年財務成長シナリオ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24712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20 / 23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664208"/>
            <a:ext cx="2788920" cy="841248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719072"/>
            <a:ext cx="2606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7A6A"/>
                </a:solidFill>
              </a:rPr>
              <a:t>7年目 グループ年商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2011680"/>
            <a:ext cx="2606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8963C"/>
                </a:solidFill>
              </a:rPr>
              <a:t>103億円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29000" y="1664208"/>
            <a:ext cx="2788920" cy="841248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38728" y="1719072"/>
            <a:ext cx="2606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7A6A"/>
                </a:solidFill>
              </a:rPr>
              <a:t>7年目 営業利益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8728" y="2011680"/>
            <a:ext cx="2606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8963C"/>
                </a:solidFill>
              </a:rPr>
              <a:t>14.5億円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1664208"/>
            <a:ext cx="2788920" cy="841248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64808" y="1719072"/>
            <a:ext cx="2606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7A6A"/>
                </a:solidFill>
              </a:rPr>
              <a:t>7年目 実効利益率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2011680"/>
            <a:ext cx="2606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8963C"/>
                </a:solidFill>
              </a:rPr>
              <a:t>14%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81160" y="1664208"/>
            <a:ext cx="2788920" cy="841248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90888" y="1719072"/>
            <a:ext cx="2606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7A6A"/>
                </a:solidFill>
              </a:rPr>
              <a:t>10年目 グループ年商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0888" y="2011680"/>
            <a:ext cx="2606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8963C"/>
                </a:solidFill>
              </a:rPr>
              <a:t>205億円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651760"/>
            <a:ext cx="5669280" cy="4069080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2651760"/>
            <a:ext cx="5669280" cy="406908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RISK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リスクと対策　――　想定して備える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24712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20 / 23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664208"/>
            <a:ext cx="11247120" cy="877824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64208"/>
            <a:ext cx="475488" cy="87782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938528"/>
            <a:ext cx="475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20B"/>
                </a:solidFill>
              </a:rPr>
              <a:t>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1719072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① 立ち上げ期の売上未達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" y="2139696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A7A6A"/>
                </a:solidFill>
              </a:rPr>
              <a:t>新店認知不足・口コミ形成に時間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69080" y="1755648"/>
            <a:ext cx="475488" cy="27432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69080" y="1755648"/>
            <a:ext cx="4754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120B"/>
                </a:solidFill>
              </a:rPr>
              <a:t>対策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864" y="1719072"/>
            <a:ext cx="694944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開業3ヶ月前からインフルエンサー戦略を実行。
手元残金630万円で最大6ヶ月の赤字に耐えられる財務設計。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606040"/>
            <a:ext cx="11247120" cy="877824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606040"/>
            <a:ext cx="475488" cy="877824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880360"/>
            <a:ext cx="475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20B"/>
                </a:solidFill>
              </a:rPr>
              <a:t>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" y="2660904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② 人材採用・定着の問題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3081528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A7A6A"/>
                </a:solidFill>
              </a:rPr>
              <a:t>飲食業界の人手不足・離職率の高さ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69080" y="2697480"/>
            <a:ext cx="475488" cy="27432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69080" y="2697480"/>
            <a:ext cx="4754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120B"/>
                </a:solidFill>
              </a:rPr>
              <a:t>対策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26864" y="2660904"/>
            <a:ext cx="694944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時給を相場より50〜100円高く設定し採用競争力を確保。
仕組み化により属人依存を排除。常時採用を継続。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547872"/>
            <a:ext cx="11247120" cy="877824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3547872"/>
            <a:ext cx="475488" cy="877824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3822192"/>
            <a:ext cx="475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20B"/>
                </a:solidFill>
              </a:rPr>
              <a:t>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" y="3602736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③ 原材料費の高騰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" y="4023360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A7A6A"/>
                </a:solidFill>
              </a:rPr>
              <a:t>牛サガリの価格変動・円安影響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69080" y="3639312"/>
            <a:ext cx="475488" cy="27432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069080" y="3639312"/>
            <a:ext cx="4754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120B"/>
                </a:solidFill>
              </a:rPr>
              <a:t>対策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26864" y="3602736"/>
            <a:ext cx="694944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複数仕入れ先を確保し価格交渉力を維持。
鶏・豚メニューの比率調整で原価率をコントロール。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489704"/>
            <a:ext cx="11247120" cy="877824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4489704"/>
            <a:ext cx="475488" cy="877824"/>
          </a:xfrm>
          <a:prstGeom prst="rect">
            <a:avLst/>
          </a:prstGeom>
          <a:solidFill>
            <a:srgbClr val="277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4764024"/>
            <a:ext cx="475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20B"/>
                </a:solidFill>
              </a:rPr>
              <a:t>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8992" y="454456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④ 競合の模倣・追随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8992" y="4965192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A7A6A"/>
                </a:solidFill>
              </a:rPr>
              <a:t>糀漬け肉定食業態の競合参入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069080" y="4581144"/>
            <a:ext cx="475488" cy="27432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069080" y="4581144"/>
            <a:ext cx="4754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120B"/>
                </a:solidFill>
              </a:rPr>
              <a:t>対策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26864" y="4544568"/>
            <a:ext cx="694944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ブランド「然」の商標登録で保護（第43類・飲食）。
先行者優位と顧客ロイヤリティで差別化を維持。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431536"/>
            <a:ext cx="11247120" cy="877824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02920" y="5431536"/>
            <a:ext cx="475488" cy="877824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5705856"/>
            <a:ext cx="475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20B"/>
                </a:solidFill>
              </a:rPr>
              <a:t>中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8992" y="5486400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⑤ FC加盟者の品質管理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78992" y="5907024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A7A6A"/>
                </a:solidFill>
              </a:rPr>
              <a:t>FC展開後のQSCばらつき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069080" y="5522976"/>
            <a:ext cx="475488" cy="27432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69080" y="5522976"/>
            <a:ext cx="4754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120B"/>
                </a:solidFill>
              </a:rPr>
              <a:t>対策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26864" y="5486400"/>
            <a:ext cx="694944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SV定期巡回（月1回以上）・抜き打ち覆面調査の実施。
数値基準を下回る店舗には改善プログラムを発動。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ACTION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今後90日のアクションプラン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24712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21 / 23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664208"/>
            <a:ext cx="3749039" cy="420624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69164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963C"/>
                </a:solidFill>
              </a:rPr>
              <a:t>0〜30日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57400" y="169164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仕込みと準備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084831"/>
            <a:ext cx="3749039" cy="429768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194560"/>
            <a:ext cx="345643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□ 会社設立（登記・口座開設）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2980944"/>
            <a:ext cx="345643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□ 「肉酒場 然」商標調査・出願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3767328"/>
            <a:ext cx="345643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□ 物件情報収集（三軒茶屋・目黒・自由が丘）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4553712"/>
            <a:ext cx="345643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□ 日本政策金融公庫への相談・申込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" y="5340096"/>
            <a:ext cx="345643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□ Instagramアカウント開設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120" y="1664208"/>
            <a:ext cx="3749039" cy="420624"/>
          </a:xfrm>
          <a:prstGeom prst="rect">
            <a:avLst/>
          </a:prstGeom>
          <a:solidFill>
            <a:srgbClr val="3A28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98848" y="169164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963C"/>
                </a:solidFill>
              </a:rPr>
              <a:t>30〜60日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169164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物件決定と資金確定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120" y="2084831"/>
            <a:ext cx="3749039" cy="429768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53712" y="2194560"/>
            <a:ext cx="345643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□ 物件内見・スコアリング評価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3712" y="2980944"/>
            <a:ext cx="345643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□ 公庫面談・融資確定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3712" y="3767328"/>
            <a:ext cx="345643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□ 物件契約・内装業者選定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4553712"/>
            <a:ext cx="345643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□ インフルエンサーリスト作成（50名）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5340096"/>
            <a:ext cx="345643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□ メニュー最終試作・原価計算確定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75320" y="1664208"/>
            <a:ext cx="3749039" cy="420624"/>
          </a:xfrm>
          <a:prstGeom prst="rect">
            <a:avLst/>
          </a:prstGeom>
          <a:solidFill>
            <a:srgbClr val="3A2E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85048" y="169164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963C"/>
                </a:solidFill>
              </a:rPr>
              <a:t>60〜90日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29800" y="169164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着工と認知獲得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75320" y="2084831"/>
            <a:ext cx="3749039" cy="429768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39912" y="2194560"/>
            <a:ext cx="345643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□ 内装・厨房工事着工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39912" y="2980944"/>
            <a:ext cx="345643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□ スタッフ採用開始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39912" y="3767328"/>
            <a:ext cx="345643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□ インフルエンサー招待DM開始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39912" y="4553712"/>
            <a:ext cx="345643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□ Googleビジネスプロフィール登録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39912" y="5340096"/>
            <a:ext cx="345643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6D3"/>
                </a:solidFill>
              </a:rPr>
              <a:t>□ POSシステム・決済端末導入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6446520"/>
            <a:ext cx="11247120" cy="365760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6464808"/>
            <a:ext cx="11247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8963C"/>
                </a:solidFill>
              </a:rPr>
              <a:t>90日後のゴール：物件契約完了・融資確定・SNS認知スタート　→　開業へ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0" y="91440"/>
            <a:ext cx="512064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0" b="1" i="0">
                <a:solidFill>
                  <a:srgbClr val="2A1E12"/>
                </a:solidFill>
              </a:rPr>
              <a:t>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6217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8963C"/>
                </a:solidFill>
              </a:rPr>
              <a:t>私たちが目指す未来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64208"/>
            <a:ext cx="521208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10512"/>
            <a:ext cx="65836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糀漬け肉の定食と、和の一杯。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51760"/>
            <a:ext cx="6217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0E6D3"/>
                </a:solidFill>
              </a:rPr>
              <a:t>日本全国に「然」の灯りを。
7年で100店舗。
発酵と肉で、新しい定番をつくる。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343400"/>
            <a:ext cx="6217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8A7A6A"/>
                </a:solidFill>
              </a:rPr>
              <a:t>肉酒場 然は、単なる飲食店ではありません。
糀という日本の発酵文化と、現代人の「おいしくて、体にいい」
という本質的なニーズを結びつけた、新しいブランドです。
直営で型をつくり、FCで全国へ。
その先には、日本の食文化に残る一皿があります。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21 / 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