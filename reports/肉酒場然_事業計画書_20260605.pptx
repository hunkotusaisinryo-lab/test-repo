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C8963C"/>
                </a:solidFill>
              </a:rPr>
              <a:t>肉酒場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</a:rPr>
              <a:t>然（ぜん）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200400"/>
            <a:ext cx="45720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33756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F0E6D3"/>
                </a:solidFill>
              </a:rPr>
              <a:t>糀漬け肉の定食と、和の一杯。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7A6A"/>
                </a:solidFill>
              </a:rPr>
              <a:t>事業計画書　2026年6月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731520"/>
            <a:ext cx="3200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0" b="1" i="0">
                <a:solidFill>
                  <a:srgbClr val="2A1E12"/>
                </a:solidFill>
              </a:rPr>
              <a:t>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1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私たちのビジョン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C8963C"/>
                </a:solidFill>
              </a:rPr>
              <a:t>7年で100店舗。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089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0E6D3"/>
                </a:solidFill>
              </a:rPr>
              <a:t>発酵と肉の掛け合わせで、
日本の食文化に新しい定番をつくる。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5720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8A7A6A"/>
                </a:solidFill>
              </a:rPr>
              <a:t>居酒屋×発酵×定食　という空白地帯に参入し、
糀漬け肉料理を「日本の新定番」として全国に広める。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なぜ今か　――　市場の追い風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3474720" cy="38404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外食産業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35.7兆円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A7A6A"/>
                </a:solidFill>
              </a:rPr>
              <a:t>2025年市場規模
（前年比＋3.5%）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79" y="1828800"/>
            <a:ext cx="3474720" cy="38404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39" y="19659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居酒屋業態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19" y="246888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48ヶ月連続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19" y="338328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A7A6A"/>
                </a:solidFill>
              </a:rPr>
              <a:t>売上前年比プラス
コロナ前超え達成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9" y="1828800"/>
            <a:ext cx="3474720" cy="38404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19659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発酵食品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59" y="246888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SNS急拡大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59" y="338328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A7A6A"/>
                </a:solidFill>
              </a:rPr>
              <a:t>健康志向×体験価値
Z世代・40代双方に刺さる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852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963C"/>
                </a:solidFill>
              </a:rPr>
              <a:t>→ 出店タイミングは今が最適。居酒屋×発酵×定食の空白地帯は誰もいない。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肉酒場 然のコンセプト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業態定義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昼：糀漬け肉定食の専門店
夜：発酵×肉の創作酒場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175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三つの独自性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429000"/>
            <a:ext cx="54864" cy="5943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4290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糀漬け×低温調理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749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前日仕込みで品質均一化。FC展開時の再現性を担保。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297680"/>
            <a:ext cx="54864" cy="5943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昼夜二毛作モデル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617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ランチ定食で固定売上 ＋ ディナー酒場でドリンク収益。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6360"/>
            <a:ext cx="54864" cy="5943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1663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石板焼き体験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486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煙・音・ロゼ色の断面がSNS映え。来店動機を設計する。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1645920"/>
            <a:ext cx="5303520" cy="45720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373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ポジショニングマップ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19456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       健康・発酵（高）
            ↑
   びゃく   │
            │   ★肉酒場 然
            │  （空白地帯）
大衆──────┼──────── こだわり
 ひまり堂   │ なかよし
 つむぎ堂   │
            ↓
       健康・発酵（低）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557784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「健康・発酵 × 肉 × ランチ＆ディナー」
は競合ゼロの完全空白地帯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看板3品　――　これを食べに来る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3657600" cy="47548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1783080"/>
            <a:ext cx="1645920" cy="29260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0" y="178308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20B"/>
                </a:solidFill>
              </a:rPr>
              <a:t>SNS映え No.1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9456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糀漬けサガリの
石板焼き定食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01752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8963C"/>
                </a:solidFill>
              </a:rPr>
              <a:t>¥1,980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61188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北海道産サガリを糀で48時間熟成。
石板で焼き上げる煙と音が体験価値に。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5720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原価率 34.5%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1645920"/>
            <a:ext cx="3657600" cy="47548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1783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02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1783080"/>
            <a:ext cx="1645920" cy="29260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0" y="178308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20B"/>
                </a:solidFill>
              </a:rPr>
              <a:t>定食の王道×発酵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19456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糀漬け豚の
厚切りカツ定食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301752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8963C"/>
                </a:solidFill>
              </a:rPr>
              <a:t>¥1,780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61188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糀漬け豚ロースを低温調理後に揚げる。
ロゼ色の断面が口コミの起点。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45720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原価率 32.1%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8160" y="1645920"/>
            <a:ext cx="3657600" cy="47548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1783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03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966960" y="1783080"/>
            <a:ext cx="1645920" cy="29260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6960" y="178308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20B"/>
                </a:solidFill>
              </a:rPr>
              <a:t>ヘルシー需要取込み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219456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糀漬け鶏の
ロースト定食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301752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8963C"/>
                </a:solidFill>
              </a:rPr>
              <a:t>¥1,680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361188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鶏もも肉を糀×ハーブで低温ロースト。
鶏の旨みが最大限に引き出される。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45720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原価率 35.6%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8A7A6A"/>
                </a:solidFill>
              </a:rPr>
              <a:t>全3品にライス・味噌汁・小鉢2品・漬物が付く。「体にいい定食」を徹底追求。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競合5店　繁盛の法則と然の優位性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00200"/>
            <a:ext cx="11247120" cy="34747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3677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20B"/>
                </a:solidFill>
              </a:rPr>
              <a:t>店舗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163677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20B"/>
                </a:solidFill>
              </a:rPr>
              <a:t>月商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59" y="163677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20B"/>
                </a:solidFill>
              </a:rPr>
              <a:t>ランチ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63677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20B"/>
                </a:solidFill>
              </a:rPr>
              <a:t>発酵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63677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20B"/>
                </a:solidFill>
              </a:rPr>
              <a:t>肉特化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163677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20B"/>
                </a:solidFill>
              </a:rPr>
              <a:t>FC展開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965960"/>
            <a:ext cx="1124712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07568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なかよし（恵比寿）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207568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非公開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59" y="207568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207568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07568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207568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551176"/>
            <a:ext cx="1124712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266090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つむぎ堂（新宿）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266090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1,500万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59" y="26609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26609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26609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43800" y="26609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◎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136391"/>
            <a:ext cx="1124712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246119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びゃく（学芸大学）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80360" y="3246119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非公開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59" y="3246119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9240" y="3246119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3246119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43800" y="3246119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△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721608"/>
            <a:ext cx="1124712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383133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ひまり堂（恵比寿）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80360" y="383133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850万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51959" y="383133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49240" y="383133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83133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43800" y="383133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306824"/>
            <a:ext cx="1124712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441655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ひまり商店（新橋）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80360" y="441655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1,700万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51959" y="44165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49240" y="44165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46520" y="44165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43800" y="44165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◎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92040"/>
            <a:ext cx="11247120" cy="54864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" y="500176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★ 肉酒場 然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80360" y="500176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720万目標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51959" y="500176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49240" y="500176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46520" y="500176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43800" y="500176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" y="64008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963C"/>
                </a:solidFill>
              </a:rPr>
              <a:t>「健康・発酵 × 肉 × ランチ×ディナー × FC」を同時に満たすのは然だけ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FOUNDER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代表者プロフィール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経歴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57400"/>
            <a:ext cx="54864" cy="38404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前職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011680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都内約25店舗展開　焼肉レストランブランド　運営本部長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651760"/>
            <a:ext cx="54864" cy="38404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6060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現 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06040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やきとり家すみれ　運営本部長（SV体制構築・販促・業績管理）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246120"/>
            <a:ext cx="54864" cy="38404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2004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兼 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200400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EC通販事業 経営メンバー（販売戦略・商品企画・数値分析）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6002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5つの強み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2103120"/>
            <a:ext cx="5303520" cy="475488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103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01  複数店舗の運営経験（本部長として売上・利益・人材を総合管理）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761488"/>
            <a:ext cx="5303520" cy="475488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76148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02  現場と経営の両立（現場課題と経営数値の両方を深く理解）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3419856"/>
            <a:ext cx="5303520" cy="475488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3419856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03  数字に基づく改善力（客数・客単価・原価・人件費を分解改善）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4078224"/>
            <a:ext cx="5303520" cy="475488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078224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04  商品企画・販促経験（SNS・LINE・キャンペーンによる集客実績）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4736592"/>
            <a:ext cx="5303520" cy="475488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473659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05  人材育成と仕組み化（属人化しない標準化・教育体制の構築）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394960"/>
            <a:ext cx="11247120" cy="9144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54406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C8963C"/>
                </a:solidFill>
              </a:rPr>
              <a:t>「飲食の現場と数字を両方知っている人間が、
　ゼロから作るブランドだから強い。」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FINANCIALS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収支計画　――　堅実な数字設計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月次売上目標（安定期・30席）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20240"/>
            <a:ext cx="5303520" cy="29260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" y="193852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20B"/>
                </a:solidFill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1912" y="193852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20B"/>
                </a:solidFill>
              </a:rPr>
              <a:t>客単価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96312" y="193852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20B"/>
                </a:solidFill>
              </a:rPr>
              <a:t>席数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27832" y="193852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20B"/>
                </a:solidFill>
              </a:rPr>
              <a:t>回転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50792" y="193852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20B"/>
                </a:solidFill>
              </a:rPr>
              <a:t>営業日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193852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20B"/>
                </a:solidFill>
              </a:rPr>
              <a:t>売上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231136"/>
            <a:ext cx="5303520" cy="42062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" y="2295144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ランチ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2295144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2,000円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96312" y="2295144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30席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27832" y="2295144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1.8回転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50792" y="2295144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25日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82312" y="2295144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270万円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670048"/>
            <a:ext cx="5303520" cy="42062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734056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ディナー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1912" y="2734056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5,000円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96312" y="2734056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30席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27832" y="2734056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1.2回転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50792" y="2734056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25日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82312" y="2734056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450万円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108960"/>
            <a:ext cx="5303520" cy="420624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6072" y="3172968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合計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81912" y="317296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96312" y="317296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27832" y="317296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50792" y="317296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82312" y="317296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720万円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566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フェーズ別収支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977639"/>
            <a:ext cx="5303520" cy="53035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4069079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立ち上げ期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20240" y="4069079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0〜3ヶ月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17520" y="4069079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360万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06240" y="4069079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</a:rPr>
              <a:t>▲72万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544568"/>
            <a:ext cx="5303520" cy="53035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463600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成長期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20240" y="46360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3〜6ヶ月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17520" y="4636008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504万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06240" y="463600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8A7A6A"/>
                </a:solidFill>
              </a:rPr>
              <a:t>＋14万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111496"/>
            <a:ext cx="5303520" cy="53035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520293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安定期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20240" y="520293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6ヶ月〜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017520" y="5202936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648万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06240" y="520293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77A5A"/>
                </a:solidFill>
              </a:rPr>
              <a:t>＋142万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0" y="1554480"/>
            <a:ext cx="5303520" cy="45720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92240" y="16459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損益分岐点分析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0" y="2103120"/>
            <a:ext cx="5303520" cy="457200"/>
          </a:xfrm>
          <a:prstGeom prst="rect">
            <a:avLst/>
          </a:prstGeom>
          <a:solidFill>
            <a:srgbClr val="221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37960" y="2176272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損益分岐点売上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18320" y="217627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</a:rPr>
              <a:t>460万円/月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00800" y="2596896"/>
            <a:ext cx="5303520" cy="4572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37960" y="2670048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目標売上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267004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</a:rPr>
              <a:t>720万円/月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0" y="3090672"/>
            <a:ext cx="5303520" cy="457200"/>
          </a:xfrm>
          <a:prstGeom prst="rect">
            <a:avLst/>
          </a:prstGeom>
          <a:solidFill>
            <a:srgbClr val="221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37960" y="3163824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目標対比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418320" y="316382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</a:rPr>
              <a:t>64%で黒字転換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00800" y="3584448"/>
            <a:ext cx="5303520" cy="4572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37960" y="3657600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固定費合計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418320" y="36576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</a:rPr>
              <a:t>約175万円/月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400800" y="4078224"/>
            <a:ext cx="5303520" cy="457200"/>
          </a:xfrm>
          <a:prstGeom prst="rect">
            <a:avLst/>
          </a:prstGeom>
          <a:solidFill>
            <a:srgbClr val="221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37960" y="4151376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FL比率（安定期）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418320" y="415137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</a:rPr>
              <a:t>48.6%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00800" y="4572000"/>
            <a:ext cx="5303520" cy="4572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37960" y="4645152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安定期営業利益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18320" y="464515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8963C"/>
                </a:solidFill>
              </a:rPr>
              <a:t>約142万円/月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400800" y="5065776"/>
            <a:ext cx="5303520" cy="457200"/>
          </a:xfrm>
          <a:prstGeom prst="rect">
            <a:avLst/>
          </a:prstGeom>
          <a:solidFill>
            <a:srgbClr val="221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37960" y="5138928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月次返済（友人＋公庫）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418320" y="513892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</a:rPr>
              <a:t>約20万円/月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400800" y="5559552"/>
            <a:ext cx="5303520" cy="4572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537960" y="5632704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返済後手残り（安定期）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563270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8963C"/>
                </a:solidFill>
              </a:rPr>
              <a:t>約122万円/月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FUNDING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資金調達計画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調達構成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5303520" cy="5943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0574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代表 自己資金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05740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963C"/>
                </a:solidFill>
              </a:rPr>
              <a:t>630万円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08483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90%持分（株式）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70048"/>
            <a:ext cx="5303520" cy="5943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715768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友人 出資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715768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963C"/>
                </a:solidFill>
              </a:rPr>
              <a:t>70万円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7432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10%持分（株式）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328416"/>
            <a:ext cx="5303520" cy="5943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74136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友人 株主借入金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3374136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963C"/>
                </a:solidFill>
              </a:rPr>
              <a:t>1,430万円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3401568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金利1%・10年返済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986784"/>
            <a:ext cx="5303520" cy="5943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032504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日本政策金融公庫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0320" y="4032504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963C"/>
                </a:solidFill>
              </a:rPr>
              <a:t>500万円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4059936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金利2%・7年返済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663440"/>
            <a:ext cx="5303520" cy="59436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727448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調達総額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0320" y="4727448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8963C"/>
                </a:solidFill>
              </a:rPr>
              <a:t>2,630万円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資金使途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011680"/>
            <a:ext cx="5303520" cy="48463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207568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物件取得費（保証金・礼金）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0" y="207568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0E6D3"/>
                </a:solidFill>
              </a:rPr>
              <a:t>350万円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2532888"/>
            <a:ext cx="5303520" cy="48463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60" y="2596896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内装・設備工事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0" y="259689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0E6D3"/>
                </a:solidFill>
              </a:rPr>
              <a:t>870万円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054096"/>
            <a:ext cx="5303520" cy="48463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7960" y="311810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厨房機器・備品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75520" y="3118104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0E6D3"/>
                </a:solidFill>
              </a:rPr>
              <a:t>200万円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3575304"/>
            <a:ext cx="5303520" cy="48463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37960" y="363931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仕入・食材初回発注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75520" y="363931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0E6D3"/>
                </a:solidFill>
              </a:rPr>
              <a:t>50万円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4096512"/>
            <a:ext cx="5303520" cy="48463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37960" y="41605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採用・オープン前研修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75520" y="41605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0E6D3"/>
                </a:solidFill>
              </a:rPr>
              <a:t>80万円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4617720"/>
            <a:ext cx="5303520" cy="48463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37960" y="468172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マーケティング（3ヶ月分）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75520" y="468172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0E6D3"/>
                </a:solidFill>
              </a:rPr>
              <a:t>45万円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0" y="5138928"/>
            <a:ext cx="5303520" cy="48463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37960" y="5202936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運転資金（3ヶ月分）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75520" y="520293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0E6D3"/>
                </a:solidFill>
              </a:rPr>
              <a:t>405万円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0" y="5660136"/>
            <a:ext cx="5303520" cy="484632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37960" y="572414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963C"/>
                </a:solidFill>
              </a:rPr>
              <a:t>手元残金（緊急予備）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75520" y="5724144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8963C"/>
                </a:solidFill>
              </a:rPr>
              <a:t>630万円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64008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8963C"/>
                </a:solidFill>
              </a:rPr>
              <a:t>手元残金630万円は立ち上げ期の赤字（▲216万）を十分カバー。財務安全性は高い。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展開ロードマップ　7年で100店舗へ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00200"/>
            <a:ext cx="2743200" cy="41148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2763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20B"/>
                </a:solidFill>
              </a:rPr>
              <a:t>実証期　1〜2年目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011680"/>
            <a:ext cx="2743200" cy="47091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1031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1〜2店舗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743200"/>
            <a:ext cx="2468880" cy="101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834640"/>
            <a:ext cx="2560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直営1号店で型をつくる
QSC・レシピ・教育マニュアル完成
インフルエンサー戦略で認知獲得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92040"/>
            <a:ext cx="2743200" cy="731520"/>
          </a:xfrm>
          <a:prstGeom prst="rect">
            <a:avLst/>
          </a:prstGeom>
          <a:solidFill>
            <a:srgbClr val="1A12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2560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963C"/>
                </a:solidFill>
              </a:rPr>
              <a:t>KPI: 月商黒字化
リピート率60%以上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0" y="1600200"/>
            <a:ext cx="2743200" cy="41148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0" y="162763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20B"/>
                </a:solidFill>
              </a:rPr>
              <a:t>横展開期　3年目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2011680"/>
            <a:ext cx="2743200" cy="47091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0" y="21031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2〜5店舗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0" y="2743200"/>
            <a:ext cx="2468880" cy="101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0" y="2834640"/>
            <a:ext cx="2560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直営2〜3号店 ＋ FC募集開始
FC加盟オーナー教育体制構築
三軒茶屋・目黒・自由が丘エリアへ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83280" y="4892040"/>
            <a:ext cx="2743200" cy="731520"/>
          </a:xfrm>
          <a:prstGeom prst="rect">
            <a:avLst/>
          </a:prstGeom>
          <a:solidFill>
            <a:srgbClr val="1A12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0" y="4937760"/>
            <a:ext cx="2560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963C"/>
                </a:solidFill>
              </a:rPr>
              <a:t>KPI: FC1号店開業
グループ月商2,000万超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1600200"/>
            <a:ext cx="2743200" cy="41148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62763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20B"/>
                </a:solidFill>
              </a:rPr>
              <a:t>加速期　4〜5年目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2011680"/>
            <a:ext cx="2743200" cy="47091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21031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20〜50店舗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2743200"/>
            <a:ext cx="2468880" cy="101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834640"/>
            <a:ext cx="2560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FC中心に年15〜20店舗ペース
魚酒場 然・鶏酒場 然も展開開始
SV体制・本部機能を整備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4892040"/>
            <a:ext cx="2743200" cy="731520"/>
          </a:xfrm>
          <a:prstGeom prst="rect">
            <a:avLst/>
          </a:prstGeom>
          <a:solidFill>
            <a:srgbClr val="1A12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4937760"/>
            <a:ext cx="2560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963C"/>
                </a:solidFill>
              </a:rPr>
              <a:t>KPI: FC比率70%以上
年商10億超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35440" y="1600200"/>
            <a:ext cx="2743200" cy="41148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0" y="162763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20B"/>
                </a:solidFill>
              </a:rPr>
              <a:t>確立期　6〜7年目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35440" y="2011680"/>
            <a:ext cx="2743200" cy="47091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26880" y="21031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8963C"/>
                </a:solidFill>
              </a:rPr>
              <a:t>100店舗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326880" y="2743200"/>
            <a:ext cx="2468880" cy="101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0" y="2834640"/>
            <a:ext cx="2560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全国展開・上場検討
ブランド価値の確立
「然」を食文化のアイコンへ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35440" y="4892040"/>
            <a:ext cx="2743200" cy="731520"/>
          </a:xfrm>
          <a:prstGeom prst="rect">
            <a:avLst/>
          </a:prstGeom>
          <a:solidFill>
            <a:srgbClr val="1A12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0" y="4937760"/>
            <a:ext cx="2560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963C"/>
                </a:solidFill>
              </a:rPr>
              <a:t>KPI: 100店舗達成
上場準備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17520" y="347472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8963C"/>
                </a:solidFill>
              </a:rPr>
              <a:t>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347472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8963C"/>
                </a:solidFill>
              </a:rPr>
              <a:t>→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69680" y="347472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8963C"/>
                </a:solidFill>
              </a:rPr>
              <a:t>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4008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8A7A6A"/>
                </a:solidFill>
              </a:rPr>
              <a:t>FC展開により資本効率を最大化。オーナーのノウハウを型にして横展開する。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MARKETING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集客・マーケティング戦略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00200"/>
            <a:ext cx="5577840" cy="22860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① インフルエンサー戦略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7568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8963C"/>
                </a:solidFill>
              </a:rPr>
              <a:t>ひまり商店モデル（初月1,700万円）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2377440"/>
            <a:ext cx="5212080" cy="6350"/>
          </a:xfrm>
          <a:prstGeom prst="rect">
            <a:avLst/>
          </a:prstGeom>
          <a:solidFill>
            <a:srgbClr val="8A7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46888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開業3ヶ月前からマイクロ〜メガ
インフルエンサーをリスト化。
無料招待→動画・リール投稿で
オープン前から認知を爆発させる。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600200"/>
            <a:ext cx="5577840" cy="22860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6916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② Instagram中心のSNS設計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07568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8963C"/>
                </a:solidFill>
              </a:rPr>
              <a:t>石板の煙・音・断面美を動画化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46520" y="2377440"/>
            <a:ext cx="5212080" cy="6350"/>
          </a:xfrm>
          <a:prstGeom prst="rect">
            <a:avLst/>
          </a:prstGeom>
          <a:solidFill>
            <a:srgbClr val="8A7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46888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撮られることを前提にした
商品・空間・BGMの設計。
「映え」ではなく「体験動画」
として拡散される仕掛けを作る。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023360"/>
            <a:ext cx="5577840" cy="22860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4114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③ MEO（Googleマップ）対策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49884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8963C"/>
                </a:solidFill>
              </a:rPr>
              <a:t>「肉酒場 三軒茶屋」で1位獲得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4800600"/>
            <a:ext cx="5212080" cy="6350"/>
          </a:xfrm>
          <a:prstGeom prst="rect">
            <a:avLst/>
          </a:prstGeom>
          <a:solidFill>
            <a:srgbClr val="8A7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8920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業態説明に「糀漬け肉定食居酒屋」
を明記。写真・口コミ・投稿頻度
で上位表示を維持する。
AI検索（AIO）にも対応した記述。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4023360"/>
            <a:ext cx="5577840" cy="22860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114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④ ランチ×ディナー来店設計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49884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8963C"/>
                </a:solidFill>
              </a:rPr>
              <a:t>一人の客が昼も夜も来る店に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46520" y="4800600"/>
            <a:ext cx="5212080" cy="6350"/>
          </a:xfrm>
          <a:prstGeom prst="rect">
            <a:avLst/>
          </a:prstGeom>
          <a:solidFill>
            <a:srgbClr val="8A7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8920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ランチで日常客を獲得し、
夜の酒場に引き上げる。
LINE公式・スタンプカードで
リピートを仕組み化する。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LAUNCH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オープン戦略　――　開業前から火をつける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600200"/>
            <a:ext cx="2743200" cy="36576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627632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8963C"/>
                </a:solidFill>
              </a:rPr>
              <a:t>-6ヶ月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仕込み期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77440"/>
            <a:ext cx="2743200" cy="416052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487168"/>
            <a:ext cx="54864" cy="65836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487168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物件契約・内装着工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3447288"/>
            <a:ext cx="54864" cy="65836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447288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Instagramアカウント開設（コンセプト発信開始）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" y="4407408"/>
            <a:ext cx="54864" cy="65836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407408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インフルエンサーリスト作成（50名以上）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" y="5367528"/>
            <a:ext cx="54864" cy="65836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5367528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メニュー最終決定・レシピ標準化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10128" y="1600200"/>
            <a:ext cx="2743200" cy="36576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55848" y="1627632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8963C"/>
                </a:solidFill>
              </a:rPr>
              <a:t>-3ヶ月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1568" y="20116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認知獲得期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10128" y="2377440"/>
            <a:ext cx="2743200" cy="416052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19856" y="2487168"/>
            <a:ext cx="54864" cy="65836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6160" y="2487168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マイクロインフルエンサー（1万〜10万）20名招待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19856" y="3447288"/>
            <a:ext cx="54864" cy="65836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66160" y="3447288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工事中の様子・仕込み動画をリール投稿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19856" y="4407408"/>
            <a:ext cx="54864" cy="65836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66160" y="4407408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Googleビジネスプロフィール登録・MEO開始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19856" y="5367528"/>
            <a:ext cx="54864" cy="65836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66160" y="5367528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プレスリリース・食メディアへのアプローチ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4496" y="1600200"/>
            <a:ext cx="2743200" cy="36576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0216" y="1627632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8963C"/>
                </a:solidFill>
              </a:rPr>
              <a:t>-1ヶ月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45936" y="20116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加熱期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54496" y="2377440"/>
            <a:ext cx="2743200" cy="416052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64224" y="2487168"/>
            <a:ext cx="54864" cy="65836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8" y="2487168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メガインフルエンサー（10万〜）5名招待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64224" y="3447288"/>
            <a:ext cx="54864" cy="65836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10528" y="3447288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プレオープン（関係者・常連候補・地元住民）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64224" y="4407408"/>
            <a:ext cx="54864" cy="65836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528" y="4407408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Instagramカウントダウン投稿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64224" y="5367528"/>
            <a:ext cx="54864" cy="65836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10528" y="5367528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Googleマップ写真・口コミ初期投稿の準備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98864" y="1600200"/>
            <a:ext cx="2743200" cy="3657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44584" y="1627632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20B"/>
                </a:solidFill>
              </a:rPr>
              <a:t>OPEN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90304" y="20116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爆発期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98864" y="2377440"/>
            <a:ext cx="2743200" cy="416052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308592" y="2487168"/>
            <a:ext cx="54864" cy="65836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454896" y="2487168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オープン当日ライブ配信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308592" y="3447288"/>
            <a:ext cx="54864" cy="65836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454896" y="3447288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初月は意図的に「並ばせる」演出で話題化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308592" y="4407408"/>
            <a:ext cx="54864" cy="65836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454896" y="4407408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日次で売上・客数・SNS反応をモニタリング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308592" y="5367528"/>
            <a:ext cx="54864" cy="65836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454896" y="5367528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口コミ返信を毎日・MEO評価を週次チェック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8A7A6A"/>
                </a:solidFill>
              </a:rPr>
              <a:t>参考：ひまり商店（新橋）は開業前からのインフルエンサー戦略で初月1,700万円を達成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13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FC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FC展開戦略　――　型をつくり、型で増やす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FCパッケージ設計（予定）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548640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10312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加盟金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0574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200万円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103120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7A6A"/>
                </a:solidFill>
              </a:rPr>
              <a:t>ブランド使用権・初期研修込み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548640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9748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ロイヤリティ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6517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売上の3%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697480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7A6A"/>
                </a:solidFill>
              </a:rPr>
              <a:t>本部サポート・仕入支援含む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200400"/>
            <a:ext cx="548640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29184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保証金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2461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100万円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291840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7A6A"/>
                </a:solidFill>
              </a:rPr>
              <a:t>退会時返還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794760"/>
            <a:ext cx="548640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88620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加盟者の初期投資目安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38404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1,500〜2,000万円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3886200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7A6A"/>
                </a:solidFill>
              </a:rPr>
              <a:t>物件・内装・設備込み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389120"/>
            <a:ext cx="548640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48056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FC加盟者の想定月商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44348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600〜720万円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4480560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7A6A"/>
                </a:solidFill>
              </a:rPr>
              <a:t>直営モデルの再現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983480"/>
            <a:ext cx="5486400" cy="54864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07492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FCオーナーの想定手残り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50292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月60〜90万円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5074920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7A6A"/>
                </a:solidFill>
              </a:rPr>
              <a:t>ロイヤリティ・返済後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FC加盟者ターゲット像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2011680"/>
            <a:ext cx="5303520" cy="12344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0" y="2011680"/>
            <a:ext cx="73152" cy="123444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0" y="210312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飲食経験者の独立志望者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2487168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元料理人・飲食チェーン出身者。
現場力があり、ブランドの型を活かせる。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3383280"/>
            <a:ext cx="5303520" cy="12344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0" y="3383280"/>
            <a:ext cx="73152" cy="123444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0" y="347472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副業・投資目的の個人オーナー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3858768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他業種からの参入。オーナー不在でも
回るオペレーションを本部が支援。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4754880"/>
            <a:ext cx="5303520" cy="12344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00800" y="4754880"/>
            <a:ext cx="73152" cy="123444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0" y="484632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地方への展開パートナー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5230368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東京モデルを地方に持ち込む
エリアFCオーナー。複数店舗可。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0" y="617220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FC本部収益（100店舗時）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644652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100店×720万×3%ロイヤリティ ＝ 月2,160万円 / 年2.6億円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14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LOCATION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立地・出店戦略　――　勝てる場所を選ぶ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物件選定スコアリング基準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5486400" cy="53035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1031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乗降者数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103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5万人/日以上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084832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78608"/>
            <a:ext cx="5486400" cy="53035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700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駅徒歩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2670048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5分以内・路面優先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2651760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145536"/>
            <a:ext cx="5486400" cy="53035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236976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坪数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236976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15〜25坪（理想20坪）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3218688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712464"/>
            <a:ext cx="5486400" cy="53035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803904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家賃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3803904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50万円以内（坪2.5万以下）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3785616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79392"/>
            <a:ext cx="5486400" cy="53035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37083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設備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437083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重飲食対応・居抜き優先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4352544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846320"/>
            <a:ext cx="5486400" cy="53035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493776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競合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37360" y="49377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同業態が近くに集中していない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4919472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8A7A6A"/>
                </a:solidFill>
              </a:rPr>
              <a:t>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優先出店エリア（1号店候補）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2011680"/>
            <a:ext cx="5303520" cy="13258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7960" y="208483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963C"/>
                </a:solidFill>
              </a:rPr>
              <a:t>★ 三軒茶屋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10312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FFFFFF"/>
                </a:solidFill>
              </a:rPr>
              <a:t>約10万人/日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2514600"/>
            <a:ext cx="5029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住宅街×夜の人通り◎
飲食激戦区だが差別化余地大
渋谷から2駅の好立地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3474720"/>
            <a:ext cx="5303520" cy="13258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37960" y="354787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963C"/>
                </a:solidFill>
              </a:rPr>
              <a:t>★ 目黒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356616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FFFFFF"/>
                </a:solidFill>
              </a:rPr>
              <a:t>約12万人/日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3977640"/>
            <a:ext cx="5029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30〜40代富裕層多い
平均客単価が高く取りやすい
ランチ需要も強い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4937760"/>
            <a:ext cx="5303520" cy="13258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37960" y="501091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963C"/>
                </a:solidFill>
              </a:rPr>
              <a:t>★ 自由が丘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502920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FFFFFF"/>
                </a:solidFill>
              </a:rPr>
              <a:t>約8万人/日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37960" y="5440680"/>
            <a:ext cx="5029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感度高い客層・SNS拡散◎
カフェ・グルメ激戦区
ブランドイメージ向上に寄与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8963C"/>
                </a:solidFill>
              </a:rPr>
              <a:t>1号店は三軒茶屋〜目黒エリアで検討。居抜き物件を優先し初期投資を抑制する。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15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BRAND &amp; SNS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ブランド・SNS戦略　――　「然」を育てる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ブランドアーキテクチャ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2011680"/>
            <a:ext cx="2560320" cy="47548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2039112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120B"/>
                </a:solidFill>
              </a:rPr>
              <a:t>然（ぜん）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063240"/>
            <a:ext cx="1828800" cy="38404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3090672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963C"/>
                </a:solidFill>
              </a:rPr>
              <a:t>肉酒場 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3493008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A7A6A"/>
                </a:solidFill>
              </a:rPr>
              <a:t>1号店〜
糀漬け肉×石板焼き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0" y="3063240"/>
            <a:ext cx="1828800" cy="38404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3090672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963C"/>
                </a:solidFill>
              </a:rPr>
              <a:t>魚酒場 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3493008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A7A6A"/>
                </a:solidFill>
              </a:rPr>
              <a:t>2年目〜
魚介×発酵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3063240"/>
            <a:ext cx="1828800" cy="38404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43400" y="3090672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963C"/>
                </a:solidFill>
              </a:rPr>
              <a:t>鶏酒場 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493008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A7A6A"/>
                </a:solidFill>
              </a:rPr>
              <a:t>3年目〜
やきとり×糀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1605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SEO / MEO / AIO設計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72000"/>
            <a:ext cx="502920" cy="34747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590288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20B"/>
                </a:solidFill>
              </a:rPr>
              <a:t>SEO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5720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「肉酒場」「糀漬け定食」＋エリア名でコンテンツ設計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992624"/>
            <a:ext cx="502920" cy="34747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010912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20B"/>
                </a:solidFill>
              </a:rPr>
              <a:t>MEO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4992624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Googleマップ説明に「糀漬け肉定食居酒屋」を明記。写真・口コミを週次更新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413248"/>
            <a:ext cx="502920" cy="34747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5431536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20B"/>
                </a:solidFill>
              </a:rPr>
              <a:t>AIO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541324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AI検索で「糀漬け肉定食の居酒屋」として説明されやすい構造的な記述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833872"/>
            <a:ext cx="502920" cy="34747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5852160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20B"/>
                </a:solidFill>
              </a:rPr>
              <a:t>指名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83387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「然（ぜん）」を固有名詞として育て、リピーター指名検索を増やす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SNSコンテンツ設計（Instagram）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2011680"/>
            <a:ext cx="5303520" cy="10058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7960" y="2057400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体験動画（リール）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20" y="2084832"/>
            <a:ext cx="1188720" cy="27432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332720" y="208483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963C"/>
                </a:solidFill>
              </a:rPr>
              <a:t>週3本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24231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石板の煙・音・肉の断面。
「見ていて気持ちいい」が拡散の鍵。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3127248"/>
            <a:ext cx="5303520" cy="10058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7960" y="3172968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仕込みの裏側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20" y="3200400"/>
            <a:ext cx="1188720" cy="27432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32720" y="32004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963C"/>
                </a:solidFill>
              </a:rPr>
              <a:t>週2本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37960" y="3538728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糀漬けの工程・仕込み動画。
「作り手が見える」信頼感を演出。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4242816"/>
            <a:ext cx="5303520" cy="10058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37960" y="4288536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インフルエンサーUGC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332720" y="4315968"/>
            <a:ext cx="1188720" cy="27432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332720" y="431596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963C"/>
                </a:solidFill>
              </a:rPr>
              <a:t>随時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37960" y="4654296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招待者の投稿をリポスト。
他者目線の口コミが最強の広告。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5358384"/>
            <a:ext cx="5303520" cy="10058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37960" y="5404104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オーナーの想い発信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332720" y="5431536"/>
            <a:ext cx="1188720" cy="27432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332720" y="543153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963C"/>
                </a:solidFill>
              </a:rPr>
              <a:t>週1本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37960" y="5769864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開業ストーリー・日々の学び。
「この人から買いたい」を育てる。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16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オペレーション設計　――　型が利益を生む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仕込みフロー（前日→当日）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5486400" cy="48463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前日 15:00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084832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サガリ・豚・鶏を糀に漬け込み（各48h）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532888"/>
            <a:ext cx="5486400" cy="484632"/>
          </a:xfrm>
          <a:prstGeom prst="rect">
            <a:avLst/>
          </a:prstGeom>
          <a:solidFill>
            <a:srgbClr val="221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60604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前日 17:00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606040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低温調理器にセット（サガリ55℃×4h）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54096"/>
            <a:ext cx="5486400" cy="48463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127248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当日 10:00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127248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仕込み完了・ポーション確認・ライン設定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575304"/>
            <a:ext cx="5486400" cy="484632"/>
          </a:xfrm>
          <a:prstGeom prst="rect">
            <a:avLst/>
          </a:prstGeom>
          <a:solidFill>
            <a:srgbClr val="221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648456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11:30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648456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ランチ営業開始（石板+トッピング仕上げ30秒）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096512"/>
            <a:ext cx="5486400" cy="48463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16966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14:00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169664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ランチ終了・ディナー仕込み補充・清掃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617720"/>
            <a:ext cx="5486400" cy="484632"/>
          </a:xfrm>
          <a:prstGeom prst="rect">
            <a:avLst/>
          </a:prstGeom>
          <a:solidFill>
            <a:srgbClr val="221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690872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17:30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690872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ディナー営業開始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138928"/>
            <a:ext cx="5486400" cy="48463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521208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22:30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5212080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閉店・翌日仕込み開始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FC展開を可能にする3つの仕組み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2011680"/>
            <a:ext cx="5303520" cy="13258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0" y="2011680"/>
            <a:ext cx="73152" cy="132588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208483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① 低温調理×前日仕込み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2514600"/>
            <a:ext cx="49377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温度・時間が数値化されているため
誰が作っても同じ品質に仕上がる。
料理経験が浅いスタッフでも対応可能。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474720"/>
            <a:ext cx="5303520" cy="13258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0" y="3474720"/>
            <a:ext cx="73152" cy="132588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0" y="354787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② 石板仕上げ（30秒）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3977640"/>
            <a:ext cx="49377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調理の最終工程は石板で30秒焼くだけ。
オペレーションが極めてシンプルで
ホール兼務も可能なスキーム。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4937760"/>
            <a:ext cx="5303520" cy="13258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00800" y="4937760"/>
            <a:ext cx="73152" cy="132588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0" y="501091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③ レシピ・マニュアルの完全数値化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5440680"/>
            <a:ext cx="49377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仕込み温度・時間・グラム数を
全てマニュアル化。SVが巡回研修で
品質を均一化する体制を構築。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8963C"/>
                </a:solidFill>
              </a:rPr>
              <a:t>「低温調理×石板仕上げ」は職人不要のオペレーションを実現し、FC展開の最大の武器になる。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17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DATA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データ経営　――　感覚ではなく数字で動く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KPI管理サイクル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1828800" cy="3657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03911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20B"/>
                </a:solidFill>
              </a:rPr>
              <a:t>日次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77440"/>
            <a:ext cx="1828800" cy="27432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87168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• 客数・客単価・売上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081528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• 時間帯別回転数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675888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• メニュー別注文数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• SNSエンゲージメント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68880" y="2011680"/>
            <a:ext cx="1828800" cy="3657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68880" y="203911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20B"/>
                </a:solidFill>
              </a:rPr>
              <a:t>週次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68880" y="2377440"/>
            <a:ext cx="1828800" cy="27432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60320" y="2487168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• 原価率・人件費率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3081528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• FL比率の確認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3675888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• 口コミ・MEO評価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20" y="4270248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• 前週比・前年比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2011680"/>
            <a:ext cx="1828800" cy="3657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0" y="203911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20B"/>
                </a:solidFill>
              </a:rPr>
              <a:t>月次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80560" y="2377440"/>
            <a:ext cx="1828800" cy="27432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2487168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• 損益計算書の確認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3081528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• リピート率・新規比率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3675888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• メニュー見直し判断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270248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• 広告ROI測定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重要KPI目標値（1号店・安定期）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2011680"/>
            <a:ext cx="5303520" cy="41148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2057400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月商目標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2039112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720万円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2075688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安定期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2450592"/>
            <a:ext cx="5303520" cy="4114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7960" y="2496312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損益分岐点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247802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460万円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0" y="2514600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目標の64%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2889504"/>
            <a:ext cx="5303520" cy="41148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7960" y="2935224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ランチ回転数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2916936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1.8回転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41280" y="2953512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30席×25日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0" y="3328416"/>
            <a:ext cx="5303520" cy="4114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37960" y="3374136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ディナー回転数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335584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1.2回転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41280" y="3392424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30席×25日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0" y="3767328"/>
            <a:ext cx="5303520" cy="41148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37960" y="3813048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原価率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0" y="379476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30%以下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41280" y="3831336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FL管理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0800" y="4206240"/>
            <a:ext cx="5303520" cy="4114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37960" y="4251960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人件費率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0" y="4233672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18〜22%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241280" y="4270248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体制次第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0" y="4645152"/>
            <a:ext cx="5303520" cy="41148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37960" y="4690872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FL比率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86800" y="467258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48〜52%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241280" y="4709160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目標50%以下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00800" y="5084064"/>
            <a:ext cx="5303520" cy="4114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37960" y="5129784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リピート率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5111496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60%以上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41280" y="5148072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6ヶ月後目標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0" y="5522976"/>
            <a:ext cx="5303520" cy="41148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37960" y="5568696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Googleマップ評価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686800" y="555040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4.0以上維持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41280" y="5586984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MEO管理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400800" y="5961888"/>
            <a:ext cx="5303520" cy="4114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37960" y="6007608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Instagram フォロワー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86800" y="598932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1万人（1年目）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241280" y="6025896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SNS資産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8A7A6A"/>
                </a:solidFill>
              </a:rPr>
              <a:t>参考：つむぎ堂は毎日注文数・売上をスタッフと共有するデータ経営で坪月商57万円を実現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18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10-YEAR GROWTH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10年財務成長シナリオ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00200"/>
            <a:ext cx="2743200" cy="77724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A7A6A"/>
                </a:solidFill>
              </a:rPr>
              <a:t>7年目 店舗数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963C"/>
                </a:solidFill>
              </a:rPr>
              <a:t>100店舗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600200"/>
            <a:ext cx="2743200" cy="77724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16459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A7A6A"/>
                </a:solidFill>
              </a:rPr>
              <a:t>7年目 年商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920240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963C"/>
                </a:solidFill>
              </a:rPr>
              <a:t>86億円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600200"/>
            <a:ext cx="2743200" cy="77724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459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A7A6A"/>
                </a:solidFill>
              </a:rPr>
              <a:t>7年目 営業利益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920240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963C"/>
                </a:solidFill>
              </a:rPr>
              <a:t>26億円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35440" y="1600200"/>
            <a:ext cx="2743200" cy="77724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0" y="16459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A7A6A"/>
                </a:solidFill>
              </a:rPr>
              <a:t>7年目 企業価値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1920240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963C"/>
                </a:solidFill>
              </a:rPr>
              <a:t>約648億円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514600"/>
            <a:ext cx="3749039" cy="228600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2514600"/>
            <a:ext cx="3749039" cy="228600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2514600"/>
            <a:ext cx="3931920" cy="228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8A7A6A"/>
                </a:solidFill>
              </a:rPr>
              <a:t>※ 企業価値はPER25倍で試算（外食FC上場企業の参考値）。月商720万円/店・稼働率100%を前提とした最大値シナリオ。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19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RISK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リスクと対策　――　想定して備える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00200"/>
            <a:ext cx="11247120" cy="85953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457200" cy="85953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856232"/>
            <a:ext cx="457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20B"/>
                </a:solidFill>
              </a:rPr>
              <a:t>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64592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① 立ち上げ期の売上未達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03911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A7A6A"/>
                </a:solidFill>
              </a:rPr>
              <a:t>新店認知不足・口コミ形成に時間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31920" y="1673352"/>
            <a:ext cx="457200" cy="25603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31920" y="16733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20B"/>
                </a:solidFill>
              </a:rPr>
              <a:t>対策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645920"/>
            <a:ext cx="704088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開業3ヶ月前からインフルエンサー戦略を実行。
手元残金630万円で最大6ヶ月の赤字に耐えられる財務設計。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32888"/>
            <a:ext cx="11247120" cy="85953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532888"/>
            <a:ext cx="457200" cy="85953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788920"/>
            <a:ext cx="457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20B"/>
                </a:solidFill>
              </a:rPr>
              <a:t>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57860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② 人材採用・定着の問題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97180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A7A6A"/>
                </a:solidFill>
              </a:rPr>
              <a:t>飲食業界の人手不足・離職率の高さ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0" y="2606040"/>
            <a:ext cx="457200" cy="25603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0" y="260604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20B"/>
                </a:solidFill>
              </a:rPr>
              <a:t>対策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2578608"/>
            <a:ext cx="704088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時給を相場より50〜100円高く設定し採用競争力を確保。
仕組み化により属人依存を排除。常時採用を継続。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465576"/>
            <a:ext cx="11247120" cy="85953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465576"/>
            <a:ext cx="457200" cy="85953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3721608"/>
            <a:ext cx="457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20B"/>
                </a:solidFill>
              </a:rPr>
              <a:t>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511296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③ 原材料費の高騰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390448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A7A6A"/>
                </a:solidFill>
              </a:rPr>
              <a:t>牛サガリの価格変動・円安影響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31920" y="3538728"/>
            <a:ext cx="457200" cy="25603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31920" y="3538728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20B"/>
                </a:solidFill>
              </a:rPr>
              <a:t>対策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3511296"/>
            <a:ext cx="704088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複数仕入れ先を確保し価格交渉力を維持。
鶏・豚メニューの比率調整で原価率をコントロール。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398264"/>
            <a:ext cx="11247120" cy="85953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398264"/>
            <a:ext cx="457200" cy="859536"/>
          </a:xfrm>
          <a:prstGeom prst="rect">
            <a:avLst/>
          </a:prstGeom>
          <a:solidFill>
            <a:srgbClr val="27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4654296"/>
            <a:ext cx="457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20B"/>
                </a:solidFill>
              </a:rPr>
              <a:t>低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4443984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④ 競合の模倣・追随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4837176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A7A6A"/>
                </a:solidFill>
              </a:rPr>
              <a:t>糀漬け肉定食業態の競合参入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931920" y="4471416"/>
            <a:ext cx="457200" cy="25603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31920" y="4471416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20B"/>
                </a:solidFill>
              </a:rPr>
              <a:t>対策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4443984"/>
            <a:ext cx="704088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ブランド「然」の商標登録で保護（第43類・飲食）。
先行者優位と顧客ロイヤリティで差別化を維持。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330952"/>
            <a:ext cx="11247120" cy="85953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5330952"/>
            <a:ext cx="457200" cy="85953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5586984"/>
            <a:ext cx="457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20B"/>
                </a:solidFill>
              </a:rPr>
              <a:t>中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" y="537667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⑤ FC加盟者の品質管理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" y="5769864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A7A6A"/>
                </a:solidFill>
              </a:rPr>
              <a:t>FC展開後のQSCばらつき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931920" y="5404104"/>
            <a:ext cx="457200" cy="25603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31920" y="540410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20B"/>
                </a:solidFill>
              </a:rPr>
              <a:t>対策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0560" y="5376672"/>
            <a:ext cx="704088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SV定期巡回（月1回以上）・抜き打ち覆面調査の実施。
数値基準を下回る店舗には改善プログラムを発動。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ACTION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今後90日のアクションプラン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00200"/>
            <a:ext cx="3657600" cy="38404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27632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0〜30日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627632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仕込みと準備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84248"/>
            <a:ext cx="3657600" cy="42062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084831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□ 会社設立（登記・口座開設）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52927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□ 「肉酒場 然」商標調査・出願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621024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□ 物件情報収集（三軒茶屋・目黒・自由が丘）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389120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□ 日本政策金融公庫への相談・申込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157216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□ Instagramアカウント開設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3400" y="1600200"/>
            <a:ext cx="3657600" cy="384048"/>
          </a:xfrm>
          <a:prstGeom prst="rect">
            <a:avLst/>
          </a:prstGeom>
          <a:solidFill>
            <a:srgbClr val="3A28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627632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30〜60日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1627632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物件決定と資金確定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1984248"/>
            <a:ext cx="3657600" cy="42062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2084831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□ 物件内見・スコアリング評価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2852927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□ 公庫面談・融資確定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621024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□ 物件契約・内装業者選定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4389120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□ インフルエンサーリスト作成（50名）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5157216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□ メニュー最終試作・原価計算確定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0" y="1600200"/>
            <a:ext cx="3657600" cy="384048"/>
          </a:xfrm>
          <a:prstGeom prst="rect">
            <a:avLst/>
          </a:prstGeom>
          <a:solidFill>
            <a:srgbClr val="3A2E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1627632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60〜90日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0" y="1627632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着工と認知獲得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0" y="1984248"/>
            <a:ext cx="3657600" cy="42062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66760" y="2084831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□ 内装・厨房工事着工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852927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□ スタッフ採用開始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3621024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□ インフルエンサー招待DM開始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4389120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□ Googleビジネスプロフィール登録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5157216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□ POSシステム・決済端末導入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6400800"/>
            <a:ext cx="11247120" cy="347472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428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963C"/>
                </a:solidFill>
              </a:rPr>
              <a:t>90日後のゴール：物件契約完了・融資確定・SNS認知スタート　→　開業へ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0" y="182880"/>
            <a:ext cx="50292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0" b="1" i="0">
                <a:solidFill>
                  <a:srgbClr val="2A1E12"/>
                </a:solidFill>
              </a:rPr>
              <a:t>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963C"/>
                </a:solidFill>
              </a:rPr>
              <a:t>私たちが目指す未来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91640"/>
            <a:ext cx="50292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糀漬け肉の定食と、和の一杯。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51760"/>
            <a:ext cx="5943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0E6D3"/>
                </a:solidFill>
              </a:rPr>
              <a:t>日本全国に「然」の灯りを。
7年で100店舗。
発酵と肉で、新しい定番をつくる。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97680"/>
            <a:ext cx="5943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A7A6A"/>
                </a:solidFill>
              </a:rPr>
              <a:t>肉酒場 然は、単なる飲食店ではありません。
糀という日本の発酵文化と、現代人の「おいしくて、体にいい」
という本質的なニーズを結びつけた、新しいブランドです。
直営で型をつくり、FCで全国へ。
その先には、日本の食文化に残る一皿があります。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19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