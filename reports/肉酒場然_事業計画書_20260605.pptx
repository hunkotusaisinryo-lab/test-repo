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C8963C"/>
                </a:solidFill>
              </a:rPr>
              <a:t>肉酒場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</a:rPr>
              <a:t>然（ぜん）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00400"/>
            <a:ext cx="45720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375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F0E6D3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A7A6A"/>
                </a:solidFill>
              </a:rPr>
              <a:t>事業計画書　2026年6月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7315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私たちのビジョン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C8963C"/>
                </a:solidFill>
              </a:rPr>
              <a:t>7年で100店舗。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0E6D3"/>
                </a:solidFill>
              </a:rPr>
              <a:t>発酵と肉の掛け合わせで、
日本の食文化に新しい定番をつくる。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8A7A6A"/>
                </a:solidFill>
              </a:rPr>
              <a:t>居酒屋×発酵×定食　という空白地帯に参入し、
糀漬け肉料理を「日本の新定番」として全国に広める。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なぜ今か　――　市場の追い風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外食産業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35.7兆円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2025年市場規模
（前年比＋3.5%）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7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3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居酒屋業態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1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48ヶ月連続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1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売上前年比プラス
コロナ前超え達成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828800"/>
            <a:ext cx="3474720" cy="38404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79" y="19659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963C"/>
                </a:solidFill>
              </a:rPr>
              <a:t>発酵食品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59" y="246888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</a:rPr>
              <a:t>SNS急拡大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59" y="338328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A7A6A"/>
                </a:solidFill>
              </a:rPr>
              <a:t>健康志向×体験価値
Z世代・40代双方に刺さる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8963C"/>
                </a:solidFill>
              </a:rPr>
              <a:t>→ 出店タイミングは今が最適。居酒屋×発酵×定食の空白地帯は誰もいない。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肉酒場 然のコンセプト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業態定義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昼：糀漬け肉定食の専門店
夜：発酵×肉の創作酒場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三つの独自性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糀漬け×低温調理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前日仕込みで品質均一化。FC展開時の再現性を担保。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29768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昼夜二毛作モデル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17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ランチ定食で固定売上 ＋ ディナー酒場でドリンク収益。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6360"/>
            <a:ext cx="54864" cy="5943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1663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石板焼き体験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486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煙・音・ロゼ色の断面がSNS映え。来店動機を設計する。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ポジショニングマップ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19456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       健康・発酵（高）
            ↑
   びゃく   │
            │   ★肉酒場 然
            │  （空白地帯）
大衆──────┼──────── こだわり
 ひまり堂   │ なかよし
 つむぎ堂   │
            ↓
       健康・発酵（低）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7784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「健康・発酵 × 肉 × ランチ＆ディナー」
は競合ゼロの完全空白地帯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看板3品　――　これを食べに来る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SNS映え No.1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糀漬けサガリの
石板焼き定食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¥1,980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北海道産サガリを糀で48時間熟成。
石板で焼き上げる煙と音が体験価値に。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34.5%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定食の王道×発酵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糀漬け豚の
厚切りカツ定食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¥1,780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糀漬け豚ロースを低温調理後に揚げる。
ロゼ色の断面が口コミの起点。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32.1%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1645920"/>
            <a:ext cx="3657600" cy="475488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7830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03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6960" y="17830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20B"/>
                </a:solidFill>
              </a:rPr>
              <a:t>ヘルシー需要取込み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21945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糀漬け鶏の
ロースト定食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301752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C8963C"/>
                </a:solidFill>
              </a:rPr>
              <a:t>¥1,680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36118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鶏もも肉を糀×ハーブで低温ロースト。
鶏の旨みが最大限に引き出される。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572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原価率 35.6%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全3品にライス・味噌汁・小鉢2品・漬物が付く。「体にいい定食」を徹底追求。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競合5店　繁盛の法則と然の優位性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11247120" cy="347472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36776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店舗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163677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月商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59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ランチ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発酵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肉特化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6367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120B"/>
                </a:solidFill>
              </a:rPr>
              <a:t>FC展開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965960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07568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なかよし（恵比寿）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75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59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07568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551176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2660904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つむぎ堂（新宿）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266090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1,500万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59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26609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136391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3246119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びゃく（学芸大学）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80360" y="324611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非公開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51959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324611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21608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4360" y="383133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ひまり堂（恵比寿）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80360" y="38313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850万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51959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3800" y="38313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06824"/>
            <a:ext cx="11247120" cy="54864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41655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ひまり商店（新橋）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441655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1,700万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59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4652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43800" y="44165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◎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92040"/>
            <a:ext cx="11247120" cy="54864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00176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★ 肉酒場 然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360" y="5001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720万目標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51959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43800" y="5001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◎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963C"/>
                </a:solidFill>
              </a:rPr>
              <a:t>「健康・発酵 × 肉 × ランチ×ディナー × FC」を同時に満たすのは然だけ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FOUNDER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代表者プロフィール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経歴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前職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01168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都内約25店舗展開　焼肉レストランブランド　運営本部長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65176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現 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60604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やきとり家すみれ　運営本部長（SV体制構築・販促・業績管理）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46120"/>
            <a:ext cx="54864" cy="38404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兼 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00400"/>
            <a:ext cx="3840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EC通販事業 経営メンバー（販売戦略・商品企画・数値分析）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600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5つの強み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103120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01  複数店舗の運営経験（本部長として売上・利益・人材を総合管理）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761488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276148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02  現場と経営の両立（現場課題と経営数値の両方を深く理解）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19856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3419856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03  数字に基づく改善力（客数・客単価・原価・人件費を分解改善）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078224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078224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04  商品企画・販促経験（SNS・LINE・キャンペーンによる集客実績）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4736592"/>
            <a:ext cx="5303520" cy="475488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473659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05  人材育成と仕組み化（属人化しない標準化・教育体制の構築）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54406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8963C"/>
                </a:solidFill>
              </a:rPr>
              <a:t>「飲食の現場と数字を両方知っている人間が、
　ゼロから作るブランドだから強い。」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FINANCIALS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収支計画　――　堅実な数字設計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月次売上目標（安定期・30席）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20240"/>
            <a:ext cx="5303520" cy="292608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72" y="19385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19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客単価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631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席数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27832" y="193852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回転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50792" y="193852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営業日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193852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20B"/>
                </a:solidFill>
              </a:rPr>
              <a:t>売上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31136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229514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ランチ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2,000円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9631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27832" y="229514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1.8回転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50792" y="2295144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82312" y="22951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270万円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670048"/>
            <a:ext cx="5303520" cy="420624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73405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ディナー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819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5,000円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9631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30席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27832" y="273405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1.2回転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0792" y="2734056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25日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2312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450万円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108960"/>
            <a:ext cx="5303520" cy="420624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317296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合計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9631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27832" y="317296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50792" y="3172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82312" y="31729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8963C"/>
                </a:solidFill>
              </a:rPr>
              <a:t>720万円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フェーズ別収支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7639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4069079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立ち上げ期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4069079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0〜3ヶ月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69079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360万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06240" y="4069079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392B"/>
                </a:solidFill>
              </a:rPr>
              <a:t>▲72万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544568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3600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成長期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6360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3〜6ヶ月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46360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504万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3600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A7A6A"/>
                </a:solidFill>
              </a:rPr>
              <a:t>＋14万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111496"/>
            <a:ext cx="5303520" cy="53035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202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安定期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20240" y="520293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6ヶ月〜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5202936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648万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6240" y="520293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77A5A"/>
                </a:solidFill>
              </a:rPr>
              <a:t>＋142万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164592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損益分岐点分析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0" y="2103120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217627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損益分岐点売上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18320" y="217627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460万円/月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2596896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37960" y="267004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目標売上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418320" y="26700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720万円/月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090672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37960" y="316382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目標対比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18320" y="316382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64%で黒字転換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3584448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37960" y="365760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固定費合計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18320" y="36576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約175万円/月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4078224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37960" y="415137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FL比率（安定期）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18320" y="415137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48.6%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4572000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37960" y="464515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安定期営業利益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18320" y="46451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約142万円/月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0" y="5065776"/>
            <a:ext cx="5303520" cy="457200"/>
          </a:xfrm>
          <a:prstGeom prst="rect">
            <a:avLst/>
          </a:prstGeom>
          <a:solidFill>
            <a:srgbClr val="2218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37960" y="513892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月次返済（友人＋公庫）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18320" y="51389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</a:rPr>
              <a:t>約20万円/月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00800" y="5559552"/>
            <a:ext cx="5303520" cy="4572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563270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A7A6A"/>
                </a:solidFill>
              </a:rPr>
              <a:t>返済後手残り（安定期）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5632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約122万円/月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FUNDING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資金調達計画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調達構成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11680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代表 自己資金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5740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084832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90%持分（株式）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出資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715768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70万円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432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10%持分（株式）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741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友人 株主借入金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374136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1,430万円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401568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金利1%・10年返済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86784"/>
            <a:ext cx="5303520" cy="5943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03250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E6D3"/>
                </a:solidFill>
              </a:rPr>
              <a:t>日本政策金融公庫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4032504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500万円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4059936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7A6A"/>
                </a:solidFill>
              </a:rPr>
              <a:t>金利2%・7年返済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663440"/>
            <a:ext cx="5303520" cy="594360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727448"/>
            <a:ext cx="1828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調達総額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4727448"/>
            <a:ext cx="2286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8963C"/>
                </a:solidFill>
              </a:rPr>
              <a:t>2,630万円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6002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8963C"/>
                </a:solidFill>
              </a:rPr>
              <a:t>資金使途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01168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2075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物件取得費（保証金・礼金）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20" y="207568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350万円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253288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59689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内装・設備工事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259689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870万円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054096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厨房機器・備品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0" y="311810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200万円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3575304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63931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仕入・食材初回発注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5520" y="3639312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50万円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096512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3796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採用・オープン前研修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4160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80万円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4617720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7960" y="46817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マーケティング（3ヶ月分）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75520" y="46817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45万円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138928"/>
            <a:ext cx="5303520" cy="484632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5202936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運転資金（3ヶ月分）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0" y="5202936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0E6D3"/>
                </a:solidFill>
              </a:rPr>
              <a:t>405万円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5660136"/>
            <a:ext cx="5303520" cy="484632"/>
          </a:xfrm>
          <a:prstGeom prst="rect">
            <a:avLst/>
          </a:prstGeom>
          <a:solidFill>
            <a:srgbClr val="3A2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37960" y="572414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963C"/>
                </a:solidFill>
              </a:rPr>
              <a:t>手元残金（緊急予備）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75520" y="5724144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C8963C"/>
                </a:solidFill>
              </a:rPr>
              <a:t>630万円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8963C"/>
                </a:solidFill>
              </a:rPr>
              <a:t>手元残金630万円は立ち上げ期の赤字（▲216万）を十分カバー。財務安全性は高い。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展開ロードマップ　7年で100店舗へ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実証期　1〜2年目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1〜2店舗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直営1号店で型をつくる
QSC・レシピ・教育マニュアル完成
インフルエンサー戦略で認知獲得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月商黒字化
リピート率60%以上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横展開期　3年目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2〜5店舗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直営2〜3号店 ＋ FC募集開始
FC加盟オーナー教育体制構築
三軒茶屋・目黒・自由が丘エリアへ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FC1号店開業
グループ月商2,000万超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加速期　4〜5年目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6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20〜50店舗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FC中心に年15〜20店舗ペース
魚酒場 然・鶏酒場 然も展開開始
SV体制・本部機能を整備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FC比率70%以上
年商10億超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1600200"/>
            <a:ext cx="2743200" cy="41148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0" y="162763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20B"/>
                </a:solidFill>
              </a:rPr>
              <a:t>確立期　6〜7年目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40" y="2011680"/>
            <a:ext cx="2743200" cy="470916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210312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8963C"/>
                </a:solidFill>
              </a:rPr>
              <a:t>100店舗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326880" y="2743200"/>
            <a:ext cx="2468880" cy="1016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26880" y="2834640"/>
            <a:ext cx="2560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E6D3"/>
                </a:solidFill>
              </a:rPr>
              <a:t>全国展開・上場検討
ブランド価値の確立
「然」を食文化のアイコンへ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35440" y="4892040"/>
            <a:ext cx="2743200" cy="731520"/>
          </a:xfrm>
          <a:prstGeom prst="rect">
            <a:avLst/>
          </a:prstGeom>
          <a:solidFill>
            <a:srgbClr val="1A12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6880" y="4937760"/>
            <a:ext cx="25603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8963C"/>
                </a:solidFill>
              </a:rPr>
              <a:t>KPI: 100店舗達成
上場準備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9680" y="347472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8963C"/>
                </a:solidFill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A7A6A"/>
                </a:solidFill>
              </a:rPr>
              <a:t>FC展開により資本効率を最大化。オーナーのノウハウを型にして横展開する。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8963C"/>
                </a:solidFill>
              </a:rPr>
              <a:t>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集客・マーケティング戦略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05156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① インフルエンサー戦略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ひまり商店モデル（初月1,700万円）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開業3ヶ月前からマイクロ〜メガ
インフルエンサーをリスト化。
無料招待→動画・リール投稿で
オープン前から認知を爆発させる。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60020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② Instagram中心のSNS設計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7568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石板の煙・音・断面美を動画化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237744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46888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撮られることを前提にした
商品・空間・BGMの設計。
「映え」ではなく「体験動画」
として拡散される仕掛けを作る。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③ MEO（Googleマップ）対策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「肉酒場 三軒茶屋」で1位獲得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業態説明に「糀漬け肉定食居酒屋」
を明記。写真・口コミ・投稿頻度
で上位表示を維持する。
AI検索（AIO）にも対応した記述。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023360"/>
            <a:ext cx="5577840" cy="2286000"/>
          </a:xfrm>
          <a:prstGeom prst="rect">
            <a:avLst/>
          </a:prstGeom>
          <a:solidFill>
            <a:srgbClr val="2A1E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114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④ ランチ×ディナー来店設計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49884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8963C"/>
                </a:solidFill>
              </a:rPr>
              <a:t>一人の客が昼も夜も来る店に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4800600"/>
            <a:ext cx="5212080" cy="6350"/>
          </a:xfrm>
          <a:prstGeom prst="rect">
            <a:avLst/>
          </a:prstGeom>
          <a:solidFill>
            <a:srgbClr val="8A7A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8920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6D3"/>
                </a:solidFill>
              </a:rPr>
              <a:t>ランチで日常客を獲得し、
夜の酒場に引き上げる。
LINE公式・スタンプカードで
リピートを仕組み化する。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2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182880"/>
            <a:ext cx="50292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0" b="1" i="0">
                <a:solidFill>
                  <a:srgbClr val="2A1E12"/>
                </a:solidFill>
              </a:rPr>
              <a:t>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943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963C"/>
                </a:solidFill>
              </a:rPr>
              <a:t>私たちが目指す未来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91640"/>
            <a:ext cx="5029200" cy="19050"/>
          </a:xfrm>
          <a:prstGeom prst="rect">
            <a:avLst/>
          </a:prstGeom>
          <a:solidFill>
            <a:srgbClr val="C89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糀漬け肉の定食と、和の一杯。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5943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0E6D3"/>
                </a:solidFill>
              </a:rPr>
              <a:t>日本全国に「然」の灯りを。
7年で100店舗。
発酵と肉で、新しい定番をつくる。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9768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A7A6A"/>
                </a:solidFill>
              </a:rPr>
              <a:t>肉酒場 然は、単なる飲食店ではありません。
糀という日本の発酵文化と、現代人の「おいしくて、体にいい」
という本質的なニーズを結びつけた、新しいブランドです。
直営で型をつくり、FCで全国へ。
その先には、日本の食文化に残る一皿があります。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7A6A"/>
                </a:solidFill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