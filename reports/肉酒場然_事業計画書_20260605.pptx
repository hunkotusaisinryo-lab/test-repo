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C8963C"/>
                </a:solidFill>
              </a:rPr>
              <a:t>肉酒場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6400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然（ぜん）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91840"/>
            <a:ext cx="50292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56432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0E6D3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A7A6A"/>
                </a:solidFill>
              </a:rPr>
              <a:t>事業計画書　2026年6月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457200"/>
            <a:ext cx="347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私たちのビジョン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11430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C8963C"/>
                </a:solidFill>
              </a:rPr>
              <a:t>7年で100店舗。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11430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0E6D3"/>
                </a:solidFill>
              </a:rPr>
              <a:t>発酵と肉の掛け合わせで、
日本の食文化に新しい定番をつくる。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66344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7A6A"/>
                </a:solidFill>
              </a:rPr>
              <a:t>居酒屋×発酵×定食　という空白地帯に参入し、
糀漬け肉料理を「日本の新定番」として全国に広める。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なぜ今か　――　市場の追い風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3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737360"/>
            <a:ext cx="3657600" cy="41148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外食産業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35.7兆円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7A6A"/>
                </a:solidFill>
              </a:rPr>
              <a:t>2025年市場規模
（前年比＋3.5%）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202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居酒屋業態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146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48ヶ月連続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7A6A"/>
                </a:solidFill>
              </a:rPr>
              <a:t>売上前年比プラス
コロナ前超え達成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1737360"/>
            <a:ext cx="3657600" cy="41148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9202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発酵食品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5146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SNS急拡大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7A6A"/>
                </a:solidFill>
              </a:rPr>
              <a:t>健康志向×体験価値
Z世代・40代双方に刺さる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9436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→ 出店タイミングは今が最適。居酒屋×発酵×定食の空白地帯は誰もいない。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肉酒場 然のコンセプト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4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業態定義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昼：糀漬け肉定食の専門店
夜：発酵×肉の創作酒場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00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三つの独自性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749040"/>
            <a:ext cx="64008" cy="62179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7033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糀漬け×低温調理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0690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前日仕込みで品質均一化。FC展開時の再現性を担保。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645151"/>
            <a:ext cx="64008" cy="62179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59943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昼夜二毛作モデル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965191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ランチ定食で固定売上 ＋ ディナー酒場でドリンク収益。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541264"/>
            <a:ext cx="64008" cy="62179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54955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石板焼き体験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86130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煙・音・ロゼ色の断面がSNS映え。来店動機を設計する。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4864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8288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ポジショニングマップ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33172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       健康・発酵（高）
            ↑
   びゃく   │
            │   ★肉酒場 然
            │  （空白地帯）
大衆──────┼──────── こだわり
 ひまり堂   │ なかよし
 つむぎ堂   │
            ↓
       健康・発酵（低）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80644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「健康・発酵 × 肉 × ランチ＆ディナー」
は競合ゼロの完全空白地帯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看板3品　――　これを食べに来る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5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3703320" cy="48006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847088"/>
            <a:ext cx="178308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184708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20B"/>
                </a:solidFill>
              </a:rPr>
              <a:t>SNS映え No.1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糀漬けサガリの
石板焼き定食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4612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963C"/>
                </a:solidFill>
              </a:rPr>
              <a:t>¥1,980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北海道産サガリを糀で48時間熟成。
石板で焼き上げる煙と音が体験価値に。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 34.5%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691640"/>
            <a:ext cx="3703320" cy="48006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82880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847088"/>
            <a:ext cx="178308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84708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20B"/>
                </a:solidFill>
              </a:rPr>
              <a:t>定食の王道×発酵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8600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糀漬け豚の
厚切りカツ定食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24612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963C"/>
                </a:solidFill>
              </a:rPr>
              <a:t>¥1,780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93192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糀漬け豚ロースを低温調理後に揚げる。
ロゼ色の断面が口コミの起点。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920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 32.1%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1691640"/>
            <a:ext cx="3703320" cy="48006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82880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12680" y="1847088"/>
            <a:ext cx="178308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184708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20B"/>
                </a:solidFill>
              </a:rPr>
              <a:t>ヘルシー需要取込み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28600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糀漬け鶏の
ロースト定食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24612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963C"/>
                </a:solidFill>
              </a:rPr>
              <a:t>¥1,680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93192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鶏もも肉を糀×ハーブで低温ロースト。
鶏の旨みが最大限に引き出される。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8920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 35.6%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A7A6A"/>
                </a:solidFill>
              </a:rPr>
              <a:t>全3品にライス・味噌汁・小鉢2品・漬物が付く。「体にいい定食」を徹底追求。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競合5店　繁盛の法則と然の優位性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6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247120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70992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店舗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8104" y="170992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月商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ランチ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9864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発酵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8583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肉特化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7304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FC展開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66543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2185415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なかよし（恵比寿）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8104" y="2185415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9864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3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688336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280720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つむぎ堂（新宿）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18104" y="28072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1,500万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9864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8583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7304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10128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34290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びゃく（学芸大学）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8104" y="342900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1144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9864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58583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931920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40507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ひまり堂（恵比寿）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18104" y="405079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850万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1144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9864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8583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7304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53712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" y="467258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ひまり商店（新橋）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18104" y="467258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1,700万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1144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9864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8583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7304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175504"/>
            <a:ext cx="11247120" cy="58521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" y="5294376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★ 肉酒場 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18104" y="529437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720万目標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81144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9864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3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47304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963C"/>
                </a:solidFill>
              </a:rPr>
              <a:t>「健康・発酵 × 肉 × ランチ×ディナー × FC」を同時に満たすのは然だけ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FOUNDER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代表者プロフィール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7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経歴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249424"/>
            <a:ext cx="64008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17627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前職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176272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都内約25店舗展開　焼肉レストランブランド　運営本部長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907791"/>
            <a:ext cx="64008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83463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現 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2834639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やきとり家すみれ　運営本部長（SV体制構築・販促・業績管理）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566160"/>
            <a:ext cx="64008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493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兼 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493008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EC通販事業 経営メンバー（販売戦略・商品企画・数値分析）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5つの強み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2494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22677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01  複数店舗の運営経験（本部長として売上・利益・人材を総合管理）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29352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9535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02  現場と経営の両立（現場課題と経営数値の両方を深く理解）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6210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6393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03  数字に基づく改善力（客数・客単価・原価・人件費を分解改善）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43068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3251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04  商品企画・販促経験（SNS・LINE・キャンペーンによる集客実績）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49926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50109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05  人材育成と仕組み化（属人化しない標準化・教育体制の構築）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32120"/>
            <a:ext cx="11247120" cy="9601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961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8963C"/>
                </a:solidFill>
              </a:rPr>
              <a:t>「飲食の現場と数字を両方知っている人間が、
　ゼロから作るブランドだから強い。」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収支計画　――　堅実な数字設計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8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月次売上目標（安定期・30席）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57784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12140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5" y="2121408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客単価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12140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席数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212140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回転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536" y="212140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営業日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75" y="2121408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売上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50592"/>
            <a:ext cx="557784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523744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ランチ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2495" y="2523744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2,000円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5" y="2523744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523744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2523744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2523744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270万円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926080"/>
            <a:ext cx="557784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9992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ディナー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82495" y="2999232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5,000円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5" y="2999232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9856" y="2999232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2999232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5" y="2999232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450万円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01568"/>
            <a:ext cx="5577840" cy="45720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3474720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合計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82495" y="3474720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42615" y="3474720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9856" y="3474720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88536" y="3474720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65775" y="3474720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720万円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3840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フェーズ別収支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315968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4074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立ち上げ期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11680" y="44074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0〜3ヶ月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4074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360万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44074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</a:rPr>
              <a:t>▲72万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910328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00176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成長期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500176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3〜6ヶ月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60" y="500176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504万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0" y="500176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A7A6A"/>
                </a:solidFill>
              </a:rPr>
              <a:t>＋14万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504688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59612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安定期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0" y="559612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6ヶ月〜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559612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648万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559612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77A5A"/>
                </a:solidFill>
              </a:rPr>
              <a:t>＋142万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1664208"/>
            <a:ext cx="5486400" cy="48463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400" y="1792224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損益分岐点分析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2286000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400" y="235915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損益分岐点売上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2359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460万円/月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92240" y="2798064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29400" y="287121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目標売上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09760" y="28712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720万円/月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92240" y="3310128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400" y="338328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目標対比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09760" y="33832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64%で黒字転換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92240" y="3822191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29400" y="389534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固定費合計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09760" y="389534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約175万円/月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92240" y="4334256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440740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FL比率（安定期）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09760" y="44074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48.6%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4846320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29400" y="491947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安定期営業利益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09760" y="49194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8963C"/>
                </a:solidFill>
              </a:rPr>
              <a:t>約142万円/月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92240" y="5358384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29400" y="543153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月次返済（友人＋公庫）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09760" y="54315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約20万円/月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92240" y="5870448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29400" y="594360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返済後手残り（安定期）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09760" y="59436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8963C"/>
                </a:solidFill>
              </a:rPr>
              <a:t>約122万円/月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資金調達計画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9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調達構成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94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代表 自己資金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2311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2677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90%持分（株式）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620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352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友人 出資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9169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70万円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9535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10%持分（株式）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478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210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友人 株主借入金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6027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1,430万円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36393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金利1%・10年返済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336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068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日本政策金融公庫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2885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500万円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3251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金利2%・7年返済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937760"/>
            <a:ext cx="5577840" cy="65836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調達総額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99262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963C"/>
                </a:solidFill>
              </a:rPr>
              <a:t>2,630万円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資金使途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2176272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22494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物件取得費（保証金・礼金）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24942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350万円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2706624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2779776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内装・設備工事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27797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870万円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3236976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331012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厨房機器・備品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101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200万円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767327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3840479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仕入・食材初回発注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384047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50万円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4297679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370831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採用・オープン前研修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4370831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80万円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828031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4901183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マーケティング（3ヶ月分）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490118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45万円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5358383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5431535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運転資金（3ヶ月分）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5431535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405万円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5888736"/>
            <a:ext cx="5486400" cy="49377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29400" y="596188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手元残金（緊急予備）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59618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手元残金630万円は立ち上げ期の赤字（▲216万）を十分カバー。財務安全性は高い。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展開ロードマップ　7年で100店舗へ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実証期　1〜2年目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1〜2店舗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直営1号店で型をつくる
QSC・レシピ・教育マニュアル完成
インフルエンサー戦略で認知獲得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月商黒字化
リピート率60%以上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横展開期　3年目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872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2〜5店舗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3872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3872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直営2〜3号店 ＋ FC募集開始
FC加盟オーナー教育体制構築
三軒茶屋・目黒・自由が丘エリアへ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872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FC1号店開業
グループ月商2,000万超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加速期　4〜5年目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20〜50店舗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6480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FC中心に年15〜20店舗ペース
魚酒場 然・鶏酒場 然も展開開始
SV体制・本部機能を整備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480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FC比率70%以上
年商10億超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確立期　6〜7年目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9088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100店舗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9088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9088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全国展開・上場検討
ブランド価値の確立
「然」を食文化のアイコンへ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116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9088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100店舗達成
上場準備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90672" y="3520440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16752" y="3520440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42832" y="3520440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A7A6A"/>
                </a:solidFill>
              </a:rPr>
              <a:t>FC展開により資本効率を最大化。オーナーのノウハウを型にして横展開する。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GROUP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グループ事業戦略　――　3つの柱で成長する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3703320" cy="48920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810512"/>
            <a:ext cx="292608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1051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メイン事業　Year1〜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肉酒場 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9232"/>
            <a:ext cx="33832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糀漬け肉×定食居酒屋の直営・FC展開。
7年目100店舗・年商86億を目指すコア事業。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434840"/>
            <a:ext cx="3703320" cy="47548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62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7年目目標：年商 86億円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100店舗 / FC展開 / 上場検討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664208"/>
            <a:ext cx="3703320" cy="48920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810512"/>
            <a:ext cx="292608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181051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1人OP特化　Year4〜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新業態ブランド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26280" y="2999232"/>
            <a:ext cx="33832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10896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1人〜2人で運営できる小型FC業態。
低投資・高回転モデルで地方・郊外に展開。
発酵×定食の然ノウハウを凝縮。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4434840"/>
            <a:ext cx="3703320" cy="47548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462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7年目目標：年商 12億円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50店舗 / FC特化 / 低コスト出店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75320" y="1664208"/>
            <a:ext cx="3703320" cy="48920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1810512"/>
            <a:ext cx="292608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181051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ストック収益　Year2〜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SNS・デザイン
コンサル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2999232"/>
            <a:ext cx="33832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310896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然ブランドで培ったSNS戦略・
インフルエンサー設計・店舗VI制作を
他飲食企業に提供するコンサル事業。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4434840"/>
            <a:ext cx="3703320" cy="47548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462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7年目目標：年商 2.5億円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月額顧問契約 / 案件単価UP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669280"/>
            <a:ext cx="11247120" cy="8229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74243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A7A6A"/>
                </a:solidFill>
              </a:rPr>
              <a:t>7年目グループ合計年商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715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約101億円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578815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（然86億 ＋ 新業態12億 ＋ コンサル2.5億）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集客・マーケティング戦略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77393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① インフルエンサー戦略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21284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ひまり商店モデル（初月1,700万円）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255117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65176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開業3ヶ月前からマイクロ〜メガ
インフルエンサーをリスト化。
無料招待→動画・リール投稿で
オープン前から認知を爆発させる。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77393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② Instagram中心のSNS設計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21284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石板の煙・音・断面美を動画化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5392" y="255117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265176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撮られることを前提にした
商品・空間・BGMの設計。
「映え」ではなく「体験動画」
として拡散される仕掛けを作る。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3308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24281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③ MEO（Googleマップ）対策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68172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「肉酒場 三軒茶屋」で1位獲得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" y="502005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512064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業態説明に「糀漬け肉定食居酒屋」
を明記。写真・口コミ・投稿頻度
で上位表示を維持する。
AI検索（AIO）にも対応した記述。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13308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424281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④ ランチ×ディナー来店設計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468172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一人の客が昼も夜も来る店に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65392" y="502005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5392" y="512064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ランチで日常客を獲得し、
夜の酒場に引き上げる。
LINE公式・スタンプカードで
リピートを仕組み化する。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オープン戦略　――　開業前から火をつける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13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64208"/>
            <a:ext cx="2788920" cy="40233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-6ヶ月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仕込み期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物件契約・内装着工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Instagramアカウント開設（コンセプト発信）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インフルエンサーリスト作成（50名以上）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メニュー最終決定・レシピ標準化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5848" y="1664208"/>
            <a:ext cx="2788920" cy="40233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10712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-3ヶ月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5576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認知獲得期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3864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30168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マイクロインフルエンサー（1万〜10万）20名招待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83864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0168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工事中の様子・仕込み動画をリール投稿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83864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0168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Googleビジネスプロフィール登録・MEO開始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83864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0168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プレスリリース・食メディアへのアプローチ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0216" y="1664208"/>
            <a:ext cx="2788920" cy="40233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-1ヶ月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9944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加熱期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0216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28232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メガインフルエンサー（10万〜）5名招待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28232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74536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プレオープン（関係者・常連候補・地元住民）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28232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74536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Instagramカウントダウン投稿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28232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Googleマップ写真・口コミ初期投稿の準備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44584" y="1664208"/>
            <a:ext cx="2788920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99448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20B"/>
                </a:solidFill>
              </a:rPr>
              <a:t>OPEN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54312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爆発期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18904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オープン当日ライブ配信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72600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18904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初月は意図的に「並ばせる」演出で話題化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72600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18904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日次で売上・客数・SNS反応をモニタリング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372600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18904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口コミ返信を毎日・MEO評価を週次チェック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参考：ひまり商店（新橋）は開業前からのインフルエンサー戦略で初月1,700万円を達成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FC展開戦略　――　型をつくり、型で増やす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14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FCパッケージ設計（予定）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加盟金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231136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200万円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6771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ブランド使用権・初期研修込み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88920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0360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ロイヤリティ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843784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売上の3%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880360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本部サポート・仕入支援含む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01568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93008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保証金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456432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100万円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493008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退会時返還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014216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05656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加盟者の初期投資目安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4069080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1,500〜2,000万円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05656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物件・内装・設備込み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26864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18304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FC加盟者の想定月商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681728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600〜720万円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71830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直営モデルの再現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239512"/>
            <a:ext cx="5577840" cy="56692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3095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FCオーナーの想定手残り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5294376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月60〜90万円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33095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ロイヤリティ・返済後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FC加盟者ターゲット像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176272"/>
            <a:ext cx="5486400" cy="126187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92240" y="2176272"/>
            <a:ext cx="82296" cy="12618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93408" y="226771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飲食経験者の独立志望者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3408" y="2697479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元料理人・飲食チェーン出身者。
現場力があり、ブランドの型を活かせる。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566160"/>
            <a:ext cx="5486400" cy="126187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0" y="3566160"/>
            <a:ext cx="82296" cy="12618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3408" y="3657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副業・投資目的の個人オーナー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93408" y="4087367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他業種からの参入。オーナー不在でも
回るオペレーションを本部が支援。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4956048"/>
            <a:ext cx="5486400" cy="126187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92240" y="4956048"/>
            <a:ext cx="82296" cy="12618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93408" y="504748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地方への展開パートナー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8" y="5477255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東京モデルを地方に持ち込む
エリアFCオーナー。複数店舗可。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629107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FC本部収益（100店舗時）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100店×720万×3%ロイヤリティ ＝ 月2,160万円 / 年2.6億円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LOCATION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立地・出店戦略　――　勝てる場所を選ぶ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15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物件選定スコアリング基準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乗降者数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5万人/日以上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4942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7063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6207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駅徒歩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6207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5分以内・路面優先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4378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1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56431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坪数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5643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15〜25坪（理想20坪）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438143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5935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05079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家賃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05079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50万円以内（坪2.5万以下）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03250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55371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64515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設備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64515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重飲食対応・居抜き優先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62686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4807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3951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競合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23951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同業態が近くに集中していない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522122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A7A6A"/>
                </a:solidFill>
              </a:rPr>
              <a:t>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優先出店エリア（1号店候補）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176272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267712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★ 三軒茶屋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約10万人/日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724912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住宅街×夜の人通り◎
飲食激戦区だが差別化余地大
渋谷から2駅の好立地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657600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3749040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★ 目黒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3767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約12万人/日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206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30〜40代富裕層多い
平均客単価が高く取りやすい
ランチ需要も強い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5138928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9400" y="5230368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★ 自由が丘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約8万人/日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5687568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感度高い客層・SNS拡散◎
カフェ・グルメ激戦区
ブランドイメージ向上に寄与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1号店は三軒茶屋〜目黒エリアで検討。居抜き物件を優先し初期投資を抑制する。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BRAND &amp; SNS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ブランド・SNS戦略　――　「然」を育てる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16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ブランドアーキテクチャ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2176272"/>
            <a:ext cx="2697480" cy="51206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203704"/>
            <a:ext cx="2697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20B"/>
                </a:solidFill>
              </a:rPr>
              <a:t>然（ぜん）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187451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3273552"/>
            <a:ext cx="1764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肉酒場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730752"/>
            <a:ext cx="1764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1号店〜
糀漬け肉×石板焼き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3246120"/>
            <a:ext cx="187451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2304" y="3273552"/>
            <a:ext cx="1764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魚酒場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2304" y="3730752"/>
            <a:ext cx="1764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2年目〜
魚介×発酵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246120"/>
            <a:ext cx="187451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3273552"/>
            <a:ext cx="1764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鶏酒場 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3730752"/>
            <a:ext cx="1764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3年目〜
やきとり×糀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40740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SEO / MEO / AIO設計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92040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910328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SEO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8920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「肉酒場」「糀漬け定食」＋エリア名でコンテンツ設計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330952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49240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MEO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33095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Googleマップ説明に「糀漬け肉定食居酒屋」を明記。写真・口コミを週次更新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9864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788152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AIO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7698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AI検索で「糀漬け肉定食の居酒屋」として説明されやすい構造的な記述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208775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227063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指名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6208775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「然（ぜん）」を固有名詞として育て、リピーター指名検索を増やす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SNSコンテンツ設計（Instagram）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176272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240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体験動画（リール）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424160" y="2267712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24160" y="226771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週3本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633472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石板の煙・音・肉の断面。
「見ていて気持ちいい」が拡散の鍵。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3310128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374136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仕込みの裏側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24160" y="3401568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24160" y="340156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週2本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767328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糀漬けの工程・仕込み動画。
「作り手が見える」信頼感を演出。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443983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4507991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インフルエンサーUGC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4535423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24160" y="4535423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随時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901183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招待者の投稿をリポスト。
他者目線の口コミが最強の広告。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5577840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564184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オーナーの想い発信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24160" y="5669280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24160" y="56692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週1本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6035040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開業ストーリー・日々の学び。
「この人から買いたい」を育てる。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オペレーション設計　――　型が利益を生む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17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仕込みフロー（前日→当日）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前日 15:00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26771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サガリ・豚・鶏を糀に漬け込み（各48h）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24912"/>
            <a:ext cx="5577840" cy="512064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前日 17:00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1635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低温調理器にセット（サガリ55℃×4h）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273552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6499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当日 10:00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36499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仕込み完了・ポーション確認・ライン設定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22191"/>
            <a:ext cx="5577840" cy="512064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13631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11:30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913631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ランチ営業開始（石板+トッピング仕上げ30秒）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70831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62271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14:00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462271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ランチ終了・ディナー仕込み補充・清掃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19472"/>
            <a:ext cx="5577840" cy="512064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17:30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01091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ディナー営業開始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468112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55955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22:30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55955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閉店・翌日仕込み開始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FC展開を可能にする3つの仕組み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176272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92240" y="2176272"/>
            <a:ext cx="82296" cy="13533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3408" y="226771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① 低温調理×前日仕込み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2724912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温度・時間が数値化されているため
誰が作っても同じ品質に仕上がる。
料理経験が浅いスタッフでも対応可能。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3657600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92240" y="3657600"/>
            <a:ext cx="82296" cy="13533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3408" y="374904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② 石板仕上げ（30秒）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3408" y="42062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調理の最終工程は石板で30秒焼くだけ。
オペレーションが極めてシンプルで
ホール兼務も可能なスキーム。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5138928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92240" y="5138928"/>
            <a:ext cx="82296" cy="13533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93408" y="523036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③ レシピ・マニュアルの完全数値化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3408" y="5687568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仕込み温度・時間・グラム数を
全てマニュアル化。SVが巡回研修で
品質を均一化する体制を構築。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「低温調理×石板仕上げ」は職人不要のオペレーションを実現し、FC展開の最大の武器になる。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DATA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データ経営　――　感覚ではなく数字で動く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18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KPI管理サイクル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1874519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03704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20B"/>
                </a:solidFill>
              </a:rPr>
              <a:t>日次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78608"/>
            <a:ext cx="1874519" cy="2880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70662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客数・客単価・売上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34670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時間帯別回転数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986783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メニュー別注文数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462686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SNSエンゲージメント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2176272"/>
            <a:ext cx="1874519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2203704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20B"/>
                </a:solidFill>
              </a:rPr>
              <a:t>週次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2578608"/>
            <a:ext cx="1874519" cy="2880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70048" y="270662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原価率・人件費率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0048" y="334670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FL比率の確認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0048" y="3986783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口コミ・MEO評価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462686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前週比・前年比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2176272"/>
            <a:ext cx="1874519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03704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20B"/>
                </a:solidFill>
              </a:rPr>
              <a:t>月次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2578608"/>
            <a:ext cx="1874519" cy="2880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7448" y="270662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損益計算書の確認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7448" y="334670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リピート率・新規比率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3986783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メニュー見直し判断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7448" y="462686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広告ROI測定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重要KPI目標値（1号店・安定期）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176272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222199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月商目標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21284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720万円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9880" y="22402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安定期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624328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267004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損益分岐点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66090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460万円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69880" y="2688336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目標の64%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3072384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11810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ランチ回転数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40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69880" y="313639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3520439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3566159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ディナー回転数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15400" y="3557015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69880" y="3584447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3968496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401421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40050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30%以下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69880" y="403250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FL管理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4416552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44622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人件費率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400" y="44531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18〜22%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69880" y="448056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体制次第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4864608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400" y="491032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FL比率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15400" y="490118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48〜52%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69880" y="4928616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目標50%以下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5312664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29400" y="535838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リピート率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400" y="5349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60%以上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9880" y="53766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6ヶ月後目標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5760720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29400" y="580644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Googleマップ評価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15400" y="579729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4.0以上維持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9880" y="582472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MEO管理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92240" y="6208776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625449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Instagram フォロワー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15400" y="6245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1万人（1年目）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69880" y="62727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SNS資産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参考：つむぎ堂は毎日注文数・売上をスタッフと共有するデータ経営で坪月商57万円を実現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HQ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本部経費・商標料　――　スケールと共に整備する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19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本部経費ロードマップ（Year3〜）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3年目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0.3億円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3500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SV1名・経理外注・小オフィス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4年目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9718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0.8億円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900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SV2名・人事採用・本部スタッフ3名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044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11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5年目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118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1.5億円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6301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本部スタッフ6名・FC支援チーム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6年目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2519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2.5億円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2702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SV5名・マーケ専任・IT担当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00600"/>
            <a:ext cx="5760720" cy="5943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7年目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8920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4.0億円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9103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本部組織完成形（100店舗対応）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44068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5321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8〜10年目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532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5〜7億円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5504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上場準備・海外展開準備コスト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商標料・システム料（売上の1%）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224028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全店舗売上に対して1%を
グループ本部へ計上。
・ブランド維持費（商標登録・更新）
・POSシステム・オペレーションツール
・本部マーケティング共通費
・FC加盟店サポート費用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4389120"/>
            <a:ext cx="5394960" cy="5029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41655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7年目 商標料・システム料収入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4416552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1A120B"/>
                </a:solidFill>
              </a:rPr>
              <a:t>約1.0億円/年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0749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0E6D3"/>
                </a:solidFill>
              </a:rPr>
              <a:t>本部収益＝FC加盟金＋ロイヤリティ（3%）＋商標料（1%）
→ 100店舗時、本部だけで年商ベース約35億円規模のグループ収入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172200"/>
            <a:ext cx="11247120" cy="5029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217920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本部経費・商標料控除後の実効営業利益率：Year3〜9% / Year7〜12% / Year10〜13%（15%から約2〜3%下方修正）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10-YEAR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10年財務成長シナリオ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7年目 グループ年商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101億円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7年目 営業利益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14.2億円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7年目 実効利益率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14%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088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10年目 グループ年商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088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197億円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51760"/>
            <a:ext cx="5669280" cy="4069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651760"/>
            <a:ext cx="566928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リスクと対策　――　想定して備える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475488" cy="87782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38528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1719072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① 立ち上げ期の売上未達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13969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新店認知不足・口コミ形成に時間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1755648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755648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1719072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開業3ヶ月前からインフルエンサー戦略を実行。
手元残金630万円で最大6ヶ月の赤字に耐えられる財務設計。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606040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606040"/>
            <a:ext cx="475488" cy="87782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880360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66090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② 人材採用・定着の問題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08152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飲食業界の人手不足・離職率の高さ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2697480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2697480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6864" y="2660904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時給を相場より50〜100円高く設定し採用競争力を確保。
仕組み化により属人依存を排除。常時採用を継続。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47872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547872"/>
            <a:ext cx="475488" cy="87782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822192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3602736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③ 原材料費の高騰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02336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牛サガリの価格変動・円安影響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3639312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3639312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6864" y="3602736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複数仕入れ先を確保し価格交渉力を維持。
鶏・豚メニューの比率調整で原価率をコントロール。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489704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489704"/>
            <a:ext cx="475488" cy="877824"/>
          </a:xfrm>
          <a:prstGeom prst="rect">
            <a:avLst/>
          </a:prstGeom>
          <a:solidFill>
            <a:srgbClr val="27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76402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54456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④ 競合の模倣・追随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49651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糀漬け肉定食業態の競合参入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9080" y="4581144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9080" y="4581144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6864" y="4544568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ブランド「然」の商標登録で保護（第43類・飲食）。
先行者優位と顧客ロイヤリティで差別化を維持。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31536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431536"/>
            <a:ext cx="475488" cy="87782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70585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" y="548640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⑤ FC加盟者の品質管理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" y="590702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FC展開後のQSCばらつき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69080" y="5522976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9080" y="5522976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5486400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SV定期巡回（月1回以上）・抜き打ち覆面調査の実施。
数値基準を下回る店舗には改善プログラムを発動。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今後90日のアクションプラン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374903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0〜30日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691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仕込みと準備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84831"/>
            <a:ext cx="3749039" cy="42976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194560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会社設立（登記・口座開設）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980944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「肉酒場 然」商標調査・出願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767328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物件情報収集（三軒茶屋・目黒・自由が丘）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4553712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日本政策金融公庫への相談・申込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5340096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Instagramアカウント開設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664208"/>
            <a:ext cx="3749039" cy="420624"/>
          </a:xfrm>
          <a:prstGeom prst="rect">
            <a:avLst/>
          </a:prstGeom>
          <a:solidFill>
            <a:srgbClr val="3A2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30〜60日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691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物件決定と資金確定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2084831"/>
            <a:ext cx="3749039" cy="42976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3712" y="2194560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物件内見・スコアリング評価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980944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公庫面談・融資確定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3767328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物件契約・内装業者選定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553712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インフルエンサーリスト作成（50名）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340096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メニュー最終試作・原価計算確定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1664208"/>
            <a:ext cx="3749039" cy="420624"/>
          </a:xfrm>
          <a:prstGeom prst="rect">
            <a:avLst/>
          </a:prstGeom>
          <a:solidFill>
            <a:srgbClr val="3A2E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8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60〜90日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691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着工と認知獲得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084831"/>
            <a:ext cx="3749039" cy="42976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9912" y="2194560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内装・厨房工事着工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9912" y="2980944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スタッフ採用開始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2" y="3767328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インフルエンサー招待DM開始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9912" y="4553712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Googleビジネスプロフィール登録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9912" y="5340096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POSシステム・決済端末導入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46520"/>
            <a:ext cx="1124712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64808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963C"/>
                </a:solidFill>
              </a:rPr>
              <a:t>90日後のゴール：物件契約完了・融資確定・SNS認知スタート　→　開業へ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91440"/>
            <a:ext cx="51206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6217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私たちが目指す未来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64208"/>
            <a:ext cx="521208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6583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6217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E6D3"/>
                </a:solidFill>
              </a:rPr>
              <a:t>日本全国に「然」の灯りを。
7年で100店舗。
発酵と肉で、新しい定番をつくる。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8A7A6A"/>
                </a:solidFill>
              </a:rPr>
              <a:t>肉酒場 然は、単なる飲食店ではありません。
糀という日本の発酵文化と、現代人の「おいしくて、体にいい」
という本質的なニーズを結びつけた、新しいブランドです。
直営で型をつくり、FCで全国へ。
その先には、日本の食文化に残る一皿があります。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21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