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097280"/>
          </a:xfrm>
          <a:prstGeom prst="rect">
            <a:avLst/>
          </a:prstGeom>
          <a:noFill/>
        </p:spPr>
        <p:txBody>
          <a:bodyPr wrap="square">
            <a:spAutoFit/>
          </a:bodyPr>
          <a:lstStyle/>
          <a:p>
            <a:pPr algn="ctr"/>
            <a:r>
              <a:rPr sz="4000" b="1">
                <a:solidFill>
                  <a:srgbClr val="FFFFFF"/>
                </a:solidFill>
              </a:rPr>
              <a:t>飲食トレンド週次レポート</a:t>
            </a:r>
          </a:p>
        </p:txBody>
      </p:sp>
      <p:sp>
        <p:nvSpPr>
          <p:cNvPr id="4" name="TextBox 3"/>
          <p:cNvSpPr txBox="1"/>
          <p:nvPr/>
        </p:nvSpPr>
        <p:spPr>
          <a:xfrm>
            <a:off x="914400" y="3200400"/>
            <a:ext cx="10360152" cy="640080"/>
          </a:xfrm>
          <a:prstGeom prst="rect">
            <a:avLst/>
          </a:prstGeom>
          <a:noFill/>
        </p:spPr>
        <p:txBody>
          <a:bodyPr wrap="square">
            <a:spAutoFit/>
          </a:bodyPr>
          <a:lstStyle/>
          <a:p>
            <a:pPr algn="ctr"/>
            <a:r>
              <a:rPr sz="2000" b="0">
                <a:solidFill>
                  <a:srgbClr val="E89C45"/>
                </a:solidFill>
              </a:rPr>
              <a:t>2026年06月08日（月）〜06月14日（日）</a:t>
            </a:r>
          </a:p>
        </p:txBody>
      </p:sp>
      <p:sp>
        <p:nvSpPr>
          <p:cNvPr id="5" name="TextBox 4"/>
          <p:cNvSpPr txBox="1"/>
          <p:nvPr/>
        </p:nvSpPr>
        <p:spPr>
          <a:xfrm>
            <a:off x="914400" y="3931920"/>
            <a:ext cx="10360152" cy="457200"/>
          </a:xfrm>
          <a:prstGeom prst="rect">
            <a:avLst/>
          </a:prstGeom>
          <a:noFill/>
        </p:spPr>
        <p:txBody>
          <a:bodyPr wrap="square">
            <a:spAutoFit/>
          </a:bodyPr>
          <a:lstStyle/>
          <a:p>
            <a:pPr algn="ctr"/>
            <a:r>
              <a:rPr sz="1400" b="0">
                <a:solidFill>
                  <a:srgbClr val="CCCCCC"/>
                </a:solidFill>
              </a:rPr>
              <a:t>対象日数：6日分　｜　自動生成レポート</a:t>
            </a:r>
          </a:p>
        </p:txBody>
      </p:sp>
      <p:sp>
        <p:nvSpPr>
          <p:cNvPr id="6" name="Rectangle 5"/>
          <p:cNvSpPr/>
          <p:nvPr/>
        </p:nvSpPr>
        <p:spPr>
          <a:xfrm>
            <a:off x="0" y="6784848"/>
            <a:ext cx="12188952" cy="73152"/>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2026年06月08日（月）</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の食トレンドのキーワードは「正解は一つじゃない、自由で楽しい食の新スタンダード」。世界の食文化を日本流にアレンジする楽しさと、自分を大切にする食の喜びが花開く年となっている。ぐるなびのデータ分析では、2026年上半期に「多様化・ご当地麺メニュー」「ゆる健康志向食」「拡大するお茶の選択肢」「進化系フライメニュー」の4大キーワードが盛り上がりを見せている。外食価格は「1,000円の壁」を越え、今や「2,000円・3,000円」と本質的な価値に見合った適正価格へとシフトしつつあり、日常食と「ハレの日」のメリハリがより鮮明になっていきそうだ。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胡椒餅（フーチャオビン）**：「四ツ谷一餅堂」などが火付け役となり、台湾老劉胡椒餅が吉祥寺・鎌倉・京都に続々オープン。窯で焼くスタイルが動画映えするためSNSで急拡散中。食べ歩きフードとして観光地での出店も増加傾向。
• **葱油拌麺（ツォンヨウバンミェン）**：シンプルだけどクセになる麺料理として、2026年のトレンドグルメの一つに予測されている。
• **中華アフタヌーンティー（中華アフヌン）**：ANAインターコンチネンタルホテル東京「花梨」やジャヌ東京「虎景軒」などで熟練の点心師が作る蒸し点心・揚げ点心が主役のアフタヌーンティーが注目されている。
• **空心菜**：猛暑時代の救世主として、スーパーの野菜売り場で普通に並ぶようになってきた。熱帯アジア原産で高温多湿な環境に強く、価格も安定。鉄分・カルシウム・ビタミンも豊富で夏の定番野菜として定着しつつある。
• **フュージョン薬膳**：中医学をベースにしながら和食・イタリアン・フレンチと融合する新スタイル。クックパッドでの「薬膳」検索頻度は前年比132.1%と伸長中で、「美肌」「むくみ」「腸活」など日常的な美容・健康維持の文脈で広がっ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**睡眠×美容×食の焼鳥新業態（六本木）**：「焼鳥さいとう」が六本木で"翌朝の体調まで設計する"新時代の焼鳥体験を開始。「睡眠×美容×食」という革新的コンセプトが注目されている。
• **和風だし麻辣湯専門店（代官山）**：昆布やシジミのだしに麻辣が香る"日本人好みの麻辣湯"を追求した「転転麻辣湯（テンテンマーラータン）」が代官山にオープン。和と中華の融合が話題を呼んでいる。
• **原価ビストロ・ネオ大衆酒場**：「原価ビストロチーズプラス池袋」（ハイボール64円）など、原価ドリンク×創作料理の新感覚ビストロ、また「酒場カミナリ」（生牡蠣299円×まぐろ×日本酒）など"街とつながる大衆酒場"が高円寺や池袋に誕生し、価格設計の革新が続いている。
• **小川珈琲の新業態「ラボラトリー型カフェ」（高輪ゲートウェイ）**：約4,000㎡の開放感あふれる店内に12のラボラトリーを併設した新業態が2026年3月に開業。カフェ・パン・チョコレート・ジェラート・デリカテッセンのフード特化空間をひと続きに展開する新しい食体験が話題。</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（データなし）</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2026年06月09日（火）</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飲食業界は「2025年問題」による労働力不足が日常化する中、DX化・AI活用による省人化と、「その場でしか体験できないライブ感」の二極化が鮮明になっている。2026年の食トレンドは「定番×アレンジ」や「ゆる健康志向」が牽引し、まったく新しいものよりも既存メニューのアップデートが鍵となる年。栄養士・管理栄養士200人への調査では、2026年のトレンド食材No.1に「発酵食品」（麹・甘酒・キムチ等）が選ばれ、「健康×時短×環境」の三軸が消費者選択の基準と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**韓国海鮮メニュー（チュクミ・カンジャンケジャン）**：「チュクミ」「カンジャンケジャン」など特定メニュー単位で注目度が高まり、2025年下半期から知名度が定着。2026年も継続中。
• **多様化する麺メニュー（スープパスタ・麻辣湯・ご当地麺）**：米の価格高騰が続く中、主食代替として麺メニューが進化・多様化。ラーメン的要素を取り入れた「スープパスタ」なども話題に。
• **進化系フライメニュー（チュロス・アジフライ・カツ系）**：スイーツ系「チュロス」、町おこしで注目の長崎「アジフライ」、カツ系など。軽食・ハンドフードとしても展開しやすい進化系フライが存在感を増している。
• **サゴ（新食感デザート）**：東南アジア産のサゴヤシ由来デンプンを球状加工した「サゴ」がタピオカの次を担う新食感デザートとして注目。SNSで食感動画が拡散中。
• **一汁三菜ボウル**：一つの器に主食・主菜・副菜・汁物の要素を全て盛り込むスタイル。増加する単身世帯の「自分をいたわる料理」ニーズに対応した新習慣として広がっている。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**高級フードホール・都市型フードコート**：虎ノ門ヒルズ「T-MARKET」、赤坂「kaiwaii akasaka」など感度の高い若者やインバウンド客を惹きつけるフードホールが定着。2026年のトレンドは「ラグジュアリーなカジュアルさ」。
• **屋形船×高級レストラン（体験型ダイニング）**：「YAKATABUNE 尚充」「屋形船 鮨 おりがみ」など高級店×屋形船というライブ体験型業態が注目。銀座一つ星店が監修し、船内に檜のカウンターを設けた「動く高級鮨店」も登場。
• **二毛作スタイルの新店舗**：昼は濃厚鶏白湯・夜は焼手羽という「白鶏舎／トリノイロ」のような1店舗で昼夜異なる業態を展開するスタイルが東京各地に誕生。価格設計の革新と体験価値の強化が特徴。
• **東京駅・有楽町エリアの大型再開発施設**：東京駅八重洲口前「TOFROM YAESU」が2026年秋開業予定。多彩な飲食ラインナップに加え、劇場・カンファレンス機能も集約した次世代型複合施設。</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**麹（Koji）が世界的トレンドに**：ミシュランが示す2026年の食トレンドとして「時間は食材である」を掲げ、マリネや穏やかな発</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2026年06月10日（水）</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物価高騰の影響で外食価格の「1,000円の壁」は崩れ、2,000〜3,000円台へのシフトが進む中、「日常食」と「ハレの日」のメリハリが鮮明になってきている。ぐるなびのビッグデータ分析では、2026年上半期のキーワードとして「多様化する麺メニュー」「ゆる健康志向食」「拡大するお茶の選択肢」「進化系フライメニュー」の4つが上位に浮上。2026年の飲食業界は「体験・個性・効率」がカギとなる年とされ、「共感」「効率化」「多様性」「体験」を軸とした業態設計が求められ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 **TikTok＝新規発見の最強プラットフォーム化**：2026年現在、飲食店の新規発見に最も有効なのはTikTokとYouTube Shorts。フォロワーゼロのアカウントでも良いコンテンツが広く配信されるアルゴリズムが採用されており、参入障壁が低い。
• **「Instagram発見→TikTok共感→LINE来店誘導」の三段階設計**：SNS集客の定石として「TikTokで拡散力と話題づくり→Instagramでファン化・来店誘導→LINEでリピーター育成・顧客維持」という役割分担の設計が有効とされている。
• **豆皿定食・食卓映えコンテンツがSNSで拡散**：SNS効果で豆皿で料理を提供するスタイルが増加しており、視覚的な多品目・小鉢スタイルがInstagramやTikTokでのシェアを誘発している。
• **"断面動画＋数量限定演出"のバズフォーマット**：「カット断面の初公開」と「数量限定演出」の組み合わせが再現性の高いバズフォーマットとされており、保存率・シェア率が高く、FYP（おすすめ）への再配信が続くため長期にわたって新規リーチを生み続ける。</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ビリヤニ**：スパイスカレーブームの次なる主役として、南アジアの炊き込みご飯「ビリヤニ」が日本の食卓に本格上陸。専門店が続々オープンし、2026年は市販のビリヤニキットも各社から発売されている。
• **多様化する麺メニュー**：米の価格高騰が続く中、小麦麺だけでなく米麺・春雨など選択肢が拡大。台湾の麺料理など海外ローカル麺も含め「どんな麺か・どこの麺か」というストーリー性も含めた多様化が進んでいる。
• **進化系フライメニュー（フリットポテト・チュロス）**：ベルギー・オランダ発祥の2度揚げポテトが空前のブームで、原宿の「DE FRITES STAAN HARAJUKU」は整理券必須の状態が継続。和牛ステーキと合わせる「ポテトが主役のプレート」は2026年のラグジュアリーなジャンクフードの象徴。
• **フュージョン薬膳**：中医学の薬膳をベースに和食・イタリアン・フレンチと融合させる「フュージョン薬膳」が本格化。クックパッドでの「薬膳」検索頻度は前年比132.1%で伸長中。
• **豆皿・おばんざい定食スタイル**：SNS効果で豆皿で料理を提供するスタイルが増加。「神楽坂茶寮」の「12種のおばんざい御膳」、「京都石塀小路豆ちゃ 日本橋」の「十種のおばんざい御膳」など週末に行列ができる店が続出。</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**高級名店×屋形船**：「高級店×屋形船」の流れが2026年も継続。「YAKATABUNE 尚充」（鮨 尚充プロデュース）や「屋形船 鮨 おりがみ」（銀座一つ星店「鮨 むらやま」監修）など、ライブ感と食体験を融合した業態が注目を集めている。
• **異国情緒系ビストロ（ジョージア・メキシカン）**：神楽坂の「AJIKA Georgian Bistro and Wine Bar」など、現地の日常に飛び込むスリルを体験できる「心の距離が近い食の体験」が支持されている。2026年のトレンドは背伸びした高級店ではなく、異国スタッフとの距離感が魅力。
• **東京・高輪ゲートウェイエリアの新施設**：「ニュウマン高輪 ミムレ」が2026年3月28日に開業。小川珈琲が手がける12のラボラトリー併設型の新業態、「パティスリィ アサコ イワヤナギ」の新店など全22店舗が集結。
• **「睡眠×美容×食」を設計する焼き鳥店**：六本木に誕生した「焼鳥さいとう」は"翌朝の体調まで設計する"をコンセプトに掲げた新時代の焼鳥体験で注目されている。</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が2026年トレンド食材の第1位**：栄養士・管理栄養士200人へのアンケートで、2026年にトレンドになると思う食材1位は「発酵食品」。選んだ理由として「腸活」「免疫力アップ」といった健康面への期待が多く挙げられた。
• **麹調味料・甘酒・サワードウの浸透**：健康志向からの腸活として、塩麹や醤油麹をはじめとした麹調味料に加え、味噌・甘酒・酒粕・ヨーグルト、さらに海外で人気のサワードウ（天然酵母パン）の浸透も進むと予想されている。
• **発酵食品×食物繊維の複合訴求へ進化**：腸内環境への関心が「日常的なケア」として定着し、2026年は発酵食品と食物繊維を組み合わせた商品設計がさらに進化。単発の機能訴求から複合的な魅力をアピールする設計へと移行しつつある。
• **ギルティーフリー志向と肉料理の進化**：我慢をしないのではなく「極力しない」という「ギルティーフリー」のマインドが拡大。健康オイルを用いたラーメンや米粉麺、プラントベースミートなど、満足感を保ちつつ罪悪感を減らす食シーンが広がっている。</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2026年06月11日（木）</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上半期の食トレンドの核心は「多様化＆ご当地麺メニュー」「ゆる健康志向食」「拡大するお茶の選択肢」「進化系フライメニュー」の4つ。栄養士・管理栄養士200人調査では「発酵食品（麹・甘酒・キムチ等）」が2026年トレンド食材1位に選ばれ、「腸活」「免疫力アップ」への期待が急速に高まっている。飲食業界では外食価格が「2,000円・3,000円」帯へシフトし、「日常食」と「ハレの日の食体験」のメリハリがより鮮明に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**韓国海鮮メニュー（チュクミ・カンジャンケジャン）**：「チュクミ」「カンジャンケジャン」など特定メニュー単位で注目度が高まり、検索数・掲載数が伸長中。
• **台湾胡椒餅**：「四ツ谷一餅堂」などが火付け役となり、窯で焼くスタイルが動画映えするためSNSで急拡散。食べ歩きフードとして観光地での出店も拡大中。
• **フュージョン薬膳**：クックパッドの「薬膳」検索頻度が前年比132.1%と伸長中。スーパーで手に入る食材で薬膳の効能を持つ料理を作る「フュージョン薬膳」が外食〜家庭料理まで浸透。
• **煮込まないスープ**：記録的猛暑対応の新スタイル。東南アジアのトムカーガイやヒンガーなど「サッと作るエスニックスープ」が日本の夏の食卓に定着しつつある。
• **おばんざい御膳・豆皿定食**：神楽坂茶寮の「12種のおばんざい御膳」など、複数の小鉢が並ぶ和食スタイルが東京の複数店舗で行列を生む人気業態に。</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**体験価値型・高輪エリア新店群**：高輪ゲートウェイシティ再開発を背景に、牡蠣専門レストラン「L'ECAILLER 8TH SEA OYSTER」や創業100年超の老舗による次世代江戸前寿司「鮨 上ル」など、"価格・業態・体験"のすべてにおいて新潮流を打ち出す店が集積。
• **高級店×屋形船（動く高級店）**：「YAKATABUNE 尚充」「屋形船 鮨 おりがみ」など、銀座一つ星店監修の檜カウンター付き高級鮨屋台船が2026年も話題継続中。
• **小川珈琲・12ラボラトリー型新業態**（高輪・ニュウマン）：京都老舗コーヒーロースターが約4,000㎡の空間に12のラボラトリーを展開。パン・チョコレート・ジェラート・デリカテッセンが一体化した「これまでにない食体験」を提供。
• **韓国発・麻辣串「小麻辣 下北沢店」**：韓国で話題の麻辣串の日本初上陸業態。下北沢に誕生し、片手で楽しむ"新・麻辣体験"として注目を集める。</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市場が国内2兆7千億円超に拡大**：2026年現在、機能性表示食品制度を活用した発酵商品の開発が活発化。腸内環境改善・免疫機能訴求の商品が伸長し、味噌・醤油・漬物まで機能性表示品として届出が増加中。
• **腸活が「ブーム」から「定番」へ**：Innova Market Insights社によれば2026年の食品・飲料業界において「腸の健康（</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2026年06月12日（金）</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物価高騰の影響で外食価格の「2,000円・3,000円」帯へのシフトが進み、「ハレの日」と日常のメリハリがより鮮明になっている。2026年のキーワードは「正解は一つじゃない、自由で楽しい食の新スタンダード」。世界の食文化を日本流にアレンジする楽しさと、自分を大切にする食の喜びが融合している。TikTok集客では「何が次にバズるかを先に予測し、そこに合わせてコンテンツを作る」という逆算型の設計が主流になりつつあり、飲食店のSNS戦略は新時代に突入した。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韓国海鮮メニュー（チュクミ・カンジャンケジャン）**：チュクミやカンジャンケジャンなど特定メニュー単位で注目度が高まり、2024年末頃から検索数・掲載数が徐々に上昇、2025年下半期に知名度が定着した。
• **台湾胡椒餅**：窯で焼くスタイルが動画映えするためSNSで広まり、食べ歩きフードとしても注目。今後、観光地への出店増加が見込まれる。
• **多様化する麺メニュー（スープパスタ・和風麻辣湯など）**：米の価格高騰を背景に主食の代替として麺メニューが進化・多様化。つゆだくの「スープパスタ」など、ラーメン的な要素を取り入れた麺メニューも話題に。
• **進化系フライメニュー（チュロス・アジフライ・カツ系）**：アジフライは長崎県松浦市の町おこしでも話題。スイーツとしても軽食としても活用しやすいジャンルとして存在感が拡大中。
• **サゴ（南国デンプン系デザート）**：タピオカブームの次を担う新食感デザートとして若い世代に注目。香港発祥の「楊枝甘露（マンゴーポメロサゴ）」が火付け役となり、SNSで自宅制作動画が話題。</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**高級×体験型フードホール（虎ノ門・赤坂・八重洲）**：虎ノ門ヒルズ「T-MARKET」、赤坂「kaiwaii akasaka」、東京駅直結「ヤエスパブリック」など、感度の高い若者やインバウンド客を惹きつけるフードホールが拡大。1カ所で「東京の今」を体験できる点が最大の魅力。
• **屋形船×高級店（動く鮨・焼肉）**：「屋形船 鮨 おりがみ」は銀座の一つ星店「鮨 むらやま」が監修し、船内の檜カウンターで職人が握る"動く高級鮨店"として最注目。高級店×屋形船の流れは2026年も継続。
• **「睡眠×美容×食」の新コンセプト店（六本木）**：「焼鳥さいとう」（六本木）は"翌朝の体調まで設計する"新時代の焼鳥体験として話題。従来の飲食体験を超えた健康設計型の新業態。
• **原価ビストロ・ネオ大衆酒場**：「原価ビストロチーズプラス池袋」（ハイボール64円）や「酒場カミナリ」（生牡蠣299円×まぐろ×日本酒）など、価格設計の革新で話題の店舗が東京各所に誕生。</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**発酵食品が2026年トレンド食材の第1位**：栄養士・管理栄養士200人への調査で「発酵食品」が2</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2026年06月14日（日）</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の食トレンドは「ヘルシー志向の定着」と「動画で伝わる体験価値」の2軸が中心。健康性を備えながら満足感のあるメニューと、食感・調理過程が視覚的に伝わるグルメがショート動画を火付け役に拡散している。2026年トレンド食材の予測では1位「発酵食品」・2位「冷凍野菜」・3位「サステナブル食材」がランクイン。東京の飲食シーンは「体験価値の強化」と「価格設計の革新」が顕著で、高単価でも納得感のある業態とリーズナブルな新業態が共存する二極化が進む。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 **TikTok・YouTube Shortsが新規集客の主戦場**：2026年はTikTok・YouTube Shortsが新規発見に最も優位なプラットフォームとされ、Instagram一択は機会損失につながりやすいと分析されている。
• **「断面動画＋数量限定演出」のバズフォーマット**：「カット断面の初公開」と「数量限定演出」の組み合わせが再現性の高いバズフォーマットで、「本日20個限定」テロップ入りの断面動画は保存率・シェア率が特に高い。
• **逆算型コンテンツ設計が主流に**：従来の「撮れたものを投稿する」プッシュ型から、「次に何がバズるかを先に予測してコンテンツを作る」逆算型の設計が2026年のTikTok集客の主流になりつつある。
• **地域限定×SNSのコラボ戦略**：モスバーガーが埼玉県産いちごを使った県内限定シェイクをInstagram・TikTokでZ世代向けに発信し、累計23万5千杯の大ヒットとなるなど、地域限定商品とSNSの組み合わせが効果的な集客手法として注目されている。</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**煮込まないスープ**：記録的猛暑に対応した新スタイル。火の通りやすい食材にサッと火を通すだけで10分完成。栄養損失が少なく、暑い日でも食べやすいあっさり味が特徴。
• **東南アジア系スープ（トムカーガイ・ヒンガー）**：日本の亜熱帯化が進む中、ローカルでは定番の「サッと作るスープ」が日本の食卓でも身近な存在に。クックパッドでは「暑い」「冷製」「薬膳」とスープを組み合わせた検索が上昇傾向。
• **胡椒餅（台湾朝食）**：食べログInstagramでも毎回ヒットする「胡椒餅」がブーム。四ツ谷一餅堂では週末に台湾朝食を求める行列が続く。
• **多様化・ご当地麺メニュー**：ぐるなびのデータ分析では、2026年上半期の注目キーワードとして「多様化＆ご当地麺メニュー」がトップに挙げられている。
• **和味（わみ）・次世代和食融合**：和野菜・だし・和の調味料とスパイスを重ねた"次世代の日本カレー文化"を提案するスープカレー専門店「幕末カリー」が渋谷に、和風だし麻辣湯専門店「転転麻辣湯」が代官山にオープンするなど、飲食業界が和味に高い関心を寄せ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**体験型焼鳥「焼鳥さいとう」（六本木）**："翌朝の体調まで設計する"というコンセプトのもと、「睡眠×美容×食」を掛け合わせた新時代の焼鳥体験を提供。
• **熟成割烹「銀座弥左衛門」（銀座）**：産地にこだわり抜いた肉・魚・野菜をそれぞれの特性に合わせて熟成する割烹業態として2026年1月にオープン。
• **麻辣串「小麻辣 下北沢店」**：韓国で話題の麻辣串が日本初上陸。片手で楽しむ"新・麻辣体験"が下北沢に誕生し、カルチャー発信地での新業態として注目。
• **東京駅前「TOFROM YAESU」秋開業予定**：東京駅八重洲口前の大規模再開発の中核施設で、訪日・国内双方のニーズを取り込む多彩な飲食ラインナップが2026年秋に開業予定。</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トレンドの定着（腸活×機能性）**：腸内環境への関心は一過性のブームではなく日常的なケアとして定着しつつあり、2026年は発酵食品と食物繊維を組み合わせた商品・メニュー設計がさらに進化すると予測されている。
• **発酵食材ラインナップ（麹・甘酒・機能性納豆）**：麹調味料や甘酒、機能性納豆、ヨーグルト飲料、キムチ、味噌など多彩な発酵食品が注目され、「腸活」「免疫力アップ」への期待を背景にトレンド食材1位に選ばれた。
• **ゆる健康志向食（バランス重視へのシフト）**：市場調査会社Mintelの分析では、タンパク質や食物繊維を極限まで多く摂取しようとする「最大化」から、多様な食材を取り入れてバランスを重視した食事スタイルへのシフトが2026年の世界的潮流となっている。
• **薬膳・玄米・雑穀ブーム**：麻辣湯・火鍋など薬膳料理、もち麦や雑穀（玄米・雑穀）が健康志向の高まりで市場が伸びており、トレンド食材として急上昇している。</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548640"/>
          </a:xfrm>
          <a:prstGeom prst="rect">
            <a:avLst/>
          </a:prstGeom>
          <a:noFill/>
        </p:spPr>
        <p:txBody>
          <a:bodyPr wrap="square">
            <a:spAutoFit/>
          </a:bodyPr>
          <a:lstStyle/>
          <a:p>
            <a:pPr algn="l"/>
            <a:r>
              <a:rPr sz="2200" b="1">
                <a:solidFill>
                  <a:srgbClr val="FFFFFF"/>
                </a:solidFill>
              </a:rPr>
              <a:t>週次まとめ｜事業アイデア総覧</a:t>
            </a:r>
          </a:p>
        </p:txBody>
      </p:sp>
      <p:sp>
        <p:nvSpPr>
          <p:cNvPr id="5" name="TextBox 4"/>
          <p:cNvSpPr txBox="1"/>
          <p:nvPr/>
        </p:nvSpPr>
        <p:spPr>
          <a:xfrm>
            <a:off x="9601200" y="164592"/>
            <a:ext cx="2286000" cy="411480"/>
          </a:xfrm>
          <a:prstGeom prst="rect">
            <a:avLst/>
          </a:prstGeom>
          <a:noFill/>
        </p:spPr>
        <p:txBody>
          <a:bodyPr wrap="square">
            <a:spAutoFit/>
          </a:bodyPr>
          <a:lstStyle/>
          <a:p>
            <a:pPr algn="r"/>
            <a:r>
              <a:rPr sz="1100" b="0">
                <a:solidFill>
                  <a:srgbClr val="E89C45"/>
                </a:solidFill>
              </a:rPr>
              <a:t>06/08〜06/14 の気づき</a:t>
            </a:r>
          </a:p>
        </p:txBody>
      </p:sp>
      <p:sp>
        <p:nvSpPr>
          <p:cNvPr id="6" name="Rectangle 5"/>
          <p:cNvSpPr/>
          <p:nvPr/>
        </p:nvSpPr>
        <p:spPr>
          <a:xfrm>
            <a:off x="320040" y="914400"/>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969264"/>
            <a:ext cx="1371600" cy="566928"/>
          </a:xfrm>
          <a:prstGeom prst="rect">
            <a:avLst/>
          </a:prstGeom>
          <a:noFill/>
        </p:spPr>
        <p:txBody>
          <a:bodyPr wrap="square">
            <a:spAutoFit/>
          </a:bodyPr>
          <a:lstStyle/>
          <a:p>
            <a:pPr algn="ctr"/>
            <a:r>
              <a:rPr sz="1100" b="1">
                <a:solidFill>
                  <a:srgbClr val="E89C45"/>
                </a:solidFill>
              </a:rPr>
              <a:t>06/08
（月）</a:t>
            </a:r>
          </a:p>
        </p:txBody>
      </p:sp>
      <p:sp>
        <p:nvSpPr>
          <p:cNvPr id="8" name="Rectangle 7"/>
          <p:cNvSpPr/>
          <p:nvPr/>
        </p:nvSpPr>
        <p:spPr>
          <a:xfrm>
            <a:off x="1892808" y="914400"/>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84248" y="987552"/>
            <a:ext cx="9793224" cy="530352"/>
          </a:xfrm>
          <a:prstGeom prst="rect">
            <a:avLst/>
          </a:prstGeom>
          <a:noFill/>
        </p:spPr>
        <p:txBody>
          <a:bodyPr wrap="square">
            <a:spAutoFit/>
          </a:bodyPr>
          <a:lstStyle/>
          <a:p>
            <a:pPr algn="l"/>
            <a:r>
              <a:rPr sz="1000" b="0">
                <a:solidFill>
                  <a:srgbClr val="CCCCCC"/>
                </a:solidFill>
              </a:rPr>
              <a:t>　（記録なし）</a:t>
            </a:r>
          </a:p>
        </p:txBody>
      </p:sp>
      <p:sp>
        <p:nvSpPr>
          <p:cNvPr id="10" name="Rectangle 9"/>
          <p:cNvSpPr/>
          <p:nvPr/>
        </p:nvSpPr>
        <p:spPr>
          <a:xfrm>
            <a:off x="320040" y="1755648"/>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10512"/>
            <a:ext cx="1371600" cy="566928"/>
          </a:xfrm>
          <a:prstGeom prst="rect">
            <a:avLst/>
          </a:prstGeom>
          <a:noFill/>
        </p:spPr>
        <p:txBody>
          <a:bodyPr wrap="square">
            <a:spAutoFit/>
          </a:bodyPr>
          <a:lstStyle/>
          <a:p>
            <a:pPr algn="ctr"/>
            <a:r>
              <a:rPr sz="1100" b="1">
                <a:solidFill>
                  <a:srgbClr val="E89C45"/>
                </a:solidFill>
              </a:rPr>
              <a:t>06/09
（火）</a:t>
            </a:r>
          </a:p>
        </p:txBody>
      </p:sp>
      <p:sp>
        <p:nvSpPr>
          <p:cNvPr id="12" name="Rectangle 11"/>
          <p:cNvSpPr/>
          <p:nvPr/>
        </p:nvSpPr>
        <p:spPr>
          <a:xfrm>
            <a:off x="1892808" y="1755648"/>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4248" y="1828800"/>
            <a:ext cx="9793224" cy="530352"/>
          </a:xfrm>
          <a:prstGeom prst="rect">
            <a:avLst/>
          </a:prstGeom>
          <a:noFill/>
        </p:spPr>
        <p:txBody>
          <a:bodyPr wrap="square">
            <a:spAutoFit/>
          </a:bodyPr>
          <a:lstStyle/>
          <a:p>
            <a:pPr algn="l"/>
            <a:r>
              <a:rPr sz="1000" b="0">
                <a:solidFill>
                  <a:srgbClr val="CCCCCC"/>
                </a:solidFill>
              </a:rPr>
              <a:t>　（記録なし）</a:t>
            </a:r>
          </a:p>
        </p:txBody>
      </p:sp>
      <p:sp>
        <p:nvSpPr>
          <p:cNvPr id="14" name="Rectangle 13"/>
          <p:cNvSpPr/>
          <p:nvPr/>
        </p:nvSpPr>
        <p:spPr>
          <a:xfrm>
            <a:off x="320040" y="2596896"/>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651760"/>
            <a:ext cx="1371600" cy="566928"/>
          </a:xfrm>
          <a:prstGeom prst="rect">
            <a:avLst/>
          </a:prstGeom>
          <a:noFill/>
        </p:spPr>
        <p:txBody>
          <a:bodyPr wrap="square">
            <a:spAutoFit/>
          </a:bodyPr>
          <a:lstStyle/>
          <a:p>
            <a:pPr algn="ctr"/>
            <a:r>
              <a:rPr sz="1100" b="1">
                <a:solidFill>
                  <a:srgbClr val="E89C45"/>
                </a:solidFill>
              </a:rPr>
              <a:t>06/10
（水）</a:t>
            </a:r>
          </a:p>
        </p:txBody>
      </p:sp>
      <p:sp>
        <p:nvSpPr>
          <p:cNvPr id="16" name="Rectangle 15"/>
          <p:cNvSpPr/>
          <p:nvPr/>
        </p:nvSpPr>
        <p:spPr>
          <a:xfrm>
            <a:off x="1892808" y="2596896"/>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0048"/>
            <a:ext cx="9793224" cy="530352"/>
          </a:xfrm>
          <a:prstGeom prst="rect">
            <a:avLst/>
          </a:prstGeom>
          <a:noFill/>
        </p:spPr>
        <p:txBody>
          <a:bodyPr wrap="square">
            <a:spAutoFit/>
          </a:bodyPr>
          <a:lstStyle/>
          <a:p>
            <a:pPr algn="l"/>
            <a:r>
              <a:rPr sz="1000" b="0">
                <a:solidFill>
                  <a:srgbClr val="CCCCCC"/>
                </a:solidFill>
              </a:rPr>
              <a:t>　（記録なし）</a:t>
            </a:r>
          </a:p>
        </p:txBody>
      </p:sp>
      <p:sp>
        <p:nvSpPr>
          <p:cNvPr id="18" name="Rectangle 17"/>
          <p:cNvSpPr/>
          <p:nvPr/>
        </p:nvSpPr>
        <p:spPr>
          <a:xfrm>
            <a:off x="320040" y="3438144"/>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493008"/>
            <a:ext cx="1371600" cy="566928"/>
          </a:xfrm>
          <a:prstGeom prst="rect">
            <a:avLst/>
          </a:prstGeom>
          <a:noFill/>
        </p:spPr>
        <p:txBody>
          <a:bodyPr wrap="square">
            <a:spAutoFit/>
          </a:bodyPr>
          <a:lstStyle/>
          <a:p>
            <a:pPr algn="ctr"/>
            <a:r>
              <a:rPr sz="1100" b="1">
                <a:solidFill>
                  <a:srgbClr val="E89C45"/>
                </a:solidFill>
              </a:rPr>
              <a:t>06/11
（木）</a:t>
            </a:r>
          </a:p>
        </p:txBody>
      </p:sp>
      <p:sp>
        <p:nvSpPr>
          <p:cNvPr id="20" name="Rectangle 19"/>
          <p:cNvSpPr/>
          <p:nvPr/>
        </p:nvSpPr>
        <p:spPr>
          <a:xfrm>
            <a:off x="1892808" y="3438144"/>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84248" y="3511296"/>
            <a:ext cx="9793224" cy="530352"/>
          </a:xfrm>
          <a:prstGeom prst="rect">
            <a:avLst/>
          </a:prstGeom>
          <a:noFill/>
        </p:spPr>
        <p:txBody>
          <a:bodyPr wrap="square">
            <a:spAutoFit/>
          </a:bodyPr>
          <a:lstStyle/>
          <a:p>
            <a:pPr algn="l"/>
            <a:r>
              <a:rPr sz="1000" b="0">
                <a:solidFill>
                  <a:srgbClr val="CCCCCC"/>
                </a:solidFill>
              </a:rPr>
              <a:t>　（記録なし）</a:t>
            </a:r>
          </a:p>
        </p:txBody>
      </p:sp>
      <p:sp>
        <p:nvSpPr>
          <p:cNvPr id="22" name="Rectangle 21"/>
          <p:cNvSpPr/>
          <p:nvPr/>
        </p:nvSpPr>
        <p:spPr>
          <a:xfrm>
            <a:off x="320040" y="4279392"/>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334256"/>
            <a:ext cx="1371600" cy="566928"/>
          </a:xfrm>
          <a:prstGeom prst="rect">
            <a:avLst/>
          </a:prstGeom>
          <a:noFill/>
        </p:spPr>
        <p:txBody>
          <a:bodyPr wrap="square">
            <a:spAutoFit/>
          </a:bodyPr>
          <a:lstStyle/>
          <a:p>
            <a:pPr algn="ctr"/>
            <a:r>
              <a:rPr sz="1100" b="1">
                <a:solidFill>
                  <a:srgbClr val="E89C45"/>
                </a:solidFill>
              </a:rPr>
              <a:t>06/12
（金）</a:t>
            </a:r>
          </a:p>
        </p:txBody>
      </p:sp>
      <p:sp>
        <p:nvSpPr>
          <p:cNvPr id="24" name="Rectangle 23"/>
          <p:cNvSpPr/>
          <p:nvPr/>
        </p:nvSpPr>
        <p:spPr>
          <a:xfrm>
            <a:off x="1892808" y="4279392"/>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84248" y="4352544"/>
            <a:ext cx="9793224" cy="530352"/>
          </a:xfrm>
          <a:prstGeom prst="rect">
            <a:avLst/>
          </a:prstGeom>
          <a:noFill/>
        </p:spPr>
        <p:txBody>
          <a:bodyPr wrap="square">
            <a:spAutoFit/>
          </a:bodyPr>
          <a:lstStyle/>
          <a:p>
            <a:pPr algn="l"/>
            <a:r>
              <a:rPr sz="1000" b="0">
                <a:solidFill>
                  <a:srgbClr val="CCCCCC"/>
                </a:solidFill>
              </a:rPr>
              <a:t>　（記録なし）</a:t>
            </a:r>
          </a:p>
        </p:txBody>
      </p:sp>
      <p:sp>
        <p:nvSpPr>
          <p:cNvPr id="26" name="Rectangle 25"/>
          <p:cNvSpPr/>
          <p:nvPr/>
        </p:nvSpPr>
        <p:spPr>
          <a:xfrm>
            <a:off x="320040" y="5120640"/>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5175504"/>
            <a:ext cx="1371600" cy="566928"/>
          </a:xfrm>
          <a:prstGeom prst="rect">
            <a:avLst/>
          </a:prstGeom>
          <a:noFill/>
        </p:spPr>
        <p:txBody>
          <a:bodyPr wrap="square">
            <a:spAutoFit/>
          </a:bodyPr>
          <a:lstStyle/>
          <a:p>
            <a:pPr algn="ctr"/>
            <a:r>
              <a:rPr sz="1100" b="1">
                <a:solidFill>
                  <a:srgbClr val="E89C45"/>
                </a:solidFill>
              </a:rPr>
              <a:t>06/14
（日）</a:t>
            </a:r>
          </a:p>
        </p:txBody>
      </p:sp>
      <p:sp>
        <p:nvSpPr>
          <p:cNvPr id="28" name="Rectangle 27"/>
          <p:cNvSpPr/>
          <p:nvPr/>
        </p:nvSpPr>
        <p:spPr>
          <a:xfrm>
            <a:off x="1892808" y="5120640"/>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84248" y="5193792"/>
            <a:ext cx="9793224" cy="530352"/>
          </a:xfrm>
          <a:prstGeom prst="rect">
            <a:avLst/>
          </a:prstGeom>
          <a:noFill/>
        </p:spPr>
        <p:txBody>
          <a:bodyPr wrap="square">
            <a:spAutoFit/>
          </a:bodyPr>
          <a:lstStyle/>
          <a:p>
            <a:pPr algn="l"/>
            <a:r>
              <a:rPr sz="1000" b="0">
                <a:solidFill>
                  <a:srgbClr val="CCCCCC"/>
                </a:solidFill>
              </a:rPr>
              <a:t>　（記録なし）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