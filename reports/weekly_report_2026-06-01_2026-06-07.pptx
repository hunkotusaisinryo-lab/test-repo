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097280"/>
          </a:xfrm>
          <a:prstGeom prst="rect">
            <a:avLst/>
          </a:prstGeom>
          <a:noFill/>
        </p:spPr>
        <p:txBody>
          <a:bodyPr wrap="square">
            <a:spAutoFit/>
          </a:bodyPr>
          <a:lstStyle/>
          <a:p>
            <a:pPr algn="ctr"/>
            <a:r>
              <a:rPr sz="4000" b="1">
                <a:solidFill>
                  <a:srgbClr val="FFFFFF"/>
                </a:solidFill>
              </a:rPr>
              <a:t>飲食トレンド週次レポート</a:t>
            </a:r>
          </a:p>
        </p:txBody>
      </p:sp>
      <p:sp>
        <p:nvSpPr>
          <p:cNvPr id="4" name="TextBox 3"/>
          <p:cNvSpPr txBox="1"/>
          <p:nvPr/>
        </p:nvSpPr>
        <p:spPr>
          <a:xfrm>
            <a:off x="914400" y="3200400"/>
            <a:ext cx="10360152" cy="640080"/>
          </a:xfrm>
          <a:prstGeom prst="rect">
            <a:avLst/>
          </a:prstGeom>
          <a:noFill/>
        </p:spPr>
        <p:txBody>
          <a:bodyPr wrap="square">
            <a:spAutoFit/>
          </a:bodyPr>
          <a:lstStyle/>
          <a:p>
            <a:pPr algn="ctr"/>
            <a:r>
              <a:rPr sz="2000" b="0">
                <a:solidFill>
                  <a:srgbClr val="E89C45"/>
                </a:solidFill>
              </a:rPr>
              <a:t>2026年06月01日（月）〜06月07日（日）</a:t>
            </a:r>
          </a:p>
        </p:txBody>
      </p:sp>
      <p:sp>
        <p:nvSpPr>
          <p:cNvPr id="5" name="TextBox 4"/>
          <p:cNvSpPr txBox="1"/>
          <p:nvPr/>
        </p:nvSpPr>
        <p:spPr>
          <a:xfrm>
            <a:off x="914400" y="3931920"/>
            <a:ext cx="10360152" cy="457200"/>
          </a:xfrm>
          <a:prstGeom prst="rect">
            <a:avLst/>
          </a:prstGeom>
          <a:noFill/>
        </p:spPr>
        <p:txBody>
          <a:bodyPr wrap="square">
            <a:spAutoFit/>
          </a:bodyPr>
          <a:lstStyle/>
          <a:p>
            <a:pPr algn="ctr"/>
            <a:r>
              <a:rPr sz="1400" b="0">
                <a:solidFill>
                  <a:srgbClr val="CCCCCC"/>
                </a:solidFill>
              </a:rPr>
              <a:t>対象日数：4日分　｜　自動生成レポート</a:t>
            </a:r>
          </a:p>
        </p:txBody>
      </p:sp>
      <p:sp>
        <p:nvSpPr>
          <p:cNvPr id="6" name="Rectangle 5"/>
          <p:cNvSpPr/>
          <p:nvPr/>
        </p:nvSpPr>
        <p:spPr>
          <a:xfrm>
            <a:off x="0" y="6784848"/>
            <a:ext cx="12188952" cy="73152"/>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2026年06月04日（木）</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上半期は「ゆる健康志向食」「多様化＆ご当地麺メニュー」「拡大するお茶の選択肢」「進化系フライメニュー」の4つがぐるなびのデータで注目キーワードに挙がっている。東京では虎ノ門・赤坂・八重洲などで高感度フードホールへの集積が加速しており、「背伸びしすぎないラグジュアリーなカジュアルさ」が2026年の外食の空気感を象徴している。栄養士・管理栄養士200人への調査では、2026年トレンド食材1位「発酵食品」、2位「冷凍野菜」、3位「サステナブル食材」となり、健康×時短×環境の三軸が消費者選択の基準として定着しつつあ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**胡椒餅（台湾）**：「四ツ谷一餅堂」が火付け役で、窯で焼くスタイルが動画映えするためSNSで拡散。食べ歩きフードとしても人気で、観光地での出店が増える見込み。
• **麻辣湯（マーラータン）／和風アレンジ版**：昆布やシジミのだしに麻辣を加えた「和風だし麻辣湯」を追求する専門店が代官山にオープンするなど、日本人好みに進化する「和味×麻辣」融合が加速。
• **サゴ（進化系タピオカ）**：東南アジアのサゴヤシ由来で、加熱すると透明になりプチプチとしたもちもち感が楽しめる。香港発祥の「楊枝甘露（マンゴーポメロサゴ）」が火付け役となり、2026年はドリンクやパフェへの展開が多様化する見込み。
• **韓国海鮮（チュクミ・カンジャンケジャン）**：「チュクミ」「カンジャンケジャン」など特定メニュー単位で注目度が上昇し、2025年下半期から知名度が定着。2026年も継続拡大が見込まれる。
• **一汁三菜ボウル**：増加する単身世帯向けに、一つの器に主食・主菜・副菜・汁物の要素を盛り込む「自分をいたわる料理」スタイル。クックパッドでのレシピが増加中。</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**高感度フードホール（虎ノ門・赤坂・八重洲）**：虎ノ門ヒルズ「T-MARKET」、赤坂「kaiwaii akasaka」、東京駅そば「ヤエスパブリック」など、名店が1カ所に集結する"フードホール型"の業態が感度の高い若者・インバウンド客を惹きつけている。
• **体験型ネオ酒場・原価ビストロ**：東京では「原価ビストロチーズプラス池袋」（ハイボール64円）、「酒場カミナリ」（生牡蠣299円）など、"街とつながる大衆酒場"コンセプトの低価格×体験型店舗が各地に誕生。
• **高輪ゲートウェイ周辺の新店舗群**：2026年3月開業の「ニュウマン高輪 ミムレ」には小川珈琲の12ラボラトリー併設型新業態など全22店舗が集結し、品川エリアの食の新拠点として注目される。
• **屋形船×高級レストラン（体験型ダイニング）**：「屋形船 鮨 おりがみ」「YAKATABUNE 尚充」など、銀座の一つ星店が監修する"動く高級鮨店"が2026年も継続的なトレンドに。船内の檜カウンターで職人が握る体験価値が支持されている。</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**発酵食品×腸活の深化**：</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2026年06月05日（金）</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上半期の飲食トレンドは「多様化＆ご当地麺メニュー」「ゆる健康志向食」「拡大するお茶の選択肢」「進化系フライメニュー」の4つが牽引しており、栄養士・管理栄養士200人を対象とした調査では、2026年のトレンド食材TOP3が「発酵食品」「冷凍野菜」「サステナブル食材」という結果になり、キーワードは「健康×時短×環境」という時代を反映している。飲食業界では物価高の「1,000円の壁」を超えた外食価格が、今や「2,000円・3,000円」とより本質的な価値に見合った適正価格へシフトしつつあり、日常とハレの日のメリハリがより鮮明に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胡椒餅（台湾）**：窯で焼くスタイルが動画映えするためSNSで広まり、食べ歩きフードとしても注目。今後観光地での出店が増えそうで、「台湾老劉胡椒餅」は吉祥寺・鎌倉・京都三条河原町店を立て続けにオープン。
• **中華アフタヌーンティー（中華アフヌン）**：2026年はアフタヌーンティーが中華スタイルに進化。ANAインターコンチネンタルホテル東京「花梨」やジャヌ東京「虎景軒」のチャイニーズ・アフタヌーンティーが話題に。
• **空心菜**：猛暑時代の救世主となる夏野菜として注目。熱帯アジア原産で高温多湿な環境で元気に育ち、価格も安定。クックパッドでの検索頻度も年々上昇中。
• **フュージョン薬膳**：中医学に基づく薬膳の考え方をベースにしながら、和食・イタリアン・フレンチなど様々なジャンルと融合。クックパッドでの「薬膳」検索頻度は前年比132.1%と伸長中。
• **葱油拌麺（ツォンヨウバンミェン）・多様化する麺**：米の価格高騰が続く中で、主食の代替として麺メニューが進化・多様化。外食だけでなくインスタント麺商品としても展開が広がり、トレンドから定着へと移行しつつあ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和風だし×アジア料理の融合専門店**：渋谷に和野菜・和調味料・スパイスを重ねた次世代スープカレー専門店「幕末カリー」が、代官山に昆布・シジミのだしに麻辣が香る和風だし麻辣湯専門店「転転麻辣湯」がオープン。和味と異国料理の融合が飲食業界の新潮流に。
• **「体験価値」重視の新業態（高輪・渋谷・下北沢）**：2026年の東京外食シーンは「多様化と体験価値」がキーワード。高輪ゲートウェイエリアでは次世代江戸前寿司・牡蠣専門レストラン・原価ビストロが登場し、下北沢では韓国発の麻辣串「小麻辣」が日本初上陸。
• **熟成肉×割烹のハイブリッド**：2026年1月、銀座四丁目に「熟成割烹 銀座弥左衛門」がオープン。黒毛和牛の熟成を割烹の文脈で表現し、産地にこだわった肉・魚・野菜をそれぞれ熟成させるハイエンド焼肉レストラン。
• **ラボラトリー併設型カフェ（新業態）**：京都発の老舗コーヒーロースター・小川珈琲が高輪「ニュウマン高輪 ミムレ」に新業態をオープン。約4,000㎡の空間に12のラボラトリーを併設し、カフェ・パン・チョコレート・ジェラート・デリカテッセンを一体化させた革新的な食体験を提供。</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（データなし）</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2026年06月06日（土）</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上半期の外食トレンドは「多様化するご当地麺メニュー」「ゆる健康志向食」「拡大するお茶の選択肢」「進化系フライメニュー」の4キーワードに集約される。栄養士・管理栄養士200人への調査では、2026年のトレンド食材TOP1は「発酵食品（麹・甘酒・キムチ等）」、次いで「冷凍野菜」「サステナブル食材」となっており、健康×時短×環境の多面的価値観が浸透している。物価高騰で外食価格は「1,000円の壁」を越え「2,000〜3,000円」水準にシフトしており、日常食とハレの日消費のメリハリがより鮮明に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**台湾「胡椒餅」**：窯で焼くスタイルが動画映えしSNSで拡散。食べ歩きフードとして観光地での出店が増加傾向。
• **韓国海鮮メニュー（チュクミ・カンジャンケジャン）**：特定メニュー単位で注目度が高まり、検索数・掲載数が上昇。2025年下半期から知名度が定着した。
• **フュージョン薬膳**：クックパッドの「薬膳」検索が前年比132.1%増。和食やイタリアン・フレンチなど他ジャンルと融合した、スーパーで買える食材で作れる新スタイルが本格化。
• **ビリヤニ・空心菜・煮込まないスープ**：世界の料理が「我が家の定番」へと変化。東南アジア食文化の急速な浸透を背景に、夏向けの短時間スープ調理が定着しつつある。
• **進化系フライメニュー**：揚げ物の新たな可能性が注目され、2026年上半期の注目キーワードのひとつとして浮上。</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**六本木「焼鳥さいとう」（2026年5月）**：「翌朝の体調まで設計する」というコンセプトで、睡眠×美容×食を組み合わせた新時代の焼鳥体験を提供する注目の新店舗。
• **高級店×屋形船の体験業態**：「YAKATABUNE 尚充」「屋形船 鮨 おりがみ」など、銀座一つ星店が監修する"動く高級鮨店"が話題。ライブ感と非日常体験の融合が引き続き注目される。
• **原価ビストロ「チーズプラス池袋」**：ハイボール64円・原価ドリンク×創作チーズ料理という「価格設計の革新」を体現した新業態。
• **ニュウマン高輪ミムレ（3月開業）**：高輪ゲートウェイ再開発エリアに、小川珈琲の12ラボラトリー併設型新業態など全22店舗が集結。食のクラフト体験が集まるエリアとして注目。</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**発酵食品がトレンド食材1位**：麹調味料・甘酒・機能性納豆・ヨーグルト飲料・キムチ・味噌などが具体例として挙がり、「腸活」「免疫力アップ」への期待が選択の主な理由に。
• **ミシュラン発表「時間は食材」トレンド**：マリネ・穏やかな発酵・「麹（Koji）」など、時間が味を育てる潮流が世界規模で拡大。日本の発酵文化が国際的な参照点として注目されている。
• **サワードウ（天然酵母パン）の浸透**：塩麹・醤油麹などの麹調味料に加え、海外で人気のサワードウが日本でも広がりを見せると予測されている。
• **ジビエ肉の地位向上**：高タンパク・低</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2026年06月07日（日）</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ぐるなびのデータ分析によると、2026年上半期に最も盛り上がる外食トレンドは「多様化＆ご当地麺メニュー」「ゆる健康志向食」「拡大するお茶の選択肢」「進化系フライメニュー」の4キーワード。「動画で魅力が伝わるグルメ」が支持の中心となっており、食体験の演出・シズル感がSNS拡散の起点となる時代が本格化している。2026年の飲食トレンドを貫くキーワードは「健康×おいしさの進化」「五感で楽しむ体験コンテンツ」「古き良き日本食文化」で、外食・中食ともにこの軸がビジネスの核と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**胡椒餅（台湾）**：「四ツ谷一餅堂」がブームの火付け役。窯焼きスタイルが動画映えするためSNSで拡散し、食べ歩きフードとしても観光地での出店が増加中。
• **豆皿定食**：食べログが選ぶ2026年トレンドグルメに選出。小皿よりも小さな「豆皿」を組み合わせた定食スタイルで、「彩りを表現しやすい」ため写真映えし投稿が増えて人気が高まっている。
• **葱油拌麺（ツォンユービャンミェン）**：2026年の注目グルメのひとつとして食べログが予想したシンプルでクセになる中華麺料理。
• **フリッツ（ベルギーポテト）**：新大久保に登場した「BRUSSELS FRIES」では、牛脂を混ぜた油で2度揚げする本場ブリュッセルスタイルが「混ぜる動画」としてSNSでバズり、感度の高い若者の間で新定番となっている。
• **Swicy（スウィーシー）フード**：Sweet（甘い）＋Spicy（辛い）を組み合わせた新しい味覚で、欧米のSNSを中心に広がり、FOODEX JAPAN 2026でも注目されている。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**進化型フードホール（ガチフードコート）**：予約困難な名店や実力派ビストロが軒を連ね、好きなものを少しずつ楽しめるスタイルが外食の楽しみ方を変えている。虎ノ門ヒルズ「T-MARKET」や赤坂「kaiwaii akasaka」、東京駅直結「ヤエスパブリック」などが人気を集めている。
• **ニュウマン高輪 ミムレ（港区高輪）**：京都発の老舗コーヒーロースター「小川珈琲」が、約4,000㎡の開放感ある店内に12のラボラトリーを併設した新業態を展開。カフェだけでなくパン・チョコレート・ジェラート・デリカテッセンなど食体験特化型のラボが一体となった革新的な空間。
• **「睡眠×美容×食」焼鳥 さいとう（六本木）**：「翌朝の体調まで設計する」をコンセプトに、睡眠・美容・食を融合した新時代の焼鳥体験を提供する注目業態。
• **「原価ビストロ」業態**：「原価ビストロチーズプラス池袋」のようにハイボール64円など原価ドリンクと創作料理を組み合わせた新感覚ビストロが東京各地に拡大中。</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**発酵食品が栄養士調査でトレンド食材1位**：栄養士・管理栄養士200人対象のアン</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548640"/>
          </a:xfrm>
          <a:prstGeom prst="rect">
            <a:avLst/>
          </a:prstGeom>
          <a:noFill/>
        </p:spPr>
        <p:txBody>
          <a:bodyPr wrap="square">
            <a:spAutoFit/>
          </a:bodyPr>
          <a:lstStyle/>
          <a:p>
            <a:pPr algn="l"/>
            <a:r>
              <a:rPr sz="2200" b="1">
                <a:solidFill>
                  <a:srgbClr val="FFFFFF"/>
                </a:solidFill>
              </a:rPr>
              <a:t>週次まとめ｜事業アイデア総覧</a:t>
            </a:r>
          </a:p>
        </p:txBody>
      </p:sp>
      <p:sp>
        <p:nvSpPr>
          <p:cNvPr id="5" name="TextBox 4"/>
          <p:cNvSpPr txBox="1"/>
          <p:nvPr/>
        </p:nvSpPr>
        <p:spPr>
          <a:xfrm>
            <a:off x="9601200" y="164592"/>
            <a:ext cx="2286000" cy="411480"/>
          </a:xfrm>
          <a:prstGeom prst="rect">
            <a:avLst/>
          </a:prstGeom>
          <a:noFill/>
        </p:spPr>
        <p:txBody>
          <a:bodyPr wrap="square">
            <a:spAutoFit/>
          </a:bodyPr>
          <a:lstStyle/>
          <a:p>
            <a:pPr algn="r"/>
            <a:r>
              <a:rPr sz="1100" b="0">
                <a:solidFill>
                  <a:srgbClr val="E89C45"/>
                </a:solidFill>
              </a:rPr>
              <a:t>06/01〜06/07 の気づき</a:t>
            </a:r>
          </a:p>
        </p:txBody>
      </p:sp>
      <p:sp>
        <p:nvSpPr>
          <p:cNvPr id="6" name="Rectangle 5"/>
          <p:cNvSpPr/>
          <p:nvPr/>
        </p:nvSpPr>
        <p:spPr>
          <a:xfrm>
            <a:off x="320040" y="914400"/>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969264"/>
            <a:ext cx="1371600" cy="566928"/>
          </a:xfrm>
          <a:prstGeom prst="rect">
            <a:avLst/>
          </a:prstGeom>
          <a:noFill/>
        </p:spPr>
        <p:txBody>
          <a:bodyPr wrap="square">
            <a:spAutoFit/>
          </a:bodyPr>
          <a:lstStyle/>
          <a:p>
            <a:pPr algn="ctr"/>
            <a:r>
              <a:rPr sz="1100" b="1">
                <a:solidFill>
                  <a:srgbClr val="E89C45"/>
                </a:solidFill>
              </a:rPr>
              <a:t>06/04
（木）</a:t>
            </a:r>
          </a:p>
        </p:txBody>
      </p:sp>
      <p:sp>
        <p:nvSpPr>
          <p:cNvPr id="8" name="Rectangle 7"/>
          <p:cNvSpPr/>
          <p:nvPr/>
        </p:nvSpPr>
        <p:spPr>
          <a:xfrm>
            <a:off x="1892808" y="914400"/>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84248" y="987552"/>
            <a:ext cx="9793224" cy="530352"/>
          </a:xfrm>
          <a:prstGeom prst="rect">
            <a:avLst/>
          </a:prstGeom>
          <a:noFill/>
        </p:spPr>
        <p:txBody>
          <a:bodyPr wrap="square">
            <a:spAutoFit/>
          </a:bodyPr>
          <a:lstStyle/>
          <a:p>
            <a:pPr algn="l"/>
            <a:r>
              <a:rPr sz="1000" b="0">
                <a:solidFill>
                  <a:srgbClr val="CCCCCC"/>
                </a:solidFill>
              </a:rPr>
              <a:t>　（記録なし）</a:t>
            </a:r>
          </a:p>
        </p:txBody>
      </p:sp>
      <p:sp>
        <p:nvSpPr>
          <p:cNvPr id="10" name="Rectangle 9"/>
          <p:cNvSpPr/>
          <p:nvPr/>
        </p:nvSpPr>
        <p:spPr>
          <a:xfrm>
            <a:off x="320040" y="1755648"/>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10512"/>
            <a:ext cx="1371600" cy="566928"/>
          </a:xfrm>
          <a:prstGeom prst="rect">
            <a:avLst/>
          </a:prstGeom>
          <a:noFill/>
        </p:spPr>
        <p:txBody>
          <a:bodyPr wrap="square">
            <a:spAutoFit/>
          </a:bodyPr>
          <a:lstStyle/>
          <a:p>
            <a:pPr algn="ctr"/>
            <a:r>
              <a:rPr sz="1100" b="1">
                <a:solidFill>
                  <a:srgbClr val="E89C45"/>
                </a:solidFill>
              </a:rPr>
              <a:t>06/05
（金）</a:t>
            </a:r>
          </a:p>
        </p:txBody>
      </p:sp>
      <p:sp>
        <p:nvSpPr>
          <p:cNvPr id="12" name="Rectangle 11"/>
          <p:cNvSpPr/>
          <p:nvPr/>
        </p:nvSpPr>
        <p:spPr>
          <a:xfrm>
            <a:off x="1892808" y="1755648"/>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4248" y="1828800"/>
            <a:ext cx="9793224" cy="530352"/>
          </a:xfrm>
          <a:prstGeom prst="rect">
            <a:avLst/>
          </a:prstGeom>
          <a:noFill/>
        </p:spPr>
        <p:txBody>
          <a:bodyPr wrap="square">
            <a:spAutoFit/>
          </a:bodyPr>
          <a:lstStyle/>
          <a:p>
            <a:pPr algn="l"/>
            <a:r>
              <a:rPr sz="1000" b="0">
                <a:solidFill>
                  <a:srgbClr val="CCCCCC"/>
                </a:solidFill>
              </a:rPr>
              <a:t>　（記録なし）</a:t>
            </a:r>
          </a:p>
        </p:txBody>
      </p:sp>
      <p:sp>
        <p:nvSpPr>
          <p:cNvPr id="14" name="Rectangle 13"/>
          <p:cNvSpPr/>
          <p:nvPr/>
        </p:nvSpPr>
        <p:spPr>
          <a:xfrm>
            <a:off x="320040" y="2596896"/>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651760"/>
            <a:ext cx="1371600" cy="566928"/>
          </a:xfrm>
          <a:prstGeom prst="rect">
            <a:avLst/>
          </a:prstGeom>
          <a:noFill/>
        </p:spPr>
        <p:txBody>
          <a:bodyPr wrap="square">
            <a:spAutoFit/>
          </a:bodyPr>
          <a:lstStyle/>
          <a:p>
            <a:pPr algn="ctr"/>
            <a:r>
              <a:rPr sz="1100" b="1">
                <a:solidFill>
                  <a:srgbClr val="E89C45"/>
                </a:solidFill>
              </a:rPr>
              <a:t>06/06
（土）</a:t>
            </a:r>
          </a:p>
        </p:txBody>
      </p:sp>
      <p:sp>
        <p:nvSpPr>
          <p:cNvPr id="16" name="Rectangle 15"/>
          <p:cNvSpPr/>
          <p:nvPr/>
        </p:nvSpPr>
        <p:spPr>
          <a:xfrm>
            <a:off x="1892808" y="2596896"/>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0048"/>
            <a:ext cx="9793224" cy="530352"/>
          </a:xfrm>
          <a:prstGeom prst="rect">
            <a:avLst/>
          </a:prstGeom>
          <a:noFill/>
        </p:spPr>
        <p:txBody>
          <a:bodyPr wrap="square">
            <a:spAutoFit/>
          </a:bodyPr>
          <a:lstStyle/>
          <a:p>
            <a:pPr algn="l"/>
            <a:r>
              <a:rPr sz="1000" b="0">
                <a:solidFill>
                  <a:srgbClr val="CCCCCC"/>
                </a:solidFill>
              </a:rPr>
              <a:t>　（記録なし）</a:t>
            </a:r>
          </a:p>
        </p:txBody>
      </p:sp>
      <p:sp>
        <p:nvSpPr>
          <p:cNvPr id="18" name="Rectangle 17"/>
          <p:cNvSpPr/>
          <p:nvPr/>
        </p:nvSpPr>
        <p:spPr>
          <a:xfrm>
            <a:off x="320040" y="3438144"/>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493008"/>
            <a:ext cx="1371600" cy="566928"/>
          </a:xfrm>
          <a:prstGeom prst="rect">
            <a:avLst/>
          </a:prstGeom>
          <a:noFill/>
        </p:spPr>
        <p:txBody>
          <a:bodyPr wrap="square">
            <a:spAutoFit/>
          </a:bodyPr>
          <a:lstStyle/>
          <a:p>
            <a:pPr algn="ctr"/>
            <a:r>
              <a:rPr sz="1100" b="1">
                <a:solidFill>
                  <a:srgbClr val="E89C45"/>
                </a:solidFill>
              </a:rPr>
              <a:t>06/07
（日）</a:t>
            </a:r>
          </a:p>
        </p:txBody>
      </p:sp>
      <p:sp>
        <p:nvSpPr>
          <p:cNvPr id="20" name="Rectangle 19"/>
          <p:cNvSpPr/>
          <p:nvPr/>
        </p:nvSpPr>
        <p:spPr>
          <a:xfrm>
            <a:off x="1892808" y="3438144"/>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84248" y="3511296"/>
            <a:ext cx="9793224" cy="530352"/>
          </a:xfrm>
          <a:prstGeom prst="rect">
            <a:avLst/>
          </a:prstGeom>
          <a:noFill/>
        </p:spPr>
        <p:txBody>
          <a:bodyPr wrap="square">
            <a:spAutoFit/>
          </a:bodyPr>
          <a:lstStyle/>
          <a:p>
            <a:pPr algn="l"/>
            <a:r>
              <a:rPr sz="1000" b="0">
                <a:solidFill>
                  <a:srgbClr val="CCCCCC"/>
                </a:solidFill>
              </a:rPr>
              <a:t>　（記録なし）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