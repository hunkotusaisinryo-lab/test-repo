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EN_GROU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645920"/>
            <a:ext cx="3931920" cy="1188720"/>
          </a:xfrm>
          <a:prstGeom prst="rect">
            <a:avLst/>
          </a:prstGeom>
        </p:spPr>
      </p:pic>
      <p:pic>
        <p:nvPicPr>
          <p:cNvPr id="4" name="Picture 3" descr="ZEN_DASH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017520"/>
            <a:ext cx="3566160" cy="868680"/>
          </a:xfrm>
          <a:prstGeom prst="rect">
            <a:avLst/>
          </a:prstGeom>
        </p:spPr>
      </p:pic>
      <p:pic>
        <p:nvPicPr>
          <p:cNvPr id="5" name="Picture 4" descr="ZEN_NIKU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023360"/>
            <a:ext cx="3566160" cy="868680"/>
          </a:xfrm>
          <a:prstGeom prst="rect">
            <a:avLst/>
          </a:prstGeom>
        </p:spPr>
      </p:pic>
      <p:pic>
        <p:nvPicPr>
          <p:cNvPr id="6" name="Picture 5" descr="ZEN_SOBA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5029200"/>
            <a:ext cx="3566160" cy="868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5989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0EEE8"/>
                </a:solidFill>
                <a:latin typeface="IPAGothic"/>
              </a:rPr>
              <a:t>ZEN BRAND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097280"/>
            <a:ext cx="7132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2C4A3E"/>
                </a:solidFill>
                <a:latin typeface="IPAGothic"/>
              </a:rPr>
              <a:t>然グループ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IPAGothic"/>
              </a:rPr>
              <a:t>事業説明資料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108960"/>
            <a:ext cx="5943600" cy="36576"/>
          </a:xfrm>
          <a:prstGeom prst="rect">
            <a:avLst/>
          </a:prstGeom>
          <a:solidFill>
            <a:srgbClr val="C4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29184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49A22"/>
                </a:solidFill>
                <a:latin typeface="IPAGothic"/>
              </a:rPr>
              <a:t>食の全シーンに、然を。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PAGothic"/>
              </a:rPr>
              <a:t>然グループ 事業企画室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IPAGothic"/>
              </a:rPr>
              <a:t>2026年7月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5120640"/>
            <a:ext cx="320040" cy="320040"/>
          </a:xfrm>
          <a:prstGeom prst="rect">
            <a:avLst/>
          </a:prstGeom>
          <a:solidFill>
            <a:srgbClr val="C4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5120640"/>
            <a:ext cx="320040" cy="320040"/>
          </a:xfrm>
          <a:prstGeom prst="rect">
            <a:avLst/>
          </a:prstGeom>
          <a:solidFill>
            <a:srgbClr val="8B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5120640"/>
            <a:ext cx="320040" cy="3200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IPAGothic"/>
              </a:rPr>
              <a:t>だし然  ／  肉酒場然  ／  蕎麦然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IPAGothic"/>
              </a:rPr>
              <a:t>Confidential  ─  然グループ Internal Document  ─  無断転載禁止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PAGothic"/>
              </a:rPr>
              <a:t>グループビジョン</a:t>
            </a:r>
          </a:p>
        </p:txBody>
      </p:sp>
      <p:pic>
        <p:nvPicPr>
          <p:cNvPr id="4" name="Picture 3" descr="zen_bran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5720"/>
            <a:ext cx="2103120" cy="749808"/>
          </a:xfrm>
          <a:prstGeom prst="rect">
            <a:avLst/>
          </a:prstGeom>
        </p:spPr>
      </p:pic>
      <p:pic>
        <p:nvPicPr>
          <p:cNvPr id="5" name="Picture 4" descr="zen_bran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5720"/>
            <a:ext cx="2103120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005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C4A3E"/>
                </a:solidFill>
                <a:latin typeface="IPAGothic"/>
              </a:rPr>
              <a:t>「食の全シーンに、然を。」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49A22"/>
                </a:solidFill>
                <a:latin typeface="IPAGothic"/>
              </a:rPr>
              <a:t>日本の「だし・発酵・素材」文化を現代の食卓とビジネスに再定義する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60320"/>
            <a:ext cx="3657600" cy="3931920"/>
          </a:xfrm>
          <a:prstGeom prst="rect">
            <a:avLst/>
          </a:prstGeom>
          <a:solidFill>
            <a:srgbClr val="C4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IPAGothic"/>
              </a:rPr>
              <a:t>然 出汁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46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IPAGothic"/>
              </a:rPr>
              <a:t>ZEN DASHI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11880"/>
            <a:ext cx="31089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PAGothic"/>
              </a:rPr>
              <a:t>だしダイニング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PAGothic"/>
              </a:rPr>
              <a:t>出汁体験×インバウンド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IPAGothic"/>
              </a:rPr>
              <a:t>ランチ定食＋体験ディナー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IPAGothic"/>
              </a:rPr>
              <a:t>客単価 1,800〜9,000円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560320"/>
            <a:ext cx="3657600" cy="3931920"/>
          </a:xfrm>
          <a:prstGeom prst="rect">
            <a:avLst/>
          </a:prstGeom>
          <a:solidFill>
            <a:srgbClr val="8B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651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IPAGothic"/>
              </a:rPr>
              <a:t>然 肉と発酵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246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IPAGothic"/>
              </a:rPr>
              <a:t>ZEN NIKU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3611880"/>
            <a:ext cx="31089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703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PAGothic"/>
              </a:rPr>
              <a:t>炭火と発酵の居酒屋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11480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PAGothic"/>
              </a:rPr>
              <a:t>発酵×炭火グリル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IPAGothic"/>
              </a:rPr>
              <a:t>本格居酒屋体験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IPAGothic"/>
              </a:rPr>
              <a:t>客単価 4,000〜6,000円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560320"/>
            <a:ext cx="3657600" cy="39319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651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IPAGothic"/>
              </a:rPr>
              <a:t>然 立ちそば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246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IPAGothic"/>
              </a:rPr>
              <a:t>ZEN SOBA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3611880"/>
            <a:ext cx="31089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703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PAGothic"/>
              </a:rPr>
              <a:t>現代的な立ち食いそば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11480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PAGothic"/>
              </a:rPr>
              <a:t>2分提供・FC展開特化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IPAGothic"/>
              </a:rPr>
              <a:t>駅前・オフィス街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IPAGothic"/>
              </a:rPr>
              <a:t>客単価 1,500円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PAGothic"/>
              </a:rPr>
              <a:t>市場機会  ─  なぜ今か</a:t>
            </a:r>
          </a:p>
        </p:txBody>
      </p:sp>
      <p:pic>
        <p:nvPicPr>
          <p:cNvPr id="4" name="Picture 3" descr="zen_bran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5720"/>
            <a:ext cx="2103120" cy="7498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" y="1005840"/>
            <a:ext cx="2651760" cy="118872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7899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49A22"/>
                </a:solidFill>
                <a:latin typeface="IPAGothic"/>
              </a:rPr>
              <a:t>25兆円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276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PAGothic"/>
              </a:rPr>
              <a:t>国内外食産業
市場規模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05840"/>
            <a:ext cx="2651760" cy="1188720"/>
          </a:xfrm>
          <a:prstGeom prst="rect">
            <a:avLst/>
          </a:prstGeom>
          <a:solidFill>
            <a:srgbClr val="C4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07899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49A22"/>
                </a:solidFill>
                <a:latin typeface="IPAGothic"/>
              </a:rPr>
              <a:t>4.3兆円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6276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PAGothic"/>
              </a:rPr>
              <a:t>インバウンド消費
（2025年実績）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05840"/>
            <a:ext cx="2651760" cy="1188720"/>
          </a:xfrm>
          <a:prstGeom prst="rect">
            <a:avLst/>
          </a:prstGeom>
          <a:solidFill>
            <a:srgbClr val="8B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07899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49A22"/>
                </a:solidFill>
                <a:latin typeface="IPAGothic"/>
              </a:rPr>
              <a:t>3,188万人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6276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PAGothic"/>
              </a:rPr>
              <a:t>訪日外国人数
（過去最高水準）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005840"/>
            <a:ext cx="2651760" cy="11887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07899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49A22"/>
                </a:solidFill>
                <a:latin typeface="IPAGothic"/>
              </a:rPr>
              <a:t>68%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6276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PAGothic"/>
              </a:rPr>
              <a:t>健康志向食品市場
過去5年成長率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68880"/>
            <a:ext cx="5669280" cy="347472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50545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PAGothic"/>
              </a:rPr>
              <a:t>追い風トレンド（国内）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8529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外食産業はコロナ後の回復を超え、2030年に向けて成長軌道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2004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インバウンド旅行者の「本物の日本食体験」需要が急拡大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547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発酵食品・出汁・和食の健康志向は国内外で加速中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89534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立ち食い・スタンド業態：コスパ・時短ニーズで拡大継続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468880"/>
            <a:ext cx="5669280" cy="347472"/>
          </a:xfrm>
          <a:prstGeom prst="rect">
            <a:avLst/>
          </a:prstGeom>
          <a:solidFill>
            <a:srgbClr val="C4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50545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PAGothic"/>
              </a:rPr>
              <a:t>追い風トレンド（市場環境）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8529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飲食FC市場：初期投資の軽さから加盟希望者が増加傾向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2004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SNSによる集客格差が顕在化（勝者総取り化が進行）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547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円安継続→外国人の日本食消費単価は上昇トレンド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89534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2030年大阪万博：関西インバウンド需要の更なる拡大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598932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4A3E"/>
                </a:solidFill>
                <a:latin typeface="IPAGothic"/>
              </a:rPr>
              <a:t>→ だし・発酵・素材こだわり × FC展開 × インバウンド対応 ── この3軸が同時に刺さる市場環境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PAGothic"/>
              </a:rPr>
              <a:t>然グループ  全体像</a:t>
            </a:r>
          </a:p>
        </p:txBody>
      </p:sp>
      <p:pic>
        <p:nvPicPr>
          <p:cNvPr id="4" name="Picture 3" descr="zen_bran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5720"/>
            <a:ext cx="2103120" cy="74980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PAGothic"/>
                        </a:rPr>
                        <a:t>ブランド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PAGothic"/>
                        </a:rPr>
                        <a:t>業態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PAGothic"/>
                        </a:rPr>
                        <a:t>月次売上/店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PAGothic"/>
                        </a:rPr>
                        <a:t>利益率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PAGothic"/>
                        </a:rPr>
                        <a:t>家賃/月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PAGothic"/>
                        </a:rPr>
                        <a:t>月次利益/店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然 出汁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出汁定食・体験ディナー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960万円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15%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60万円（25坪）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144万円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然 肉と発酵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炭火コース＋宴会居酒屋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1,200万円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80万円（38坪）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204万円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然 立ちそば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立ち食い蕎麦（8坪・小型）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350万円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20%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45万円（8坪）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70万円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SNS事業部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飲食特化SNSコンサル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月9.8〜39.8万円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83万円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3520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4A3E"/>
                </a:solidFill>
                <a:latin typeface="IPAGothic"/>
              </a:rPr>
              <a:t>食の時間帯フルカバー戦略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977639"/>
            <a:ext cx="3657600" cy="5029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00507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PAGothic"/>
              </a:rPr>
              <a:t>蕎麦 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2976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IPAGothic"/>
              </a:rPr>
              <a:t>11:00〜15:00 ランチ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3977639"/>
            <a:ext cx="3657600" cy="502920"/>
          </a:xfrm>
          <a:prstGeom prst="rect">
            <a:avLst/>
          </a:prstGeom>
          <a:solidFill>
            <a:srgbClr val="C4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400507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PAGothic"/>
              </a:rPr>
              <a:t>だし 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42976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IPAGothic"/>
              </a:rPr>
              <a:t>11:30〜22:00 ランチ〜ディナー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977639"/>
            <a:ext cx="3657600" cy="502920"/>
          </a:xfrm>
          <a:prstGeom prst="rect">
            <a:avLst/>
          </a:prstGeom>
          <a:solidFill>
            <a:srgbClr val="8B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00507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PAGothic"/>
              </a:rPr>
              <a:t>肉酒場 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2976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IPAGothic"/>
              </a:rPr>
              <a:t>17:00〜23:00 ディナー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6634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9A22"/>
                </a:solidFill>
                <a:latin typeface="IPAGothic"/>
              </a:rPr>
              <a:t>→ 全時間帯をカバーし、顧客をグループ内で回遊させる「然エコシステム」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166360"/>
            <a:ext cx="2743200" cy="13716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52303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49A22"/>
                </a:solidFill>
                <a:latin typeface="IPAGothic"/>
              </a:rPr>
              <a:t>出汁共通仕入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669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PAGothic"/>
              </a:rPr>
              <a:t>原価率1〜2%改善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5166360"/>
            <a:ext cx="2743200" cy="13716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52303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49A22"/>
                </a:solidFill>
                <a:latin typeface="IPAGothic"/>
              </a:rPr>
              <a:t>然カード会員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669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PAGothic"/>
              </a:rPr>
              <a:t>グループ内回遊促進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5166360"/>
            <a:ext cx="2743200" cy="13716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52303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49A22"/>
                </a:solidFill>
                <a:latin typeface="IPAGothic"/>
              </a:rPr>
              <a:t>SNS内製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5669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PAGothic"/>
              </a:rPr>
              <a:t>広告費年300万削減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5166360"/>
            <a:ext cx="2743200" cy="13716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52303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49A22"/>
                </a:solidFill>
                <a:latin typeface="IPAGothic"/>
              </a:rPr>
              <a:t>FCクロスセル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5669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PAGothic"/>
              </a:rPr>
              <a:t>SNS事業受注創出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C4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PAGothic"/>
              </a:rPr>
              <a:t>だし 然  ─  出汁体験レストラン</a:t>
            </a:r>
          </a:p>
        </p:txBody>
      </p:sp>
      <p:pic>
        <p:nvPicPr>
          <p:cNvPr id="4" name="Picture 3" descr="zen_bran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5720"/>
            <a:ext cx="2103120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9A22"/>
                </a:solidFill>
                <a:latin typeface="IPAGothic"/>
              </a:rPr>
              <a:t>「一杯の出汁が、今日を整える。」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5669280" cy="347472"/>
          </a:xfrm>
          <a:prstGeom prst="rect">
            <a:avLst/>
          </a:prstGeom>
          <a:solidFill>
            <a:srgbClr val="C4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8249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PAGothic"/>
              </a:rPr>
              <a:t>ビジネスモデル（昼夜二毛作）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99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昼：出汁定食 1,600〜1,900円 ／ 地元ワーカー向け 平日22日安定集客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夜：出汁しゃぶ・体験コース 8,000〜12,000円 ／ インバウンド向け体験型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249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昆布×本枯れ節×麹発酵のオリジナルブレンド出汁が核心差別化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7238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25坪・34席（カウンター10席）・4ヶ国語対応・Alipay/WeChatPay導入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198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【家賃】60万円/月（25坪・坪2.4万）│ 原価33% │ 人件費28%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5669280" cy="347472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8249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PAGothic"/>
              </a:rPr>
              <a:t>展開計画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0299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Phase1：東京直営 浅草・銀座・上野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774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Phase2：関西FC 京都祇園・大阪道頓堀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7249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Phase3：20店舗（直営5＋FC15）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7238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Phase4：海外 台湾・シンガポール（DASHI ZEN）</a:t>
            </a:r>
          </a:p>
        </p:txBody>
      </p:sp>
      <p:pic>
        <p:nvPicPr>
          <p:cNvPr id="19" name="Picture 18" descr="ZEN_DASH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600200"/>
            <a:ext cx="2560320" cy="64008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474720"/>
            <a:ext cx="5303520" cy="301752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852160" y="3474720"/>
            <a:ext cx="1371600" cy="9144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35204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49A22"/>
                </a:solidFill>
                <a:latin typeface="IPAGothic"/>
              </a:rPr>
              <a:t>960万円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40416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IPAGothic"/>
              </a:rPr>
              <a:t>月次売上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3474720"/>
            <a:ext cx="1371600" cy="9144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35204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49A22"/>
                </a:solidFill>
                <a:latin typeface="IPAGothic"/>
              </a:rPr>
              <a:t>144万円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0416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IPAGothic"/>
              </a:rPr>
              <a:t>営業利益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3474720"/>
            <a:ext cx="1371600" cy="9144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35204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49A22"/>
                </a:solidFill>
                <a:latin typeface="IPAGothic"/>
              </a:rPr>
              <a:t>15%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40416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IPAGothic"/>
              </a:rPr>
              <a:t>利益率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0" y="3474720"/>
            <a:ext cx="1371600" cy="9144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0" y="35204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49A22"/>
                </a:solidFill>
                <a:latin typeface="IPAGothic"/>
              </a:rPr>
              <a:t>18〜24ヶ月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40416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IPAGothic"/>
              </a:rPr>
              <a:t>投資回収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4572000"/>
            <a:ext cx="6035040" cy="1920240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46177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4A3E"/>
                </a:solidFill>
                <a:latin typeface="IPAGothic"/>
              </a:rPr>
              <a:t>FCモデル収益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5029200"/>
            <a:ext cx="5852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IPAGothic"/>
              </a:rPr>
              <a:t>加盟金：300万円 ／ ロイヤルティ：売上の3%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IPAGothic"/>
              </a:rPr>
              <a:t>FC初期投資：3,200万円（標準）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IPAGothic"/>
              </a:rPr>
              <a:t>FC月次営業利益：約280万円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IPAGothic"/>
              </a:rPr>
              <a:t>FC投資回収期間：約20ヶ月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IPAGothic"/>
              </a:rPr>
              <a:t>本部ロイヤルティ収入：FC10店で月288万円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8B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PAGothic"/>
              </a:rPr>
              <a:t>然 肉と発酵  ─  炭火と発酵の居酒屋</a:t>
            </a:r>
          </a:p>
        </p:txBody>
      </p:sp>
      <p:pic>
        <p:nvPicPr>
          <p:cNvPr id="4" name="Picture 3" descr="zen_bran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5720"/>
            <a:ext cx="2103120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B2020"/>
                </a:solidFill>
                <a:latin typeface="IPAGothic"/>
              </a:rPr>
              <a:t>「発酵の香りと肉煙が満ちる、大人の隠れ酒場」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5669280" cy="347472"/>
          </a:xfrm>
          <a:prstGeom prst="rect">
            <a:avLst/>
          </a:prstGeom>
          <a:solidFill>
            <a:srgbClr val="8B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8249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PAGothic"/>
              </a:rPr>
              <a:t>コンセプト・差別化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99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38坪・55席（個室・半個室15席含む）で宴会需要を獲得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発酵肉（麹漬け・味噌漬け）を炭火グリルで「見せる」体験型設計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249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ディナーコース主体（8,000〜10,000円）＋平日ランチ炭火定食2,000円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7238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日本酒・焼酎の発酵ペアリングでドリンク単価を底上げ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198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【家賃】80万円/月（38坪・坪2.1万）│ 原価35% │ 人件費27.5%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5669280" cy="347472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8249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PAGothic"/>
              </a:rPr>
              <a:t>戦略的位置づけ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0299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然グループの「顔」かつ 発酵文化の発信基地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774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炭火・発酵器具がSNS映えコンテンツになる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7249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常連顧客育成で口コミによる自然集客を実現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7238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SNS事業部との連動でブランド発信を内製化</a:t>
            </a:r>
          </a:p>
        </p:txBody>
      </p:sp>
      <p:pic>
        <p:nvPicPr>
          <p:cNvPr id="19" name="Picture 18" descr="ZEN_NIK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600200"/>
            <a:ext cx="256032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74320" y="4297680"/>
            <a:ext cx="2743200" cy="914400"/>
          </a:xfrm>
          <a:prstGeom prst="rect">
            <a:avLst/>
          </a:prstGeom>
          <a:solidFill>
            <a:srgbClr val="8B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3434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49A22"/>
                </a:solidFill>
                <a:latin typeface="IPAGothic"/>
              </a:rPr>
              <a:t>1,200万円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8920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PAGothic"/>
              </a:rPr>
              <a:t>月次売上目標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4297680"/>
            <a:ext cx="2743200" cy="9144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43434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49A22"/>
                </a:solidFill>
                <a:latin typeface="IPAGothic"/>
              </a:rPr>
              <a:t>200万円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8920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PAGothic"/>
              </a:rPr>
              <a:t>月次営業利益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297680"/>
            <a:ext cx="2743200" cy="914400"/>
          </a:xfrm>
          <a:prstGeom prst="rect">
            <a:avLst/>
          </a:prstGeom>
          <a:solidFill>
            <a:srgbClr val="8B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43434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49A22"/>
                </a:solidFill>
                <a:latin typeface="IPAGothic"/>
              </a:rPr>
              <a:t>17%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8920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PAGothic"/>
              </a:rPr>
              <a:t>利益率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4297680"/>
            <a:ext cx="2743200" cy="9144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43434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49A22"/>
                </a:solidFill>
                <a:latin typeface="IPAGothic"/>
              </a:rPr>
              <a:t>8,000〜10,000円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48920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PAGothic"/>
              </a:rPr>
              <a:t>客単価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440680"/>
            <a:ext cx="11612880" cy="347472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47725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PAGothic"/>
              </a:rPr>
              <a:t>今後の展開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8247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2号店：東京都内（恵比寿・中目黒エリア）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1722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フラッグシップ店として然グループのブランド旗艦に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519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将来的に大阪・福岡への直営拡大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PAGothic"/>
              </a:rPr>
              <a:t>然 立ちそば  ─  現代的な立ち食いそばFC</a:t>
            </a:r>
          </a:p>
        </p:txBody>
      </p:sp>
      <p:pic>
        <p:nvPicPr>
          <p:cNvPr id="4" name="Picture 3" descr="zen_bran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5720"/>
            <a:ext cx="2103120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A4A"/>
                </a:solidFill>
                <a:latin typeface="IPAGothic"/>
              </a:rPr>
              <a:t>「2分で届く、本物の蕎麦。」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5669280" cy="347472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8249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PAGothic"/>
              </a:rPr>
              <a:t>業態設計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99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8坪・8スタンド・1〜2人オペレーション（小型化）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客単価1,500円・回転時間12分・1日80〜90人集客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249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揚げたて天ぷら・北海道幌加内産蕎麦を使用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7238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QR前払い・キャッシュレス100%で人件費最適化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198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【家賃】45万円/月（8坪・坪5.6万）│ 原価30% │ 人件費23%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5669280" cy="347472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8249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PAGothic"/>
              </a:rPr>
              <a:t>FC展開モデル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0299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FC加盟金200万円・ロイヤルティ4%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774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標準内装パッケージで施工期間2ヶ月以内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7249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首都圏駅前・オフィス街から展開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7238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小型化でFC初期投資を抑え加盟ハードルを下げる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4198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目標：30店舗（直営3＋FC27）</a:t>
            </a:r>
          </a:p>
        </p:txBody>
      </p:sp>
      <p:pic>
        <p:nvPicPr>
          <p:cNvPr id="20" name="Picture 19" descr="ZEN_SOB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600200"/>
            <a:ext cx="2560320" cy="64008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657600"/>
            <a:ext cx="5486400" cy="2834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943600" y="3657600"/>
            <a:ext cx="1371600" cy="86868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370332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49A22"/>
                </a:solidFill>
                <a:latin typeface="IPAGothic"/>
              </a:rPr>
              <a:t>350万円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2062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IPAGothic"/>
              </a:rPr>
              <a:t>月次売上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3657600"/>
            <a:ext cx="1371600" cy="86868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370332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49A22"/>
                </a:solidFill>
                <a:latin typeface="IPAGothic"/>
              </a:rPr>
              <a:t>70万円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2062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IPAGothic"/>
              </a:rPr>
              <a:t>月次利益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657600"/>
            <a:ext cx="1371600" cy="86868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70332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49A22"/>
                </a:solidFill>
                <a:latin typeface="IPAGothic"/>
              </a:rPr>
              <a:t>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IPAGothic"/>
              </a:rPr>
              <a:t>利益率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07040" y="3657600"/>
            <a:ext cx="1371600" cy="86868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07040" y="370332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49A22"/>
                </a:solidFill>
                <a:latin typeface="IPAGothic"/>
              </a:rPr>
              <a:t>12〜15ヶ月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42062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IPAGothic"/>
              </a:rPr>
              <a:t>投資回収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66344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IPAGothic"/>
              </a:rPr>
              <a:t>■ FC収益シミュレーション（FC1店舗・小型8坪）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IPAGothic"/>
              </a:rPr>
              <a:t>初期投資合計：800万円（内装・設備・物件取得費）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IPAGothic"/>
              </a:rPr>
              <a:t>月次売上：350万円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IPAGothic"/>
              </a:rPr>
              <a:t>月次営業利益：約56万円（ロイヤルティ控除後）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IPAGothic"/>
              </a:rPr>
              <a:t>投資回収期間：約14〜16ヶ月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IPAGothic"/>
              </a:rPr>
              <a:t>本部ロイヤルティ：FC10店で月140万円（売上の4%）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PAGothic"/>
              </a:rPr>
              <a:t>競合優位性  ─  なぜ然グループが勝てるか</a:t>
            </a:r>
          </a:p>
        </p:txBody>
      </p:sp>
      <p:pic>
        <p:nvPicPr>
          <p:cNvPr id="4" name="Picture 3" descr="zen_bran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5720"/>
            <a:ext cx="2103120" cy="74980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484632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394960" y="1005840"/>
            <a:ext cx="6492240" cy="1051560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94960" y="1005840"/>
            <a:ext cx="73152" cy="105156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59552" y="105156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4A3E"/>
                </a:solidFill>
                <a:latin typeface="IPAGothic"/>
              </a:rPr>
              <a:t>① 出汁・発酵という普遍的コア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9552" y="1444752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IPAGothic"/>
              </a:rPr>
              <a:t>トレンドに流されない「日本食の本質」を軸に
10年・20年後も価値が変わらない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2148840"/>
            <a:ext cx="6492240" cy="1051560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94960" y="2148840"/>
            <a:ext cx="73152" cy="105156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59552" y="219456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4A3E"/>
                </a:solidFill>
                <a:latin typeface="IPAGothic"/>
              </a:rPr>
              <a:t>② 価格帯ポートフォリオ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59552" y="2587752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IPAGothic"/>
              </a:rPr>
              <a:t>不況時は蕎麦然・ランチ中心で守り
好況・インバウンドはだし然夜・肉酒場で攻める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3291840"/>
            <a:ext cx="6492240" cy="1051560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94960" y="3291840"/>
            <a:ext cx="73152" cy="105156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59552" y="333756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4A3E"/>
                </a:solidFill>
                <a:latin typeface="IPAGothic"/>
              </a:rPr>
              <a:t>③ FC×直営の二重エンジン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9552" y="3730752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IPAGothic"/>
              </a:rPr>
              <a:t>直営で利益を確保しながらFCでスケール
飲食成功パターンを確実に踏む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4434840"/>
            <a:ext cx="6492240" cy="1051560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94960" y="4434840"/>
            <a:ext cx="73152" cy="105156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2" y="448056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4A3E"/>
                </a:solidFill>
                <a:latin typeface="IPAGothic"/>
              </a:rPr>
              <a:t>④ SNS情報優位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9552" y="4873752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IPAGothic"/>
              </a:rPr>
              <a:t>毎日のトレンドリサーチを内製→外販できる
唯一の飲食グループ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5577840"/>
            <a:ext cx="6492240" cy="1051560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94960" y="5577840"/>
            <a:ext cx="73152" cy="105156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59552" y="562356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4A3E"/>
                </a:solidFill>
                <a:latin typeface="IPAGothic"/>
              </a:rPr>
              <a:t>⑤ インバウンド確保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6016752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IPAGothic"/>
              </a:rPr>
              <a:t>だし然がインバウンド向け体験型ディナーを担当
円安・訪日外国人増加の波を確実に取込む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852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49A22"/>
                </a:solidFill>
                <a:latin typeface="IPAGothic"/>
              </a:rPr>
              <a:t>→ 「素材へのこだわり × FC展開力」が高水準で共存する競合不在のゾーン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PAGothic"/>
              </a:rPr>
              <a:t>販売・SNSマーケティング戦略</a:t>
            </a:r>
          </a:p>
        </p:txBody>
      </p:sp>
      <p:pic>
        <p:nvPicPr>
          <p:cNvPr id="4" name="Picture 3" descr="zen_bran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5720"/>
            <a:ext cx="2103120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C4A3E"/>
                </a:solidFill>
                <a:latin typeface="IPAGothic"/>
              </a:rPr>
              <a:t>「SNSで集客する飲食グループ」を自ら実証し、外販へ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3657600" cy="1463040"/>
          </a:xfrm>
          <a:prstGeom prst="rect">
            <a:avLst/>
          </a:prstGeom>
          <a:solidFill>
            <a:srgbClr val="8B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PAGothic"/>
              </a:rPr>
              <a:t>PHASE 1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IPAGothic"/>
              </a:rPr>
              <a:t>開業前3〜6ヶ月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774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IPAGothic"/>
              </a:rPr>
              <a:t>外部SNSコンサル起用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IPAGothic"/>
              </a:rPr>
              <a:t>スタートダッシュ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645920"/>
            <a:ext cx="3657600" cy="1463040"/>
          </a:xfrm>
          <a:prstGeom prst="rect">
            <a:avLst/>
          </a:prstGeom>
          <a:solidFill>
            <a:srgbClr val="C4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6916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PAGothic"/>
              </a:rPr>
              <a:t>PHASE 2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IPAGothic"/>
              </a:rPr>
              <a:t>Y1〜Y2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3774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IPAGothic"/>
              </a:rPr>
              <a:t>内製移行＋毎日トレンドリサーチ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IPAGothic"/>
              </a:rPr>
              <a:t>コンテンツ量産体制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645920"/>
            <a:ext cx="3657600" cy="146304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6916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PAGothic"/>
              </a:rPr>
              <a:t>PHASE 3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IPAGothic"/>
              </a:rPr>
              <a:t>Y3〜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3774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IPAGothic"/>
              </a:rPr>
              <a:t>SNS事業部外販スタート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IPAGothic"/>
              </a:rPr>
              <a:t>然グループが証明した手法を商品化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37560"/>
            <a:ext cx="2743200" cy="384048"/>
          </a:xfrm>
          <a:prstGeom prst="rect">
            <a:avLst/>
          </a:prstGeom>
          <a:solidFill>
            <a:srgbClr val="8B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364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PAGothic"/>
              </a:rPr>
              <a:t>YouTube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767328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IPAGothic"/>
              </a:rPr>
              <a:t>然グループ公式チャンネル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IPAGothic"/>
              </a:rPr>
              <a:t>仕込み・料理動画・代表ブログ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IPAGothic"/>
              </a:rPr>
              <a:t>発酵・出汁の解説コンテンツ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IPAGothic"/>
              </a:rPr>
              <a:t>→ チャンネル登録→来店転換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3337560"/>
            <a:ext cx="2743200" cy="384048"/>
          </a:xfrm>
          <a:prstGeom prst="rect">
            <a:avLst/>
          </a:prstGeom>
          <a:solidFill>
            <a:srgbClr val="C4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3364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PAGothic"/>
              </a:rPr>
              <a:t>Instagram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767328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IPAGothic"/>
              </a:rPr>
              <a:t>ブランド別アカウント＋統合アカウント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IPAGothic"/>
              </a:rPr>
              <a:t>出汁の湯気・炭火の煙=映えコンテンツ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IPAGothic"/>
              </a:rPr>
              <a:t>ストーリーズで日常・ビハインドシーン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IPAGothic"/>
              </a:rPr>
              <a:t>→ フォロワーをリザーブに誘導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337560"/>
            <a:ext cx="2743200" cy="384048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364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PAGothic"/>
              </a:rPr>
              <a:t>TikTok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67328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IPAGothic"/>
              </a:rPr>
              <a:t>短尺料理動画・発酵解説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IPAGothic"/>
              </a:rPr>
              <a:t>インバウンド向け多言語対応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IPAGothic"/>
              </a:rPr>
              <a:t>ハッシュタグ戦略でバズ狙い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IPAGothic"/>
              </a:rPr>
              <a:t>→ 若年層・外国人の来店促進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20" y="3337560"/>
            <a:ext cx="2743200" cy="384048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3364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PAGothic"/>
              </a:rPr>
              <a:t>Google / OTA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3767328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IPAGothic"/>
              </a:rPr>
              <a:t>Googleマップ口コミ管理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IPAGothic"/>
              </a:rPr>
              <a:t>食べログ・ぐるなびSEO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IPAGothic"/>
              </a:rPr>
              <a:t>Booking.com / Airbnb体験登録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IPAGothic"/>
              </a:rPr>
              <a:t>→ インバウンド流入確保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989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49A22"/>
                </a:solidFill>
                <a:latin typeface="IPAGothic"/>
              </a:rPr>
              <a:t>開業前コンサル費用 300万円を資金調達に組み込み済み → Y1からSNS集客を最大化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PAGothic"/>
              </a:rPr>
              <a:t>5カ年数値計画</a:t>
            </a:r>
          </a:p>
        </p:txBody>
      </p:sp>
      <p:pic>
        <p:nvPicPr>
          <p:cNvPr id="4" name="Picture 3" descr="zen_bran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5720"/>
            <a:ext cx="2103120" cy="74980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6858000" cy="38404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0" y="1005840"/>
          <a:ext cx="4572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PAGothic"/>
                        </a:rPr>
                        <a:t>年度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PAGothic"/>
                        </a:rPr>
                        <a:t>店舗数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PAGothic"/>
                        </a:rPr>
                        <a:t>月商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PAGothic"/>
                        </a:rPr>
                        <a:t>年商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Y1 2026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3店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1,200万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1.4億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Y2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9店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3,000万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3.6億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Y3 2028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22店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6,000万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7.2億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Y4 2029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35店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10,000万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12億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Y5 2030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55店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17,000万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20億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0" y="4206240"/>
            <a:ext cx="4572000" cy="640080"/>
          </a:xfrm>
          <a:prstGeom prst="rect">
            <a:avLst/>
          </a:prstGeom>
          <a:solidFill>
            <a:srgbClr val="C4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251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PAGothic"/>
              </a:rPr>
              <a:t>Year 5 目標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45262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PAGothic"/>
              </a:rPr>
              <a:t>年商 20億円  /  55店舗  /  EBITDA 6億円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074920"/>
            <a:ext cx="2743200" cy="1463040"/>
          </a:xfrm>
          <a:prstGeom prst="rect">
            <a:avLst/>
          </a:prstGeom>
          <a:solidFill>
            <a:srgbClr val="C4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5120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PAGothic"/>
              </a:rPr>
              <a:t>Y1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5778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PAGothic"/>
              </a:rPr>
              <a:t>だし然・蕎麦然1号店開業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5074920"/>
            <a:ext cx="2743200" cy="1463040"/>
          </a:xfrm>
          <a:prstGeom prst="rect">
            <a:avLst/>
          </a:prstGeom>
          <a:solidFill>
            <a:srgbClr val="8B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5120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49A22"/>
                </a:solidFill>
                <a:latin typeface="IPAGothic"/>
              </a:rPr>
              <a:t>Y2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55778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PAGothic"/>
              </a:rPr>
              <a:t>FC展開開始・肉酒場然2号店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5074920"/>
            <a:ext cx="2743200" cy="14630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5120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49A22"/>
                </a:solidFill>
                <a:latin typeface="IPAGothic"/>
              </a:rPr>
              <a:t>Y3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5778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PAGothic"/>
              </a:rPr>
              <a:t>関西進出・SNS事業部外販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5074920"/>
            <a:ext cx="2743200" cy="146304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5120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49A22"/>
                </a:solidFill>
                <a:latin typeface="IPAGothic"/>
              </a:rPr>
              <a:t>Y5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55778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PAGothic"/>
              </a:rPr>
              <a:t>55店舗・年商20億・EXIT準備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PAGothic"/>
              </a:rPr>
              <a:t>収益モデルサマリー  ─  グループ損益と成長ストック</a:t>
            </a:r>
          </a:p>
        </p:txBody>
      </p:sp>
      <p:pic>
        <p:nvPicPr>
          <p:cNvPr id="4" name="Picture 3" descr="zen_bran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5720"/>
            <a:ext cx="2103120" cy="74980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669280" cy="283464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1005840"/>
          <a:ext cx="59436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/>
                <a:gridCol w="990600"/>
                <a:gridCol w="990600"/>
                <a:gridCol w="990600"/>
                <a:gridCol w="990600"/>
                <a:gridCol w="99060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PAGothic"/>
                        </a:rPr>
                        <a:t>ブランド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PAGothic"/>
                        </a:rPr>
                        <a:t>月次売上/店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PAGothic"/>
                        </a:rPr>
                        <a:t>利益率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PAGothic"/>
                        </a:rPr>
                        <a:t>1店月次利益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PAGothic"/>
                        </a:rPr>
                        <a:t>目標店舗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PAGothic"/>
                        </a:rPr>
                        <a:t>グループ月次利益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だし 然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960万円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15%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144万円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20店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2,880万円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肉酒場 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1,200万円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200万円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5店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1,000万円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蕎麦 然（小型）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350万円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20%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70万円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30店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2,100万円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SNS事業部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83万円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83万円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合計（安定期）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─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─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─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55店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6,063万円〜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4023360"/>
            <a:ext cx="11612880" cy="347472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05993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PAGothic"/>
              </a:rPr>
              <a:t>収益構造のポイント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4074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Y1 グループ月次売上：約2,510万円（利益率約17%、月次利益約418万円）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548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FCロイヤルティはFC40店規模で月1,296万円のストック収益（安定成長）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1023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成長フェーズ（Y3〜）で利益率が改善：規模の経済＋仕入共通化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449824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直営利益＋FCロイヤルティの二重収益でリスク分散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PAGothic"/>
              </a:rPr>
              <a:t>グループ 事業計画 P&amp;L  ─  5カ年損益計画</a:t>
            </a:r>
          </a:p>
        </p:txBody>
      </p:sp>
      <p:pic>
        <p:nvPicPr>
          <p:cNvPr id="4" name="Picture 3" descr="zen_bran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5720"/>
            <a:ext cx="2103120" cy="74980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65376"/>
                <a:gridCol w="1865376"/>
                <a:gridCol w="1865376"/>
                <a:gridCol w="1865376"/>
                <a:gridCol w="1865376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PAGothic"/>
                        </a:rPr>
                        <a:t/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PAGothic"/>
                        </a:rPr>
                        <a:t>Y1 2026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PAGothic"/>
                        </a:rPr>
                        <a:t>Y2 2027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PAGothic"/>
                        </a:rPr>
                        <a:t>Y3 2028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PAGothic"/>
                        </a:rPr>
                        <a:t>Y4 2029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PAGothic"/>
                        </a:rPr>
                        <a:t>Y5 2030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売上高（万円）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14,000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36,000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72,000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120,000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200,000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　売上原価（31%）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▲4,340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▲11,160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▲22,320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▲37,200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▲62,000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IPAGothic"/>
                        </a:rPr>
                        <a:t>売上総利益</a:t>
                      </a:r>
                    </a:p>
                  </a:txBody>
                  <a:tcPr>
                    <a:solidFill>
                      <a:srgbClr val="E8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IPAGothic"/>
                        </a:rPr>
                        <a:t>9,660</a:t>
                      </a:r>
                    </a:p>
                  </a:txBody>
                  <a:tcPr>
                    <a:solidFill>
                      <a:srgbClr val="E8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IPAGothic"/>
                        </a:rPr>
                        <a:t>24,840</a:t>
                      </a:r>
                    </a:p>
                  </a:txBody>
                  <a:tcPr>
                    <a:solidFill>
                      <a:srgbClr val="E8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IPAGothic"/>
                        </a:rPr>
                        <a:t>49,680</a:t>
                      </a:r>
                    </a:p>
                  </a:txBody>
                  <a:tcPr>
                    <a:solidFill>
                      <a:srgbClr val="E8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IPAGothic"/>
                        </a:rPr>
                        <a:t>82,800</a:t>
                      </a:r>
                    </a:p>
                  </a:txBody>
                  <a:tcPr>
                    <a:solidFill>
                      <a:srgbClr val="E8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IPAGothic"/>
                        </a:rPr>
                        <a:t>138,000</a:t>
                      </a:r>
                    </a:p>
                  </a:txBody>
                  <a:tcPr>
                    <a:solidFill>
                      <a:srgbClr val="E8F4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　粗利率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　人件費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▲3,500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▲8,500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▲16,000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▲26,000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▲42,000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　家賃合計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▲1,500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▲3,600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▲7,200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▲11,000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▲17,000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　その他（光熱費等）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▲2,400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▲5,600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▲11,600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▲18,000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▲31,000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IPAGothic"/>
                        </a:rPr>
                        <a:t>EBITDA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PAGothic"/>
                        </a:rPr>
                        <a:t>2,260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PAGothic"/>
                        </a:rPr>
                        <a:t>7,140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PAGothic"/>
                        </a:rPr>
                        <a:t>14,880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PAGothic"/>
                        </a:rPr>
                        <a:t>27,800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PAGothic"/>
                        </a:rPr>
                        <a:t>48,000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EBITDA率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16%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20%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21%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23%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IPAGothic"/>
                        </a:rPr>
                        <a:t>24%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303520"/>
            <a:ext cx="1161288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PAGothic"/>
              </a:rPr>
              <a:t>キャッシュフロー計画</a:t>
            </a:r>
          </a:p>
        </p:txBody>
      </p:sp>
      <p:pic>
        <p:nvPicPr>
          <p:cNvPr id="4" name="Picture 3" descr="zen_bran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5720"/>
            <a:ext cx="2103120" cy="74980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6858000" cy="32004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0" y="1005840"/>
          <a:ext cx="4754876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268"/>
                <a:gridCol w="679268"/>
                <a:gridCol w="679268"/>
                <a:gridCol w="679268"/>
                <a:gridCol w="679268"/>
                <a:gridCol w="679268"/>
                <a:gridCol w="67926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PAGothic"/>
                        </a:rPr>
                        <a:t/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PAGothic"/>
                        </a:rPr>
                        <a:t>調達時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PAGothic"/>
                        </a:rPr>
                        <a:t>Y1末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PAGothic"/>
                        </a:rPr>
                        <a:t>Y2末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PAGothic"/>
                        </a:rPr>
                        <a:t>Y3末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PAGothic"/>
                        </a:rPr>
                        <a:t>Y4末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PAGothic"/>
                        </a:rPr>
                        <a:t>Y5末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営業CF（万円）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─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+2,600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+7,500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+15,000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+28,000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+48,000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投資CF（万円）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▲3,800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▲1,000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▲5,000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▲8,000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▲10,000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▲5,000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純CF（万円）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+3,800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+1,600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+2,500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+7,000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+18,000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+43,000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累計CF（万円）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3,800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5,400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7,900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14,900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32,900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IPAGothic"/>
                        </a:rPr>
                        <a:t>75,900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132320" y="3474720"/>
            <a:ext cx="4754880" cy="347472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351129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PAGothic"/>
              </a:rPr>
              <a:t>CFのポイント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38587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資金調達3,800万を起点にY1末で累計CF黒字転換（返済原資確保）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4206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Y2: FC展開への投資5,000万は営業CF7,140万の範囲内でまかなえる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45537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Y3以降: 投資超過分もFCロイヤルティ等のストック収益で補填、累計CFが急拡大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490118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▸ Y5末: 累計CF 7.5億円 → 配当・EXIT・追加投資の原資として十分な水準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389120"/>
            <a:ext cx="6675120" cy="2194560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43484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4A3E"/>
                </a:solidFill>
                <a:latin typeface="IPAGothic"/>
              </a:rPr>
              <a:t>■ Y1 月次CF イメージ（肉酒場然・稼働済み前提）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46320"/>
            <a:ext cx="6492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IPAGothic"/>
              </a:rPr>
              <a:t>月1〜3：肉酒場然のみ稼働 → 月次CF +100〜150万（立ち上げ費用除く）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IPAGothic"/>
              </a:rPr>
              <a:t>月4〜6：だし然 開業 → 月次CF +200〜280万（稼働率70%）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IPAGothic"/>
              </a:rPr>
              <a:t>月7〜：蕎麦然 開業 → 月次CF +350〜430万（3ブランド揃い踏み）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IPAGothic"/>
              </a:rPr>
              <a:t>Y1末時点：累計CF（資金調達後）約5,400万 → BEP到達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PAGothic"/>
              </a:rPr>
              <a:t>資金調達計画</a:t>
            </a:r>
          </a:p>
        </p:txBody>
      </p:sp>
      <p:pic>
        <p:nvPicPr>
          <p:cNvPr id="4" name="Picture 3" descr="zen_bran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5720"/>
            <a:ext cx="2103120" cy="7498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" y="1005840"/>
            <a:ext cx="4114800" cy="118872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PAGothic"/>
              </a:rPr>
              <a:t>第1回 調達目標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49A22"/>
                </a:solidFill>
                <a:latin typeface="IPAGothic"/>
              </a:rPr>
              <a:t>3,800万円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05840"/>
            <a:ext cx="7223760" cy="1188720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23444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4A3E"/>
                </a:solidFill>
                <a:latin typeface="IPAGothic"/>
              </a:rPr>
              <a:t>調達方法：日本政策金融公庫 ＋ エンジェル投資家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9164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PAGothic"/>
              </a:rPr>
              <a:t>第2回（Y2〜3）：1〜2億円  /  VC・事業会社提携  /  FC加速・関西展開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2377440"/>
          <a:ext cx="11612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PAGothic"/>
                        </a:rPr>
                        <a:t>用途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PAGothic"/>
                        </a:rPr>
                        <a:t>金額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PAGothic"/>
                        </a:rPr>
                        <a:t>内訳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だし 然 1号店 開業費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2,000万円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内装900万＋厨房450万＋敷金（60万×3ヶ月）＋運転資金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蕎麦 然 1号店 開業費（8坪）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800万円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内装250万＋設備200万＋敷金（45万×6ヶ月）＋運転資金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SNSコンサル・スタートダッシュ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300万円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外部コンサル起用・開業前3〜6ヶ月集中投資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人材採用・研修費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300万円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店長・料理長採用・マニュアル・研修体制構築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運転資金・予備費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400万円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グループ管理・広告・オープン販促・予備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合計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3,800万円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74320" y="5120640"/>
            <a:ext cx="11612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IPAGothic"/>
              </a:rPr>
              <a:t>■ 投資家へのリターンイメージ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IPAGothic"/>
              </a:rPr>
              <a:t>・Y1〜2：初期投資回収フェーズ。各店舗の安定稼働と収益基盤の構築に集中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IPAGothic"/>
              </a:rPr>
              <a:t>・Y3以降：FCスケールで利益率が改善。EBITDA1.8億円（月商6,000万）で成長が加速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IPAGothic"/>
              </a:rPr>
              <a:t>・Y5：年商20億円・EBITDA6億円  →  EXIT（M&amp;A or IPO）を視野に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IPAGothic"/>
              </a:rPr>
              <a:t>・FCロイヤルティ収入はストック型のため、EXIT評価倍率向上に寄与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PAGothic"/>
              </a:rPr>
              <a:t>リスクと対策</a:t>
            </a:r>
          </a:p>
        </p:txBody>
      </p:sp>
      <p:pic>
        <p:nvPicPr>
          <p:cNvPr id="4" name="Picture 3" descr="zen_bran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5720"/>
            <a:ext cx="2103120" cy="74980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PAGothic"/>
                        </a:rPr>
                        <a:t>リスク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PAGothic"/>
                        </a:rPr>
                        <a:t>影響度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PAGothic"/>
                        </a:rPr>
                        <a:t>発生確率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PAGothic"/>
                        </a:rPr>
                        <a:t>対策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物件取得競争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高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中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不動産仲介との早期リレーション・複数候補常時確保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FC加盟店の品質低下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SV制度・月次研修・本部仕入れで品質統一・契約解除条項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インバウンド需要の変動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中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中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ランチ（国内需要）でベース売上確保・円安依存排除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人材採用難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SNSブランディングで「働きたい会社」化・利益還元・待遇改善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出汁素材の調達リスク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低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低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複数サプライヤーと年間契約・輸入品との組合せで安定化</a:t>
                      </a:r>
                    </a:p>
                  </a:txBody>
                  <a:tcPr>
                    <a:solidFill>
                      <a:srgbClr val="F0EEE8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競合参入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IPAGothic"/>
                        </a:rPr>
                        <a:t>先行出店・ブランド確立・FC網を早期に張る先行者利益戦略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4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IPAGothic"/>
              </a:rPr>
              <a:t>然グループ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49A22"/>
                </a:solidFill>
                <a:latin typeface="IPAGothic"/>
              </a:rPr>
              <a:t>ZEN 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200400"/>
            <a:ext cx="6400800" cy="36576"/>
          </a:xfrm>
          <a:prstGeom prst="rect">
            <a:avLst/>
          </a:prstGeom>
          <a:solidFill>
            <a:srgbClr val="C4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49A22"/>
                </a:solidFill>
                <a:latin typeface="IPAGothic"/>
              </a:rPr>
              <a:t>食の全シーンに、然を。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114800"/>
            <a:ext cx="6400800" cy="1828800"/>
          </a:xfrm>
          <a:prstGeom prst="rect">
            <a:avLst/>
          </a:prstGeom>
          <a:solidFill>
            <a:srgbClr val="1E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42062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PAGothic"/>
              </a:rPr>
              <a:t>然グループ 事業企画室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470916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EEE8"/>
                </a:solidFill>
                <a:latin typeface="IPAGothic"/>
              </a:rPr>
              <a:t>Email：＿＿＿＿＿＿＿＿＿＿＿＿＿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512064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EEE8"/>
                </a:solidFill>
                <a:latin typeface="IPAGothic"/>
              </a:rPr>
              <a:t>Tel：＿＿＿＿＿＿＿＿＿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49A22"/>
                </a:solidFill>
                <a:latin typeface="IPAGothic"/>
              </a:rPr>
              <a:t>本資料は機密情報を含みます。無断転載・配布を禁じます。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