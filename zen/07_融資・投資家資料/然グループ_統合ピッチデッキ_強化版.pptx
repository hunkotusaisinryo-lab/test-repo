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4.png"/><Relationship Id="rId4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10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1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1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1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ZEN_GROUP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" y="1645920"/>
            <a:ext cx="3931920" cy="1188720"/>
          </a:xfrm>
          <a:prstGeom prst="rect">
            <a:avLst/>
          </a:prstGeom>
        </p:spPr>
      </p:pic>
      <p:pic>
        <p:nvPicPr>
          <p:cNvPr id="4" name="Picture 3" descr="ZEN_DASHI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3017520"/>
            <a:ext cx="3566160" cy="868680"/>
          </a:xfrm>
          <a:prstGeom prst="rect">
            <a:avLst/>
          </a:prstGeom>
        </p:spPr>
      </p:pic>
      <p:pic>
        <p:nvPicPr>
          <p:cNvPr id="5" name="Picture 4" descr="ZEN_NIKU_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4320" y="4023360"/>
            <a:ext cx="3566160" cy="868680"/>
          </a:xfrm>
          <a:prstGeom prst="rect">
            <a:avLst/>
          </a:prstGeom>
        </p:spPr>
      </p:pic>
      <p:pic>
        <p:nvPicPr>
          <p:cNvPr id="6" name="Picture 5" descr="ZEN_SOBA_LOG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4320" y="5029200"/>
            <a:ext cx="3566160" cy="8686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0" y="598932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F0EEE8"/>
                </a:solidFill>
                <a:latin typeface="IPAGothic"/>
              </a:rPr>
              <a:t>ZEN BRAND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097280"/>
            <a:ext cx="71323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2C4A3E"/>
                </a:solidFill>
                <a:latin typeface="IPAGothic"/>
              </a:rPr>
              <a:t>然グループ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94560"/>
            <a:ext cx="7132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1A1A1A"/>
                </a:solidFill>
                <a:latin typeface="IPAGothic"/>
              </a:rPr>
              <a:t>事業説明資料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0" y="3108960"/>
            <a:ext cx="5943600" cy="36576"/>
          </a:xfrm>
          <a:prstGeom prst="rect">
            <a:avLst/>
          </a:prstGeom>
          <a:solidFill>
            <a:srgbClr val="C49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0" y="3291840"/>
            <a:ext cx="7132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1">
                <a:solidFill>
                  <a:srgbClr val="C49A22"/>
                </a:solidFill>
                <a:latin typeface="IPAGothic"/>
              </a:rPr>
              <a:t>食の全シーンに、然を。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4114800"/>
            <a:ext cx="7132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  <a:latin typeface="IPAGothic"/>
              </a:rPr>
              <a:t>然グループ 事業企画室</a:t>
            </a:r>
          </a:p>
          <a:p>
            <a:pPr algn="l"/>
            <a:r>
              <a:rPr sz="1400" b="0">
                <a:solidFill>
                  <a:srgbClr val="1A1A1A"/>
                </a:solidFill>
                <a:latin typeface="IPAGothic"/>
              </a:rPr>
              <a:t>2026年7月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0" y="5120640"/>
            <a:ext cx="320040" cy="320040"/>
          </a:xfrm>
          <a:prstGeom prst="rect">
            <a:avLst/>
          </a:prstGeom>
          <a:solidFill>
            <a:srgbClr val="C49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0" y="5120640"/>
            <a:ext cx="320040" cy="320040"/>
          </a:xfrm>
          <a:prstGeom prst="rect">
            <a:avLst/>
          </a:prstGeom>
          <a:solidFill>
            <a:srgbClr val="8B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0" y="5120640"/>
            <a:ext cx="320040" cy="320040"/>
          </a:xfrm>
          <a:prstGeom prst="rect">
            <a:avLst/>
          </a:prstGeom>
          <a:solidFill>
            <a:srgbClr val="1A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26480" y="51206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1A"/>
                </a:solidFill>
                <a:latin typeface="IPAGothic"/>
              </a:rPr>
              <a:t>だし然  ／  肉酒場然  ／  蕎麦然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74320" y="6565392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IPAGothic"/>
              </a:rPr>
              <a:t>Confidential  ─  然グループ Internal Document  ─  無断転載禁止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96012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IPAGothic"/>
              </a:rPr>
              <a:t>グループビジョン</a:t>
            </a:r>
          </a:p>
        </p:txBody>
      </p:sp>
      <p:pic>
        <p:nvPicPr>
          <p:cNvPr id="4" name="Picture 3" descr="zen_bran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45720"/>
            <a:ext cx="2103120" cy="749808"/>
          </a:xfrm>
          <a:prstGeom prst="rect">
            <a:avLst/>
          </a:prstGeom>
        </p:spPr>
      </p:pic>
      <p:pic>
        <p:nvPicPr>
          <p:cNvPr id="5" name="Picture 4" descr="zen_bran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45720"/>
            <a:ext cx="2103120" cy="74980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14400" y="100584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2C4A3E"/>
                </a:solidFill>
                <a:latin typeface="IPAGothic"/>
              </a:rPr>
              <a:t>「食の全シーンに、然を。」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8288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1">
                <a:solidFill>
                  <a:srgbClr val="C49A22"/>
                </a:solidFill>
                <a:latin typeface="IPAGothic"/>
              </a:rPr>
              <a:t>日本の「だし・発酵・素材」文化を現代の食卓とビジネスに再定義する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2560320"/>
            <a:ext cx="3657600" cy="3931920"/>
          </a:xfrm>
          <a:prstGeom prst="rect">
            <a:avLst/>
          </a:prstGeom>
          <a:solidFill>
            <a:srgbClr val="C49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2651760"/>
            <a:ext cx="3657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IPAGothic"/>
              </a:rPr>
              <a:t>然 出汁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2461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FFFFFF"/>
                </a:solidFill>
                <a:latin typeface="IPAGothic"/>
              </a:rPr>
              <a:t>ZEN DASHI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611880"/>
            <a:ext cx="3108960" cy="274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3703320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IPAGothic"/>
              </a:rPr>
              <a:t>だしダイニング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114800"/>
            <a:ext cx="32918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IPAGothic"/>
              </a:rPr>
              <a:t>出汁体験×インバウンド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IPAGothic"/>
              </a:rPr>
              <a:t>ランチ定食＋体験ディナー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IPAGothic"/>
              </a:rPr>
              <a:t>客単価 1,800〜9,000円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97680" y="2560320"/>
            <a:ext cx="3657600" cy="3931920"/>
          </a:xfrm>
          <a:prstGeom prst="rect">
            <a:avLst/>
          </a:prstGeom>
          <a:solidFill>
            <a:srgbClr val="8B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97680" y="2651760"/>
            <a:ext cx="3657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IPAGothic"/>
              </a:rPr>
              <a:t>然 肉と発酵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97680" y="32461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FFFFFF"/>
                </a:solidFill>
                <a:latin typeface="IPAGothic"/>
              </a:rPr>
              <a:t>ZEN NIKU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0" y="3611880"/>
            <a:ext cx="3108960" cy="274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89120" y="3703320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IPAGothic"/>
              </a:rPr>
              <a:t>炭火と発酵の居酒屋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80560" y="4114800"/>
            <a:ext cx="32918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IPAGothic"/>
              </a:rPr>
              <a:t>発酵×炭火グリル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IPAGothic"/>
              </a:rPr>
              <a:t>本格居酒屋体験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IPAGothic"/>
              </a:rPr>
              <a:t>客単価 4,000〜6,000円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0" y="2560320"/>
            <a:ext cx="3657600" cy="3931920"/>
          </a:xfrm>
          <a:prstGeom prst="rect">
            <a:avLst/>
          </a:prstGeom>
          <a:solidFill>
            <a:srgbClr val="1A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0" y="2651760"/>
            <a:ext cx="3657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IPAGothic"/>
              </a:rPr>
              <a:t>然 立ちそば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0" y="32461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FFFFFF"/>
                </a:solidFill>
                <a:latin typeface="IPAGothic"/>
              </a:rPr>
              <a:t>ZEN SOBA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503920" y="3611880"/>
            <a:ext cx="3108960" cy="274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321040" y="3703320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IPAGothic"/>
              </a:rPr>
              <a:t>現代的な立ち食いそば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12480" y="4114800"/>
            <a:ext cx="32918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IPAGothic"/>
              </a:rPr>
              <a:t>2分提供・FC展開特化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IPAGothic"/>
              </a:rPr>
              <a:t>駅前・オフィス街</a:t>
            </a:r>
          </a:p>
          <a:p>
            <a:pPr algn="ctr"/>
            <a:r>
              <a:rPr sz="1200" b="0">
                <a:solidFill>
                  <a:srgbClr val="FFFFFF"/>
                </a:solidFill>
                <a:latin typeface="IPAGothic"/>
              </a:rPr>
              <a:t>客単価 1,500円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96012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IPAGothic"/>
              </a:rPr>
              <a:t>市場機会  ─  なぜ今か</a:t>
            </a:r>
          </a:p>
        </p:txBody>
      </p:sp>
      <p:pic>
        <p:nvPicPr>
          <p:cNvPr id="4" name="Picture 3" descr="zen_bran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45720"/>
            <a:ext cx="2103120" cy="749808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274320" y="1005840"/>
            <a:ext cx="2651760" cy="118872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078992"/>
            <a:ext cx="2651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C49A22"/>
                </a:solidFill>
                <a:latin typeface="IPAGothic"/>
              </a:rPr>
              <a:t>25兆円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1627632"/>
            <a:ext cx="2651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IPAGothic"/>
              </a:rPr>
              <a:t>国内外食産業
市場規模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0" y="1005840"/>
            <a:ext cx="2651760" cy="1188720"/>
          </a:xfrm>
          <a:prstGeom prst="rect">
            <a:avLst/>
          </a:prstGeom>
          <a:solidFill>
            <a:srgbClr val="C49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0" y="1078992"/>
            <a:ext cx="2651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C49A22"/>
                </a:solidFill>
                <a:latin typeface="IPAGothic"/>
              </a:rPr>
              <a:t>4.3兆円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0" y="1627632"/>
            <a:ext cx="2651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IPAGothic"/>
              </a:rPr>
              <a:t>インバウンド消費
（2025年実績）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26480" y="1005840"/>
            <a:ext cx="2651760" cy="1188720"/>
          </a:xfrm>
          <a:prstGeom prst="rect">
            <a:avLst/>
          </a:prstGeom>
          <a:solidFill>
            <a:srgbClr val="8B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26480" y="1078992"/>
            <a:ext cx="2651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C49A22"/>
                </a:solidFill>
                <a:latin typeface="IPAGothic"/>
              </a:rPr>
              <a:t>3,188万人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1627632"/>
            <a:ext cx="2651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IPAGothic"/>
              </a:rPr>
              <a:t>訪日外国人数
（過去最高水準）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052560" y="1005840"/>
            <a:ext cx="2651760" cy="1188720"/>
          </a:xfrm>
          <a:prstGeom prst="rect">
            <a:avLst/>
          </a:prstGeom>
          <a:solidFill>
            <a:srgbClr val="1A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052560" y="1078992"/>
            <a:ext cx="2651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C49A22"/>
                </a:solidFill>
                <a:latin typeface="IPAGothic"/>
              </a:rPr>
              <a:t>68%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52560" y="1627632"/>
            <a:ext cx="2651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IPAGothic"/>
              </a:rPr>
              <a:t>健康志向食品市場
過去5年成長率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4320" y="2468880"/>
            <a:ext cx="5669280" cy="347472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5760" y="2505456"/>
            <a:ext cx="5486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IPAGothic"/>
              </a:rPr>
              <a:t>追い風トレンド（国内）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2852928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外食産業はコロナ後の回復を超え、2030年に向けて成長軌道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3200400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インバウンド旅行者の「本物の日本食体験」需要が急拡大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3547872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発酵食品・出汁・和食の健康志向は国内外で加速中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3895344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立ち食い・スタンド業態：コスパ・時短ニーズで拡大継続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17920" y="2468880"/>
            <a:ext cx="5669280" cy="347472"/>
          </a:xfrm>
          <a:prstGeom prst="rect">
            <a:avLst/>
          </a:prstGeom>
          <a:solidFill>
            <a:srgbClr val="C49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2505456"/>
            <a:ext cx="5486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IPAGothic"/>
              </a:rPr>
              <a:t>追い風トレンド（市場環境）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2852928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飲食FC市場：初期投資の軽さから加盟希望者が増加傾向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0" y="3200400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SNSによる集客格差が顕在化（勝者総取り化が進行）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09360" y="3547872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円安継続→外国人の日本食消費単価は上昇トレンド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9360" y="3895344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2030年大阪万博：関西インバウンド需要の更なる拡大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4320" y="5989320"/>
            <a:ext cx="11612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2C4A3E"/>
                </a:solidFill>
                <a:latin typeface="IPAGothic"/>
              </a:rPr>
              <a:t>→ だし・発酵・素材こだわり × FC展開 × インバウンド対応 ── この3軸が同時に刺さる市場環境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96012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IPAGothic"/>
              </a:rPr>
              <a:t>然グループ  全体像</a:t>
            </a:r>
          </a:p>
        </p:txBody>
      </p:sp>
      <p:pic>
        <p:nvPicPr>
          <p:cNvPr id="4" name="Picture 3" descr="zen_bran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45720"/>
            <a:ext cx="2103120" cy="749808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74320" y="1005840"/>
          <a:ext cx="1161288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35480"/>
                <a:gridCol w="1935480"/>
                <a:gridCol w="1935480"/>
                <a:gridCol w="1935480"/>
                <a:gridCol w="1935480"/>
                <a:gridCol w="1935480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IPAGothic"/>
                        </a:rPr>
                        <a:t>ブランド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IPAGothic"/>
                        </a:rPr>
                        <a:t>業態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IPAGothic"/>
                        </a:rPr>
                        <a:t>月次売上/店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IPAGothic"/>
                        </a:rPr>
                        <a:t>利益率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IPAGothic"/>
                        </a:rPr>
                        <a:t>家賃/月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IPAGothic"/>
                        </a:rPr>
                        <a:t>月次利益/店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然 出汁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出汁定食・体験ディナー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960万円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15%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60万円（25坪）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144万円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然 肉と発酵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炭火コース＋宴会居酒屋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1,200万円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17%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80万円（38坪）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204万円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然 立ちそば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立ち食い蕎麦（8坪・小型）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350万円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20%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45万円（8坪）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70万円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SNS事業部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飲食特化SNSコンサル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月9.8〜39.8万円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83万円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274320" y="352044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C4A3E"/>
                </a:solidFill>
                <a:latin typeface="IPAGothic"/>
              </a:rPr>
              <a:t>食の時間帯フルカバー戦略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3977639"/>
            <a:ext cx="3657600" cy="502920"/>
          </a:xfrm>
          <a:prstGeom prst="rect">
            <a:avLst/>
          </a:prstGeom>
          <a:solidFill>
            <a:srgbClr val="1A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4005072"/>
            <a:ext cx="3657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IPAGothic"/>
              </a:rPr>
              <a:t>蕎麦 然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4297680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IPAGothic"/>
              </a:rPr>
              <a:t>11:00〜15:00 ランチ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06240" y="3977639"/>
            <a:ext cx="3657600" cy="502920"/>
          </a:xfrm>
          <a:prstGeom prst="rect">
            <a:avLst/>
          </a:prstGeom>
          <a:solidFill>
            <a:srgbClr val="C49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06240" y="4005072"/>
            <a:ext cx="3657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IPAGothic"/>
              </a:rPr>
              <a:t>だし 然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06240" y="4297680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IPAGothic"/>
              </a:rPr>
              <a:t>11:30〜22:00 ランチ〜ディナー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38160" y="3977639"/>
            <a:ext cx="3657600" cy="502920"/>
          </a:xfrm>
          <a:prstGeom prst="rect">
            <a:avLst/>
          </a:prstGeom>
          <a:solidFill>
            <a:srgbClr val="8B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38160" y="4005072"/>
            <a:ext cx="3657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IPAGothic"/>
              </a:rPr>
              <a:t>肉酒場 然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38160" y="4297680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IPAGothic"/>
              </a:rPr>
              <a:t>17:00〜23:00 ディナー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4320" y="4663440"/>
            <a:ext cx="1161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C49A22"/>
                </a:solidFill>
                <a:latin typeface="IPAGothic"/>
              </a:rPr>
              <a:t>→ 全時間帯をカバーし、顧客をグループ内で回遊させる「然エコシステム」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4320" y="5166360"/>
            <a:ext cx="2743200" cy="137160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74320" y="5230368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C49A22"/>
                </a:solidFill>
                <a:latin typeface="IPAGothic"/>
              </a:rPr>
              <a:t>出汁共通仕入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4320" y="5669280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IPAGothic"/>
              </a:rPr>
              <a:t>原価率1〜2%改善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200400" y="5166360"/>
            <a:ext cx="2743200" cy="137160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200400" y="5230368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C49A22"/>
                </a:solidFill>
                <a:latin typeface="IPAGothic"/>
              </a:rPr>
              <a:t>然カード会員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00400" y="5669280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IPAGothic"/>
              </a:rPr>
              <a:t>グループ内回遊促進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26480" y="5166360"/>
            <a:ext cx="2743200" cy="137160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126480" y="5230368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C49A22"/>
                </a:solidFill>
                <a:latin typeface="IPAGothic"/>
              </a:rPr>
              <a:t>SNS内製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26480" y="5669280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IPAGothic"/>
              </a:rPr>
              <a:t>広告費年300万削減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052560" y="5166360"/>
            <a:ext cx="2743200" cy="137160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052560" y="5230368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C49A22"/>
                </a:solidFill>
                <a:latin typeface="IPAGothic"/>
              </a:rPr>
              <a:t>FCクロスセル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52560" y="5669280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IPAGothic"/>
              </a:rPr>
              <a:t>SNS事業受注創出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C49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96012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IPAGothic"/>
              </a:rPr>
              <a:t>だし 然  ─  出汁体験レストラン</a:t>
            </a:r>
          </a:p>
        </p:txBody>
      </p:sp>
      <p:pic>
        <p:nvPicPr>
          <p:cNvPr id="4" name="Picture 3" descr="zen_bran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45720"/>
            <a:ext cx="2103120" cy="74980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100584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C49A22"/>
                </a:solidFill>
                <a:latin typeface="IPAGothic"/>
              </a:rPr>
              <a:t>「一杯の出汁が、今日を整える。」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645920"/>
            <a:ext cx="5669280" cy="347472"/>
          </a:xfrm>
          <a:prstGeom prst="rect">
            <a:avLst/>
          </a:prstGeom>
          <a:solidFill>
            <a:srgbClr val="C49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682496"/>
            <a:ext cx="5486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IPAGothic"/>
              </a:rPr>
              <a:t>ビジネスモデル（昼夜二毛作）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029968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昼：出汁定食 1,600〜1,900円 ／ 地元ワーカー向け 平日22日安定集客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2377440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夜：出汁しゃぶ・体験コース 8,000〜12,000円 ／ インバウンド向け体験型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2724912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昆布×本枯れ節×麹発酵のオリジナルブレンド出汁が核心差別化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3072384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25坪・34席（カウンター10席）・4ヶ国語対応・Alipay/WeChatPay導入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3419856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【家賃】60万円/月（25坪・坪2.4万）│ 原価33% │ 人件費28%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1645920"/>
            <a:ext cx="5669280" cy="347472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09360" y="1682496"/>
            <a:ext cx="5486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IPAGothic"/>
              </a:rPr>
              <a:t>展開計画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2029968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Phase1：東京直営 浅草・銀座・上野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60" y="2377440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Phase2：関西FC 京都祇園・大阪道頓堀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724912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Phase3：20店舗（直営5＋FC15）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3072384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Phase4：海外 台湾・シンガポール（DASHI ZEN）</a:t>
            </a:r>
          </a:p>
        </p:txBody>
      </p:sp>
      <p:pic>
        <p:nvPicPr>
          <p:cNvPr id="19" name="Picture 18" descr="ZEN_DASHI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5040" y="1600200"/>
            <a:ext cx="2560320" cy="640080"/>
          </a:xfrm>
          <a:prstGeom prst="rect">
            <a:avLst/>
          </a:prstGeom>
        </p:spPr>
      </p:pic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4320" y="3474720"/>
            <a:ext cx="5303520" cy="3017520"/>
          </a:xfrm>
          <a:prstGeom prst="rect">
            <a:avLst/>
          </a:prstGeom>
        </p:spPr>
      </p:pic>
      <p:sp>
        <p:nvSpPr>
          <p:cNvPr id="21" name="Rectangle 20"/>
          <p:cNvSpPr/>
          <p:nvPr/>
        </p:nvSpPr>
        <p:spPr>
          <a:xfrm>
            <a:off x="5852160" y="3474720"/>
            <a:ext cx="1371600" cy="91440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852160" y="3520440"/>
            <a:ext cx="1371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C49A22"/>
                </a:solidFill>
                <a:latin typeface="IPAGothic"/>
              </a:rPr>
              <a:t>960万円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852160" y="4041648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IPAGothic"/>
              </a:rPr>
              <a:t>月次売上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406640" y="3474720"/>
            <a:ext cx="1371600" cy="91440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406640" y="3520440"/>
            <a:ext cx="1371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C49A22"/>
                </a:solidFill>
                <a:latin typeface="IPAGothic"/>
              </a:rPr>
              <a:t>144万円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06640" y="4041648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IPAGothic"/>
              </a:rPr>
              <a:t>営業利益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961120" y="3474720"/>
            <a:ext cx="1371600" cy="91440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961120" y="3520440"/>
            <a:ext cx="1371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C49A22"/>
                </a:solidFill>
                <a:latin typeface="IPAGothic"/>
              </a:rPr>
              <a:t>15%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961120" y="4041648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IPAGothic"/>
              </a:rPr>
              <a:t>利益率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0515600" y="3474720"/>
            <a:ext cx="1371600" cy="91440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515600" y="3520440"/>
            <a:ext cx="1371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C49A22"/>
                </a:solidFill>
                <a:latin typeface="IPAGothic"/>
              </a:rPr>
              <a:t>18〜24ヶ月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515600" y="4041648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IPAGothic"/>
              </a:rPr>
              <a:t>投資回収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852160" y="4572000"/>
            <a:ext cx="6035040" cy="1920240"/>
          </a:xfrm>
          <a:prstGeom prst="rect">
            <a:avLst/>
          </a:prstGeom>
          <a:solidFill>
            <a:srgbClr val="F0E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943600" y="4617720"/>
            <a:ext cx="5852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C4A3E"/>
                </a:solidFill>
                <a:latin typeface="IPAGothic"/>
              </a:rPr>
              <a:t>FCモデル収益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943600" y="5029200"/>
            <a:ext cx="58521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IPAGothic"/>
              </a:rPr>
              <a:t>加盟金：300万円 ／ ロイヤルティ：売上の3%</a:t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IPAGothic"/>
              </a:rPr>
              <a:t>FC初期投資：3,200万円（標準）</a:t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IPAGothic"/>
              </a:rPr>
              <a:t>FC月次営業利益：約280万円</a:t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IPAGothic"/>
              </a:rPr>
              <a:t>FC投資回収期間：約20ヶ月</a:t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IPAGothic"/>
              </a:rPr>
              <a:t>本部ロイヤルティ収入：FC10店で月288万円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8B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96012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IPAGothic"/>
              </a:rPr>
              <a:t>然 肉と発酵  ─  炭火と発酵の居酒屋</a:t>
            </a:r>
          </a:p>
        </p:txBody>
      </p:sp>
      <p:pic>
        <p:nvPicPr>
          <p:cNvPr id="4" name="Picture 3" descr="zen_bran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45720"/>
            <a:ext cx="2103120" cy="74980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100584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8B2020"/>
                </a:solidFill>
                <a:latin typeface="IPAGothic"/>
              </a:rPr>
              <a:t>「発酵の香りと肉煙が満ちる、大人の隠れ酒場」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645920"/>
            <a:ext cx="5669280" cy="347472"/>
          </a:xfrm>
          <a:prstGeom prst="rect">
            <a:avLst/>
          </a:prstGeom>
          <a:solidFill>
            <a:srgbClr val="8B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682496"/>
            <a:ext cx="5486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IPAGothic"/>
              </a:rPr>
              <a:t>コンセプト・差別化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029968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38坪・55席（個室・半個室15席含む）で宴会需要を獲得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2377440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発酵肉（麹漬け・味噌漬け）を炭火グリルで「見せる」体験型設計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2724912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ディナーコース主体（8,000〜10,000円）＋平日ランチ炭火定食2,000円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3072384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日本酒・焼酎の発酵ペアリングでドリンク単価を底上げ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3419856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【家賃】80万円/月（38坪・坪2.1万）│ 原価35% │ 人件費27.5%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1645920"/>
            <a:ext cx="5669280" cy="347472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09360" y="1682496"/>
            <a:ext cx="5486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IPAGothic"/>
              </a:rPr>
              <a:t>戦略的位置づけ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2029968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然グループの「顔」かつ 発酵文化の発信基地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60" y="2377440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炭火・発酵器具がSNS映えコンテンツになる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724912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常連顧客育成で口コミによる自然集客を実現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3072384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SNS事業部との連動でブランド発信を内製化</a:t>
            </a:r>
          </a:p>
        </p:txBody>
      </p:sp>
      <p:pic>
        <p:nvPicPr>
          <p:cNvPr id="19" name="Picture 18" descr="ZEN_NIKU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5040" y="1600200"/>
            <a:ext cx="2560320" cy="640080"/>
          </a:xfrm>
          <a:prstGeom prst="rect">
            <a:avLst/>
          </a:prstGeom>
        </p:spPr>
      </p:pic>
      <p:sp>
        <p:nvSpPr>
          <p:cNvPr id="20" name="Rectangle 19"/>
          <p:cNvSpPr/>
          <p:nvPr/>
        </p:nvSpPr>
        <p:spPr>
          <a:xfrm>
            <a:off x="274320" y="4297680"/>
            <a:ext cx="2743200" cy="914400"/>
          </a:xfrm>
          <a:prstGeom prst="rect">
            <a:avLst/>
          </a:prstGeom>
          <a:solidFill>
            <a:srgbClr val="8B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74320" y="4343400"/>
            <a:ext cx="2743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C49A22"/>
                </a:solidFill>
                <a:latin typeface="IPAGothic"/>
              </a:rPr>
              <a:t>1,200万円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" y="4892040"/>
            <a:ext cx="2743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IPAGothic"/>
              </a:rPr>
              <a:t>月次売上目標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200400" y="4297680"/>
            <a:ext cx="2743200" cy="91440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200400" y="4343400"/>
            <a:ext cx="2743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C49A22"/>
                </a:solidFill>
                <a:latin typeface="IPAGothic"/>
              </a:rPr>
              <a:t>200万円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00400" y="4892040"/>
            <a:ext cx="2743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IPAGothic"/>
              </a:rPr>
              <a:t>月次営業利益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26480" y="4297680"/>
            <a:ext cx="2743200" cy="914400"/>
          </a:xfrm>
          <a:prstGeom prst="rect">
            <a:avLst/>
          </a:prstGeom>
          <a:solidFill>
            <a:srgbClr val="8B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26480" y="4343400"/>
            <a:ext cx="2743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C49A22"/>
                </a:solidFill>
                <a:latin typeface="IPAGothic"/>
              </a:rPr>
              <a:t>17%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126480" y="4892040"/>
            <a:ext cx="2743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IPAGothic"/>
              </a:rPr>
              <a:t>利益率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052560" y="4297680"/>
            <a:ext cx="2743200" cy="91440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052560" y="4343400"/>
            <a:ext cx="2743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C49A22"/>
                </a:solidFill>
                <a:latin typeface="IPAGothic"/>
              </a:rPr>
              <a:t>8,000〜10,000円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52560" y="4892040"/>
            <a:ext cx="2743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IPAGothic"/>
              </a:rPr>
              <a:t>客単価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74320" y="5440680"/>
            <a:ext cx="11612880" cy="347472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65760" y="5477256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IPAGothic"/>
              </a:rPr>
              <a:t>今後の展開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65760" y="5824728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2号店：東京都内（恵比寿・中目黒エリア）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5760" y="6172200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フラッグシップ店として然グループのブランド旗艦に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5760" y="6519672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将来的に大阪・福岡への直営拡大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1A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96012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IPAGothic"/>
              </a:rPr>
              <a:t>然 立ちそば  ─  現代的な立ち食いそばFC</a:t>
            </a:r>
          </a:p>
        </p:txBody>
      </p:sp>
      <p:pic>
        <p:nvPicPr>
          <p:cNvPr id="4" name="Picture 3" descr="zen_bran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45720"/>
            <a:ext cx="2103120" cy="74980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100584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A2A4A"/>
                </a:solidFill>
                <a:latin typeface="IPAGothic"/>
              </a:rPr>
              <a:t>「2分で届く、本物の蕎麦。」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645920"/>
            <a:ext cx="5669280" cy="347472"/>
          </a:xfrm>
          <a:prstGeom prst="rect">
            <a:avLst/>
          </a:prstGeom>
          <a:solidFill>
            <a:srgbClr val="1A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682496"/>
            <a:ext cx="5486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IPAGothic"/>
              </a:rPr>
              <a:t>業態設計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029968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8坪・8スタンド・1〜2人オペレーション（小型化）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2377440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客単価1,500円・回転時間12分・1日80〜90人集客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2724912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揚げたて天ぷら・北海道幌加内産蕎麦を使用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3072384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QR前払い・キャッシュレス100%で人件費最適化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3419856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【家賃】45万円/月（8坪・坪5.6万）│ 原価30% │ 人件費23%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1645920"/>
            <a:ext cx="5669280" cy="347472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09360" y="1682496"/>
            <a:ext cx="5486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IPAGothic"/>
              </a:rPr>
              <a:t>FC展開モデル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2029968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FC加盟金200万円・ロイヤルティ4%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60" y="2377440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標準内装パッケージで施工期間2ヶ月以内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724912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首都圏駅前・オフィス街から展開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3072384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小型化でFC初期投資を抑え加盟ハードルを下げる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3419856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目標：30店舗（直営3＋FC27）</a:t>
            </a:r>
          </a:p>
        </p:txBody>
      </p:sp>
      <p:pic>
        <p:nvPicPr>
          <p:cNvPr id="20" name="Picture 19" descr="ZEN_SOBA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5040" y="1600200"/>
            <a:ext cx="2560320" cy="640080"/>
          </a:xfrm>
          <a:prstGeom prst="rect">
            <a:avLst/>
          </a:prstGeom>
        </p:spPr>
      </p:pic>
      <p:pic>
        <p:nvPicPr>
          <p:cNvPr id="21" name="Picture 20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4320" y="3657600"/>
            <a:ext cx="5486400" cy="2834640"/>
          </a:xfrm>
          <a:prstGeom prst="rect">
            <a:avLst/>
          </a:prstGeom>
        </p:spPr>
      </p:pic>
      <p:sp>
        <p:nvSpPr>
          <p:cNvPr id="22" name="Rectangle 21"/>
          <p:cNvSpPr/>
          <p:nvPr/>
        </p:nvSpPr>
        <p:spPr>
          <a:xfrm>
            <a:off x="5943600" y="3657600"/>
            <a:ext cx="1371600" cy="868680"/>
          </a:xfrm>
          <a:prstGeom prst="rect">
            <a:avLst/>
          </a:prstGeom>
          <a:solidFill>
            <a:srgbClr val="1A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0" y="3703320"/>
            <a:ext cx="13716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C49A22"/>
                </a:solidFill>
                <a:latin typeface="IPAGothic"/>
              </a:rPr>
              <a:t>350万円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0" y="4206240"/>
            <a:ext cx="1371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IPAGothic"/>
              </a:rPr>
              <a:t>月次売上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498079" y="3657600"/>
            <a:ext cx="1371600" cy="86868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498079" y="3703320"/>
            <a:ext cx="13716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C49A22"/>
                </a:solidFill>
                <a:latin typeface="IPAGothic"/>
              </a:rPr>
              <a:t>70万円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98079" y="4206240"/>
            <a:ext cx="1371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IPAGothic"/>
              </a:rPr>
              <a:t>月次利益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052560" y="3657600"/>
            <a:ext cx="1371600" cy="868680"/>
          </a:xfrm>
          <a:prstGeom prst="rect">
            <a:avLst/>
          </a:prstGeom>
          <a:solidFill>
            <a:srgbClr val="1A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052560" y="3703320"/>
            <a:ext cx="13716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C49A22"/>
                </a:solidFill>
                <a:latin typeface="IPAGothic"/>
              </a:rPr>
              <a:t>20%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52560" y="4206240"/>
            <a:ext cx="1371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IPAGothic"/>
              </a:rPr>
              <a:t>利益率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0607040" y="3657600"/>
            <a:ext cx="1371600" cy="86868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607040" y="3703320"/>
            <a:ext cx="13716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C49A22"/>
                </a:solidFill>
                <a:latin typeface="IPAGothic"/>
              </a:rPr>
              <a:t>12〜15ヶ月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07040" y="4206240"/>
            <a:ext cx="1371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  <a:latin typeface="IPAGothic"/>
              </a:rPr>
              <a:t>投資回収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943600" y="4663440"/>
            <a:ext cx="5943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IPAGothic"/>
              </a:rPr>
              <a:t>■ FC収益シミュレーション（FC1店舗・小型8坪）</a:t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IPAGothic"/>
              </a:rPr>
              <a:t>初期投資合計：800万円（内装・設備・物件取得費）</a:t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IPAGothic"/>
              </a:rPr>
              <a:t>月次売上：350万円</a:t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IPAGothic"/>
              </a:rPr>
              <a:t>月次営業利益：約56万円（ロイヤルティ控除後）</a:t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IPAGothic"/>
              </a:rPr>
              <a:t>投資回収期間：約14〜16ヶ月</a:t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IPAGothic"/>
              </a:rPr>
              <a:t>本部ロイヤルティ：FC10店で月140万円（売上の4%）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96012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IPAGothic"/>
              </a:rPr>
              <a:t>競合優位性  ─  なぜ然グループが勝てるか</a:t>
            </a:r>
          </a:p>
        </p:txBody>
      </p:sp>
      <p:pic>
        <p:nvPicPr>
          <p:cNvPr id="4" name="Picture 3" descr="zen_bran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45720"/>
            <a:ext cx="2103120" cy="749808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005840"/>
            <a:ext cx="4846320" cy="41148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394960" y="1005840"/>
            <a:ext cx="6492240" cy="1051560"/>
          </a:xfrm>
          <a:prstGeom prst="rect">
            <a:avLst/>
          </a:prstGeom>
          <a:solidFill>
            <a:srgbClr val="F0E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394960" y="1005840"/>
            <a:ext cx="73152" cy="105156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559552" y="1051560"/>
            <a:ext cx="6217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C4A3E"/>
                </a:solidFill>
                <a:latin typeface="IPAGothic"/>
              </a:rPr>
              <a:t>① 出汁・発酵という普遍的コア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559552" y="1444752"/>
            <a:ext cx="6217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IPAGothic"/>
              </a:rPr>
              <a:t>トレンドに流されない「日本食の本質」を軸に
10年・20年後も価値が変わらない</a:t>
            </a:r>
          </a:p>
        </p:txBody>
      </p:sp>
      <p:sp>
        <p:nvSpPr>
          <p:cNvPr id="10" name="Rectangle 9"/>
          <p:cNvSpPr/>
          <p:nvPr/>
        </p:nvSpPr>
        <p:spPr>
          <a:xfrm>
            <a:off x="5394960" y="2148840"/>
            <a:ext cx="6492240" cy="1051560"/>
          </a:xfrm>
          <a:prstGeom prst="rect">
            <a:avLst/>
          </a:prstGeom>
          <a:solidFill>
            <a:srgbClr val="F0E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394960" y="2148840"/>
            <a:ext cx="73152" cy="105156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559552" y="2194560"/>
            <a:ext cx="6217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C4A3E"/>
                </a:solidFill>
                <a:latin typeface="IPAGothic"/>
              </a:rPr>
              <a:t>② 価格帯ポートフォリオ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59552" y="2587752"/>
            <a:ext cx="6217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IPAGothic"/>
              </a:rPr>
              <a:t>不況時は蕎麦然・ランチ中心で守り
好況・インバウンドはだし然夜・肉酒場で攻める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394960" y="3291840"/>
            <a:ext cx="6492240" cy="1051560"/>
          </a:xfrm>
          <a:prstGeom prst="rect">
            <a:avLst/>
          </a:prstGeom>
          <a:solidFill>
            <a:srgbClr val="F0E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394960" y="3291840"/>
            <a:ext cx="73152" cy="105156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559552" y="3337560"/>
            <a:ext cx="6217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C4A3E"/>
                </a:solidFill>
                <a:latin typeface="IPAGothic"/>
              </a:rPr>
              <a:t>③ FC×直営の二重エンジン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59552" y="3730752"/>
            <a:ext cx="6217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IPAGothic"/>
              </a:rPr>
              <a:t>直営で利益を確保しながらFCでスケール
飲食成功パターンを確実に踏む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394960" y="4434840"/>
            <a:ext cx="6492240" cy="1051560"/>
          </a:xfrm>
          <a:prstGeom prst="rect">
            <a:avLst/>
          </a:prstGeom>
          <a:solidFill>
            <a:srgbClr val="F0E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394960" y="4434840"/>
            <a:ext cx="73152" cy="105156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559552" y="4480560"/>
            <a:ext cx="6217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C4A3E"/>
                </a:solidFill>
                <a:latin typeface="IPAGothic"/>
              </a:rPr>
              <a:t>④ SNS情報優位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559552" y="4873752"/>
            <a:ext cx="6217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IPAGothic"/>
              </a:rPr>
              <a:t>毎日のトレンドリサーチを内製→外販できる
唯一の飲食グループ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394960" y="5577840"/>
            <a:ext cx="6492240" cy="1051560"/>
          </a:xfrm>
          <a:prstGeom prst="rect">
            <a:avLst/>
          </a:prstGeom>
          <a:solidFill>
            <a:srgbClr val="F0E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394960" y="5577840"/>
            <a:ext cx="73152" cy="105156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559552" y="5623560"/>
            <a:ext cx="6217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C4A3E"/>
                </a:solidFill>
                <a:latin typeface="IPAGothic"/>
              </a:rPr>
              <a:t>⑤ インバウンド確保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559552" y="6016752"/>
            <a:ext cx="6217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1A"/>
                </a:solidFill>
                <a:latin typeface="IPAGothic"/>
              </a:rPr>
              <a:t>だし然がインバウンド向け体験型ディナーを担当
円安・訪日外国人増加の波を確実に取込む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4320" y="5577840"/>
            <a:ext cx="1161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1A1A1A"/>
                </a:solidFill>
                <a:latin typeface="IPAGothic"/>
              </a:rPr>
              <a:t>調査対象：みなとや・ひまり堂・ひまり商店・びゃく・三谷・なかよし（恵比寿/新橋/学芸大学）→ いずれも「こだわり×展開力」の両立なし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74320" y="5943600"/>
            <a:ext cx="11612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C49A22"/>
                </a:solidFill>
                <a:latin typeface="IPAGothic"/>
              </a:rPr>
              <a:t>→ 「素材へのこだわり × FC展開力」が高水準で共存する競合不在のゾーン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96012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IPAGothic"/>
              </a:rPr>
              <a:t>競合分析  ─  ベンチマーク6店舗の詳細比較</a:t>
            </a:r>
          </a:p>
        </p:txBody>
      </p:sp>
      <p:pic>
        <p:nvPicPr>
          <p:cNvPr id="4" name="Picture 3" descr="zen_bran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45720"/>
            <a:ext cx="2103120" cy="74980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96012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1A1A1A"/>
                </a:solidFill>
                <a:latin typeface="IPAGothic"/>
              </a:rPr>
              <a:t>調査エリア：恵比寿・新橋・学芸大学（いずれも然グループの出店候補商圏）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274320" y="1371600"/>
          <a:ext cx="1161288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51610"/>
                <a:gridCol w="1451610"/>
                <a:gridCol w="1451610"/>
                <a:gridCol w="1451610"/>
                <a:gridCol w="1451610"/>
                <a:gridCol w="1451610"/>
                <a:gridCol w="1451610"/>
                <a:gridCol w="1451610"/>
              </a:tblGrid>
              <a:tr h="587828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IPAGothic"/>
                        </a:rPr>
                        <a:t>店舗名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IPAGothic"/>
                        </a:rPr>
                        <a:t>エリア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IPAGothic"/>
                        </a:rPr>
                        <a:t>業態・コンセプト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IPAGothic"/>
                        </a:rPr>
                        <a:t>客単価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IPAGothic"/>
                        </a:rPr>
                        <a:t>席数目安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IPAGothic"/>
                        </a:rPr>
                        <a:t>こだわり度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IPAGothic"/>
                        </a:rPr>
                        <a:t>展開可能性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IPAGothic"/>
                        </a:rPr>
                        <a:t>然グループとの関係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みなとや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大手町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老舗和定食・ビジネス層向け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¥1,200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30〜40席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★★★☆☆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★★☆☆☆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だし然の客層が重なる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ひまり堂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恵比寿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こだわり出汁・和食カフェ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¥1,800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20〜25席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★★★★☆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★☆☆☆☆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だし然の直接競合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ひまり商店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新橋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居酒屋・サラリーマン向け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¥3,500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40〜50席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★★☆☆☆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★★★☆☆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肉酒場然と客層が重なる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びゃく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学芸大学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高級和食・職人こだわり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¥8,000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15〜20席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★★★★★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★☆☆☆☆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価格帯上位・直接競合薄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三谷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学芸大学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本格蕎麦・職人系単店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¥2,500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20〜30席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★★★★☆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★☆☆☆☆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蕎麦然の品質ベンチ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</a:tr>
              <a:tr h="587832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なかよし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恵比寿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カジュアル和食・女性向け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¥2,200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25〜35席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★★★☆☆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★★☆☆☆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だし然ランチ帯と競合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365760" y="557784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1A1A1A"/>
                </a:solidFill>
                <a:latin typeface="IPAGothic"/>
              </a:rPr>
              <a:t>※ こだわり度・展開可能性は5段階評価（★多い＝高い）　客単価は推計値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5943600"/>
            <a:ext cx="11612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C49A22"/>
                </a:solidFill>
                <a:latin typeface="IPAGothic"/>
              </a:rPr>
              <a:t>→ 高こだわり×高展開力を両立している競合はゼロ  ─  然グループの独占ゾーン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96012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IPAGothic"/>
              </a:rPr>
              <a:t>競合分析  ─  差別化戦略と勝ち筋</a:t>
            </a:r>
          </a:p>
        </p:txBody>
      </p:sp>
      <p:pic>
        <p:nvPicPr>
          <p:cNvPr id="4" name="Picture 3" descr="zen_bran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45720"/>
            <a:ext cx="2103120" cy="749808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960120"/>
            <a:ext cx="5303520" cy="475488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760720" y="1005840"/>
            <a:ext cx="6126480" cy="1298448"/>
          </a:xfrm>
          <a:prstGeom prst="rect">
            <a:avLst/>
          </a:prstGeom>
          <a:solidFill>
            <a:srgbClr val="F0E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760720" y="1005840"/>
            <a:ext cx="91440" cy="1298448"/>
          </a:xfrm>
          <a:prstGeom prst="rect">
            <a:avLst/>
          </a:prstGeom>
          <a:solidFill>
            <a:srgbClr val="C49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0" y="1060704"/>
            <a:ext cx="5852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49A22"/>
                </a:solidFill>
                <a:latin typeface="IPAGothic"/>
              </a:rPr>
              <a:t>ひまり堂（恵比寿）との差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0" y="1408176"/>
            <a:ext cx="58521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1A1A"/>
                </a:solidFill>
                <a:latin typeface="IPAGothic"/>
              </a:rPr>
              <a:t>• こだわり度は同等だが展開力が決定的に違う
• 然グループはFC化で1店の成功を30店に複製できる
• ひまり堂は単店の「職人店」─ スケールしない</a:t>
            </a:r>
          </a:p>
        </p:txBody>
      </p:sp>
      <p:sp>
        <p:nvSpPr>
          <p:cNvPr id="10" name="Rectangle 9"/>
          <p:cNvSpPr/>
          <p:nvPr/>
        </p:nvSpPr>
        <p:spPr>
          <a:xfrm>
            <a:off x="5760720" y="2395728"/>
            <a:ext cx="6126480" cy="1298448"/>
          </a:xfrm>
          <a:prstGeom prst="rect">
            <a:avLst/>
          </a:prstGeom>
          <a:solidFill>
            <a:srgbClr val="F0E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760720" y="2395728"/>
            <a:ext cx="91440" cy="1298448"/>
          </a:xfrm>
          <a:prstGeom prst="rect">
            <a:avLst/>
          </a:prstGeom>
          <a:solidFill>
            <a:srgbClr val="1A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0" y="2450592"/>
            <a:ext cx="5852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2A4A"/>
                </a:solidFill>
                <a:latin typeface="IPAGothic"/>
              </a:rPr>
              <a:t>びゃく・三谷との差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0" y="2798064"/>
            <a:ext cx="58521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1A1A"/>
                </a:solidFill>
                <a:latin typeface="IPAGothic"/>
              </a:rPr>
              <a:t>• 職人系の最高品質だが客単価¥8,000超で市場が狭い
• 蕎麦然は¥2,500帯で「日常使いできるこだわり蕎麦」
• 立地も8坪小型で回転率×FC数で勝負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760720" y="3785616"/>
            <a:ext cx="6126480" cy="1298448"/>
          </a:xfrm>
          <a:prstGeom prst="rect">
            <a:avLst/>
          </a:prstGeom>
          <a:solidFill>
            <a:srgbClr val="F0E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760720" y="3785616"/>
            <a:ext cx="91440" cy="1298448"/>
          </a:xfrm>
          <a:prstGeom prst="rect">
            <a:avLst/>
          </a:prstGeom>
          <a:solidFill>
            <a:srgbClr val="8B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0" y="3840480"/>
            <a:ext cx="5852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8B2020"/>
                </a:solidFill>
                <a:latin typeface="IPAGothic"/>
              </a:rPr>
              <a:t>ひまり商店・なかよしとの差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0" y="4187952"/>
            <a:ext cx="58521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1A1A"/>
                </a:solidFill>
                <a:latin typeface="IPAGothic"/>
              </a:rPr>
              <a:t>• 価格帯は近いが「素材・発酵」の軸が弱い
• 然グループは出汁・麹・発酵を共通コアとして全ブランドが連動
• SNS情報力で口コミ・インバウンドを自力で取込む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760720" y="5175504"/>
            <a:ext cx="6126480" cy="1298448"/>
          </a:xfrm>
          <a:prstGeom prst="rect">
            <a:avLst/>
          </a:prstGeom>
          <a:solidFill>
            <a:srgbClr val="F0E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760720" y="5175504"/>
            <a:ext cx="91440" cy="1298448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0" y="5230368"/>
            <a:ext cx="5852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C4A3E"/>
                </a:solidFill>
                <a:latin typeface="IPAGothic"/>
              </a:rPr>
              <a:t>然グループ固有の強み（競合ゼロ）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0" y="5577840"/>
            <a:ext cx="58521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1A1A"/>
                </a:solidFill>
                <a:latin typeface="IPAGothic"/>
              </a:rPr>
              <a:t>• 3ブランド×FC展開：1業態の不振を他で補うリスクヘッジ
• 素材へのこだわり + FC展開力の両立 = 競合不在ゾーン
• SNS内製 = 月次マーケ費ゼロで情報優位を維持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" y="6035040"/>
            <a:ext cx="11612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C49A22"/>
                </a:solidFill>
                <a:latin typeface="IPAGothic"/>
              </a:rPr>
              <a:t>結論：然グループは「こだわり × スケール」の両立という、現状競合が存在しないポジションを確立する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96012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IPAGothic"/>
              </a:rPr>
              <a:t>販売・SNSマーケティング戦略</a:t>
            </a:r>
          </a:p>
        </p:txBody>
      </p:sp>
      <p:pic>
        <p:nvPicPr>
          <p:cNvPr id="4" name="Picture 3" descr="zen_bran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45720"/>
            <a:ext cx="2103120" cy="74980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10058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2C4A3E"/>
                </a:solidFill>
                <a:latin typeface="IPAGothic"/>
              </a:rPr>
              <a:t>「SNSで集客する飲食グループ」を自ら実証し、外販へ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645920"/>
            <a:ext cx="3657600" cy="1463040"/>
          </a:xfrm>
          <a:prstGeom prst="rect">
            <a:avLst/>
          </a:prstGeom>
          <a:solidFill>
            <a:srgbClr val="8B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1691640"/>
            <a:ext cx="3657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IPAGothic"/>
              </a:rPr>
              <a:t>PHASE 1</a:t>
            </a:r>
          </a:p>
          <a:p>
            <a:pPr algn="ctr"/>
            <a:r>
              <a:rPr sz="1300" b="1">
                <a:solidFill>
                  <a:srgbClr val="FFFFFF"/>
                </a:solidFill>
                <a:latin typeface="IPAGothic"/>
              </a:rPr>
              <a:t>開業前3〜6ヶ月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2377440"/>
            <a:ext cx="3657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  <a:latin typeface="IPAGothic"/>
              </a:rPr>
              <a:t>外部SNSコンサル起用</a:t>
            </a:r>
          </a:p>
          <a:p>
            <a:pPr algn="ctr"/>
            <a:r>
              <a:rPr sz="1000" b="0">
                <a:solidFill>
                  <a:srgbClr val="FFFFFF"/>
                </a:solidFill>
                <a:latin typeface="IPAGothic"/>
              </a:rPr>
              <a:t>スタートダッシュ</a:t>
            </a:r>
          </a:p>
        </p:txBody>
      </p:sp>
      <p:sp>
        <p:nvSpPr>
          <p:cNvPr id="9" name="Rectangle 8"/>
          <p:cNvSpPr/>
          <p:nvPr/>
        </p:nvSpPr>
        <p:spPr>
          <a:xfrm>
            <a:off x="4206240" y="1645920"/>
            <a:ext cx="3657600" cy="1463040"/>
          </a:xfrm>
          <a:prstGeom prst="rect">
            <a:avLst/>
          </a:prstGeom>
          <a:solidFill>
            <a:srgbClr val="C49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06240" y="1691640"/>
            <a:ext cx="3657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IPAGothic"/>
              </a:rPr>
              <a:t>PHASE 2</a:t>
            </a:r>
          </a:p>
          <a:p>
            <a:pPr algn="ctr"/>
            <a:r>
              <a:rPr sz="1300" b="1">
                <a:solidFill>
                  <a:srgbClr val="FFFFFF"/>
                </a:solidFill>
                <a:latin typeface="IPAGothic"/>
              </a:rPr>
              <a:t>Y1〜Y2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06240" y="2377440"/>
            <a:ext cx="3657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  <a:latin typeface="IPAGothic"/>
              </a:rPr>
              <a:t>内製移行＋毎日トレンドリサーチ</a:t>
            </a:r>
          </a:p>
          <a:p>
            <a:pPr algn="ctr"/>
            <a:r>
              <a:rPr sz="1000" b="0">
                <a:solidFill>
                  <a:srgbClr val="FFFFFF"/>
                </a:solidFill>
                <a:latin typeface="IPAGothic"/>
              </a:rPr>
              <a:t>コンテンツ量産体制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138160" y="1645920"/>
            <a:ext cx="3657600" cy="146304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38160" y="1691640"/>
            <a:ext cx="3657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IPAGothic"/>
              </a:rPr>
              <a:t>PHASE 3</a:t>
            </a:r>
          </a:p>
          <a:p>
            <a:pPr algn="ctr"/>
            <a:r>
              <a:rPr sz="1300" b="1">
                <a:solidFill>
                  <a:srgbClr val="FFFFFF"/>
                </a:solidFill>
                <a:latin typeface="IPAGothic"/>
              </a:rPr>
              <a:t>Y3〜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38160" y="2377440"/>
            <a:ext cx="3657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  <a:latin typeface="IPAGothic"/>
              </a:rPr>
              <a:t>SNS事業部外販スタート</a:t>
            </a:r>
          </a:p>
          <a:p>
            <a:pPr algn="ctr"/>
            <a:r>
              <a:rPr sz="1000" b="0">
                <a:solidFill>
                  <a:srgbClr val="FFFFFF"/>
                </a:solidFill>
                <a:latin typeface="IPAGothic"/>
              </a:rPr>
              <a:t>然グループが証明した手法を商品化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4320" y="3337560"/>
            <a:ext cx="2743200" cy="384048"/>
          </a:xfrm>
          <a:prstGeom prst="rect">
            <a:avLst/>
          </a:prstGeom>
          <a:solidFill>
            <a:srgbClr val="8B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74320" y="3364992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IPAGothic"/>
              </a:rPr>
              <a:t>YouTube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3767328"/>
            <a:ext cx="25603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IPAGothic"/>
              </a:rPr>
              <a:t>然グループ公式チャンネル</a:t>
            </a:r>
          </a:p>
          <a:p>
            <a:pPr algn="l"/>
            <a:r>
              <a:rPr sz="1000" b="0">
                <a:solidFill>
                  <a:srgbClr val="1A1A1A"/>
                </a:solidFill>
                <a:latin typeface="IPAGothic"/>
              </a:rPr>
              <a:t>仕込み・料理動画・代表ブログ</a:t>
            </a:r>
          </a:p>
          <a:p>
            <a:pPr algn="l"/>
            <a:r>
              <a:rPr sz="1000" b="0">
                <a:solidFill>
                  <a:srgbClr val="1A1A1A"/>
                </a:solidFill>
                <a:latin typeface="IPAGothic"/>
              </a:rPr>
              <a:t>発酵・出汁の解説コンテンツ</a:t>
            </a:r>
          </a:p>
          <a:p>
            <a:pPr algn="l"/>
            <a:r>
              <a:rPr sz="1000" b="0">
                <a:solidFill>
                  <a:srgbClr val="1A1A1A"/>
                </a:solidFill>
                <a:latin typeface="IPAGothic"/>
              </a:rPr>
              <a:t>→ チャンネル登録→来店転換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46120" y="3337560"/>
            <a:ext cx="2743200" cy="384048"/>
          </a:xfrm>
          <a:prstGeom prst="rect">
            <a:avLst/>
          </a:prstGeom>
          <a:solidFill>
            <a:srgbClr val="C49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46120" y="3364992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IPAGothic"/>
              </a:rPr>
              <a:t>Instagram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37560" y="3767328"/>
            <a:ext cx="25603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IPAGothic"/>
              </a:rPr>
              <a:t>ブランド別アカウント＋統合アカウント</a:t>
            </a:r>
          </a:p>
          <a:p>
            <a:pPr algn="l"/>
            <a:r>
              <a:rPr sz="1000" b="0">
                <a:solidFill>
                  <a:srgbClr val="1A1A1A"/>
                </a:solidFill>
                <a:latin typeface="IPAGothic"/>
              </a:rPr>
              <a:t>出汁の湯気・炭火の煙=映えコンテンツ</a:t>
            </a:r>
          </a:p>
          <a:p>
            <a:pPr algn="l"/>
            <a:r>
              <a:rPr sz="1000" b="0">
                <a:solidFill>
                  <a:srgbClr val="1A1A1A"/>
                </a:solidFill>
                <a:latin typeface="IPAGothic"/>
              </a:rPr>
              <a:t>ストーリーズで日常・ビハインドシーン</a:t>
            </a:r>
          </a:p>
          <a:p>
            <a:pPr algn="l"/>
            <a:r>
              <a:rPr sz="1000" b="0">
                <a:solidFill>
                  <a:srgbClr val="1A1A1A"/>
                </a:solidFill>
                <a:latin typeface="IPAGothic"/>
              </a:rPr>
              <a:t>→ フォロワーをリザーブに誘導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17920" y="3337560"/>
            <a:ext cx="2743200" cy="384048"/>
          </a:xfrm>
          <a:prstGeom prst="rect">
            <a:avLst/>
          </a:prstGeom>
          <a:solidFill>
            <a:srgbClr val="1A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17920" y="3364992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IPAGothic"/>
              </a:rPr>
              <a:t>TikTok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60" y="3767328"/>
            <a:ext cx="25603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IPAGothic"/>
              </a:rPr>
              <a:t>短尺料理動画・発酵解説</a:t>
            </a:r>
          </a:p>
          <a:p>
            <a:pPr algn="l"/>
            <a:r>
              <a:rPr sz="1000" b="0">
                <a:solidFill>
                  <a:srgbClr val="1A1A1A"/>
                </a:solidFill>
                <a:latin typeface="IPAGothic"/>
              </a:rPr>
              <a:t>インバウンド向け多言語対応</a:t>
            </a:r>
          </a:p>
          <a:p>
            <a:pPr algn="l"/>
            <a:r>
              <a:rPr sz="1000" b="0">
                <a:solidFill>
                  <a:srgbClr val="1A1A1A"/>
                </a:solidFill>
                <a:latin typeface="IPAGothic"/>
              </a:rPr>
              <a:t>ハッシュタグ戦略でバズ狙い</a:t>
            </a:r>
          </a:p>
          <a:p>
            <a:pPr algn="l"/>
            <a:r>
              <a:rPr sz="1000" b="0">
                <a:solidFill>
                  <a:srgbClr val="1A1A1A"/>
                </a:solidFill>
                <a:latin typeface="IPAGothic"/>
              </a:rPr>
              <a:t>→ 若年層・外国人の来店促進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189720" y="3337560"/>
            <a:ext cx="2743200" cy="384048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89720" y="3364992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IPAGothic"/>
              </a:rPr>
              <a:t>Google / OTA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81160" y="3767328"/>
            <a:ext cx="25603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IPAGothic"/>
              </a:rPr>
              <a:t>Googleマップ口コミ管理</a:t>
            </a:r>
          </a:p>
          <a:p>
            <a:pPr algn="l"/>
            <a:r>
              <a:rPr sz="1000" b="0">
                <a:solidFill>
                  <a:srgbClr val="1A1A1A"/>
                </a:solidFill>
                <a:latin typeface="IPAGothic"/>
              </a:rPr>
              <a:t>食べログ・ぐるなびSEO</a:t>
            </a:r>
          </a:p>
          <a:p>
            <a:pPr algn="l"/>
            <a:r>
              <a:rPr sz="1000" b="0">
                <a:solidFill>
                  <a:srgbClr val="1A1A1A"/>
                </a:solidFill>
                <a:latin typeface="IPAGothic"/>
              </a:rPr>
              <a:t>Booking.com / Airbnb体験登録</a:t>
            </a:r>
          </a:p>
          <a:p>
            <a:pPr algn="l"/>
            <a:r>
              <a:rPr sz="1000" b="0">
                <a:solidFill>
                  <a:srgbClr val="1A1A1A"/>
                </a:solidFill>
                <a:latin typeface="IPAGothic"/>
              </a:rPr>
              <a:t>→ インバウンド流入確保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74320" y="5989320"/>
            <a:ext cx="11612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C49A22"/>
                </a:solidFill>
                <a:latin typeface="IPAGothic"/>
              </a:rPr>
              <a:t>開業前コンサル費用 300万円を資金調達に組み込み済み → Y1からSNS集客を最大化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96012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IPAGothic"/>
              </a:rPr>
              <a:t>5カ年数値計画</a:t>
            </a:r>
          </a:p>
        </p:txBody>
      </p:sp>
      <p:pic>
        <p:nvPicPr>
          <p:cNvPr id="4" name="Picture 3" descr="zen_bran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45720"/>
            <a:ext cx="2103120" cy="749808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005840"/>
            <a:ext cx="6858000" cy="3840480"/>
          </a:xfrm>
          <a:prstGeom prst="rect">
            <a:avLst/>
          </a:prstGeom>
        </p:spPr>
      </p:pic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0" y="1005840"/>
          <a:ext cx="457200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3000"/>
                <a:gridCol w="1143000"/>
                <a:gridCol w="1143000"/>
                <a:gridCol w="1143000"/>
              </a:tblGrid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IPAGothic"/>
                        </a:rPr>
                        <a:t>年度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IPAGothic"/>
                        </a:rPr>
                        <a:t>店舗数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IPAGothic"/>
                        </a:rPr>
                        <a:t>月商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IPAGothic"/>
                        </a:rPr>
                        <a:t>年商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IPAGothic"/>
                        </a:rPr>
                        <a:t>Y1 2026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IPAGothic"/>
                        </a:rPr>
                        <a:t>3店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IPAGothic"/>
                        </a:rPr>
                        <a:t>1,200万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IPAGothic"/>
                        </a:rPr>
                        <a:t>1.4億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IPAGothic"/>
                        </a:rPr>
                        <a:t>Y2 2027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IPAGothic"/>
                        </a:rPr>
                        <a:t>9店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IPAGothic"/>
                        </a:rPr>
                        <a:t>3,000万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IPAGothic"/>
                        </a:rPr>
                        <a:t>3.6億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IPAGothic"/>
                        </a:rPr>
                        <a:t>Y3 2028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IPAGothic"/>
                        </a:rPr>
                        <a:t>22店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IPAGothic"/>
                        </a:rPr>
                        <a:t>6,000万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IPAGothic"/>
                        </a:rPr>
                        <a:t>7.2億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IPAGothic"/>
                        </a:rPr>
                        <a:t>Y4 2029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IPAGothic"/>
                        </a:rPr>
                        <a:t>35店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IPAGothic"/>
                        </a:rPr>
                        <a:t>10,000万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IPAGothic"/>
                        </a:rPr>
                        <a:t>12億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IPAGothic"/>
                        </a:rPr>
                        <a:t>Y5 2030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IPAGothic"/>
                        </a:rPr>
                        <a:t>55店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IPAGothic"/>
                        </a:rPr>
                        <a:t>17,000万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>
                          <a:solidFill>
                            <a:srgbClr val="1A1A1A"/>
                          </a:solidFill>
                          <a:latin typeface="IPAGothic"/>
                        </a:rPr>
                        <a:t>20億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315200" y="4206240"/>
            <a:ext cx="4572000" cy="640080"/>
          </a:xfrm>
          <a:prstGeom prst="rect">
            <a:avLst/>
          </a:prstGeom>
          <a:solidFill>
            <a:srgbClr val="C49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06640" y="4251960"/>
            <a:ext cx="4389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IPAGothic"/>
              </a:rPr>
              <a:t>Year 5 目標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06640" y="4526280"/>
            <a:ext cx="4389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IPAGothic"/>
              </a:rPr>
              <a:t>年商 20億円  /  55店舗  /  EBITDA 6億円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5074920"/>
            <a:ext cx="2743200" cy="1463040"/>
          </a:xfrm>
          <a:prstGeom prst="rect">
            <a:avLst/>
          </a:prstGeom>
          <a:solidFill>
            <a:srgbClr val="C49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4320" y="5120640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IPAGothic"/>
              </a:rPr>
              <a:t>Y1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5577840"/>
            <a:ext cx="2560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IPAGothic"/>
              </a:rPr>
              <a:t>だし然・蕎麦然1号店開業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00400" y="5074920"/>
            <a:ext cx="2743200" cy="1463040"/>
          </a:xfrm>
          <a:prstGeom prst="rect">
            <a:avLst/>
          </a:prstGeom>
          <a:solidFill>
            <a:srgbClr val="8B2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00400" y="5120640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C49A22"/>
                </a:solidFill>
                <a:latin typeface="IPAGothic"/>
              </a:rPr>
              <a:t>Y2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91840" y="5577840"/>
            <a:ext cx="2560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IPAGothic"/>
              </a:rPr>
              <a:t>FC展開開始・肉酒場然2号店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26480" y="5074920"/>
            <a:ext cx="2743200" cy="1463040"/>
          </a:xfrm>
          <a:prstGeom prst="rect">
            <a:avLst/>
          </a:prstGeom>
          <a:solidFill>
            <a:srgbClr val="1A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26480" y="5120640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C49A22"/>
                </a:solidFill>
                <a:latin typeface="IPAGothic"/>
              </a:rPr>
              <a:t>Y3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0" y="5577840"/>
            <a:ext cx="2560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IPAGothic"/>
              </a:rPr>
              <a:t>関西進出・SNS事業部外販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052560" y="5074920"/>
            <a:ext cx="2743200" cy="146304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60" y="5120640"/>
            <a:ext cx="2743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C49A22"/>
                </a:solidFill>
                <a:latin typeface="IPAGothic"/>
              </a:rPr>
              <a:t>Y5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0" y="5577840"/>
            <a:ext cx="2560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IPAGothic"/>
              </a:rPr>
              <a:t>55店舗・年商20億・EXIT準備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96012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IPAGothic"/>
              </a:rPr>
              <a:t>収益モデルサマリー  ─  グループ損益と成長ストック</a:t>
            </a:r>
          </a:p>
        </p:txBody>
      </p:sp>
      <p:pic>
        <p:nvPicPr>
          <p:cNvPr id="4" name="Picture 3" descr="zen_bran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45720"/>
            <a:ext cx="2103120" cy="749808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005840"/>
            <a:ext cx="5669280" cy="2834640"/>
          </a:xfrm>
          <a:prstGeom prst="rect">
            <a:avLst/>
          </a:prstGeom>
        </p:spPr>
      </p:pic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943600" y="1005840"/>
          <a:ext cx="5943600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90600"/>
                <a:gridCol w="990600"/>
                <a:gridCol w="990600"/>
                <a:gridCol w="990600"/>
                <a:gridCol w="990600"/>
                <a:gridCol w="990600"/>
              </a:tblGrid>
              <a:tr h="47244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IPAGothic"/>
                        </a:rPr>
                        <a:t>ブランド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IPAGothic"/>
                        </a:rPr>
                        <a:t>月次売上/店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IPAGothic"/>
                        </a:rPr>
                        <a:t>利益率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IPAGothic"/>
                        </a:rPr>
                        <a:t>1店月次利益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IPAGothic"/>
                        </a:rPr>
                        <a:t>目標店舗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IPAGothic"/>
                        </a:rPr>
                        <a:t>グループ月次利益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だし 然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960万円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15%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144万円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20店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2,880万円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肉酒場 然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1,200万円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17%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200万円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5店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1,000万円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蕎麦 然（小型）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350万円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20%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70万円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30店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2,100万円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SNS事業部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83万円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83万円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合計（安定期）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─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─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─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55店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6,063万円〜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274320" y="4023360"/>
            <a:ext cx="11612880" cy="347472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4059936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IPAGothic"/>
              </a:rPr>
              <a:t>収益構造のポイント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4407408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Y1 グループ月次売上：約2,510万円（利益率約17%、月次利益約418万円）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4754880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FCロイヤルティはFC40店規模で月1,296万円のストック収益（安定成長）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5102352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成長フェーズ（Y3〜）で利益率が改善：規模の経済＋仕入共通化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5449824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直営利益＋FCロイヤルティの二重収益でリスク分散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96012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IPAGothic"/>
              </a:rPr>
              <a:t>グループ 事業計画 P&amp;L  ─  5カ年損益計画</a:t>
            </a:r>
          </a:p>
        </p:txBody>
      </p:sp>
      <p:pic>
        <p:nvPicPr>
          <p:cNvPr id="4" name="Picture 3" descr="zen_bran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45720"/>
            <a:ext cx="2103120" cy="749808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74320" y="1005840"/>
          <a:ext cx="1161288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865376"/>
                <a:gridCol w="1865376"/>
                <a:gridCol w="1865376"/>
                <a:gridCol w="1865376"/>
                <a:gridCol w="1865376"/>
              </a:tblGrid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IPAGothic"/>
                        </a:rPr>
                        <a:t/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IPAGothic"/>
                        </a:rPr>
                        <a:t>Y1 2026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IPAGothic"/>
                        </a:rPr>
                        <a:t>Y2 2027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IPAGothic"/>
                        </a:rPr>
                        <a:t>Y3 2028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IPAGothic"/>
                        </a:rPr>
                        <a:t>Y4 2029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IPAGothic"/>
                        </a:rPr>
                        <a:t>Y5 2030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売上高（万円）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14,000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36,000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72,000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120,000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200,000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　売上原価（31%）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▲4,340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▲11,160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▲22,320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▲37,200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▲62,000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A1A1A"/>
                          </a:solidFill>
                          <a:latin typeface="IPAGothic"/>
                        </a:rPr>
                        <a:t>売上総利益</a:t>
                      </a:r>
                    </a:p>
                  </a:txBody>
                  <a:tcPr>
                    <a:solidFill>
                      <a:srgbClr val="E8F4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A1A1A"/>
                          </a:solidFill>
                          <a:latin typeface="IPAGothic"/>
                        </a:rPr>
                        <a:t>9,660</a:t>
                      </a:r>
                    </a:p>
                  </a:txBody>
                  <a:tcPr>
                    <a:solidFill>
                      <a:srgbClr val="E8F4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A1A1A"/>
                          </a:solidFill>
                          <a:latin typeface="IPAGothic"/>
                        </a:rPr>
                        <a:t>24,840</a:t>
                      </a:r>
                    </a:p>
                  </a:txBody>
                  <a:tcPr>
                    <a:solidFill>
                      <a:srgbClr val="E8F4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A1A1A"/>
                          </a:solidFill>
                          <a:latin typeface="IPAGothic"/>
                        </a:rPr>
                        <a:t>49,680</a:t>
                      </a:r>
                    </a:p>
                  </a:txBody>
                  <a:tcPr>
                    <a:solidFill>
                      <a:srgbClr val="E8F4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A1A1A"/>
                          </a:solidFill>
                          <a:latin typeface="IPAGothic"/>
                        </a:rPr>
                        <a:t>82,800</a:t>
                      </a:r>
                    </a:p>
                  </a:txBody>
                  <a:tcPr>
                    <a:solidFill>
                      <a:srgbClr val="E8F4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1A1A1A"/>
                          </a:solidFill>
                          <a:latin typeface="IPAGothic"/>
                        </a:rPr>
                        <a:t>138,000</a:t>
                      </a:r>
                    </a:p>
                  </a:txBody>
                  <a:tcPr>
                    <a:solidFill>
                      <a:srgbClr val="E8F4E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　粗利率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69%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69%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69%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69%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69%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　人件費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▲3,500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▲8,500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▲16,000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▲26,000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▲42,000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　家賃合計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▲1,500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▲3,600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▲7,200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▲11,000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▲17,000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　その他（光熱費等）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▲2,400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▲5,600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▲11,600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▲18,000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▲31,000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IPAGothic"/>
                        </a:rPr>
                        <a:t>EBITDA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IPAGothic"/>
                        </a:rPr>
                        <a:t>2,260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IPAGothic"/>
                        </a:rPr>
                        <a:t>7,140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IPAGothic"/>
                        </a:rPr>
                        <a:t>14,880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IPAGothic"/>
                        </a:rPr>
                        <a:t>27,800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IPAGothic"/>
                        </a:rPr>
                        <a:t>48,000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EBITDA率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16%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20%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21%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23%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A1A1A"/>
                          </a:solidFill>
                          <a:latin typeface="IPAGothic"/>
                        </a:rPr>
                        <a:t>24%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</a:tr>
            </a:tbl>
          </a:graphicData>
        </a:graphic>
      </p:graphicFrame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303520"/>
            <a:ext cx="11612880" cy="128016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96012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IPAGothic"/>
              </a:rPr>
              <a:t>キャッシュフロー計画</a:t>
            </a:r>
          </a:p>
        </p:txBody>
      </p:sp>
      <p:pic>
        <p:nvPicPr>
          <p:cNvPr id="4" name="Picture 3" descr="zen_bran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45720"/>
            <a:ext cx="2103120" cy="749808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005840"/>
            <a:ext cx="6858000" cy="3200400"/>
          </a:xfrm>
          <a:prstGeom prst="rect">
            <a:avLst/>
          </a:prstGeom>
        </p:spPr>
      </p:pic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132320" y="1005840"/>
          <a:ext cx="4754876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79268"/>
                <a:gridCol w="679268"/>
                <a:gridCol w="679268"/>
                <a:gridCol w="679268"/>
                <a:gridCol w="679268"/>
                <a:gridCol w="679268"/>
                <a:gridCol w="679268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IPAGothic"/>
                        </a:rPr>
                        <a:t/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IPAGothic"/>
                        </a:rPr>
                        <a:t>調達時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IPAGothic"/>
                        </a:rPr>
                        <a:t>Y1末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IPAGothic"/>
                        </a:rPr>
                        <a:t>Y2末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IPAGothic"/>
                        </a:rPr>
                        <a:t>Y3末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IPAGothic"/>
                        </a:rPr>
                        <a:t>Y4末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IPAGothic"/>
                        </a:rPr>
                        <a:t>Y5末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営業CF（万円）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─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+2,600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+7,500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+15,000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+28,000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+48,000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投資CF（万円）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▲3,800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▲1,000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▲5,000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▲8,000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▲10,000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▲5,000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純CF（万円）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+3,800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+1,600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+2,500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+7,000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+18,000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+43,000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累計CF（万円）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3,800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5,400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7,900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14,900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32,900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1A1A1A"/>
                          </a:solidFill>
                          <a:latin typeface="IPAGothic"/>
                        </a:rPr>
                        <a:t>75,900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132320" y="3474720"/>
            <a:ext cx="4754880" cy="347472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223760" y="3511296"/>
            <a:ext cx="4572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IPAGothic"/>
              </a:rPr>
              <a:t>CFのポイント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23760" y="3858768"/>
            <a:ext cx="4572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資金調達3,800万を起点にY1末で累計CF黒字転換（返済原資確保）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23760" y="4206240"/>
            <a:ext cx="4572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Y2: FC展開への投資5,000万は営業CF7,140万の範囲内でまかなえる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23760" y="4553712"/>
            <a:ext cx="4572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Y3以降: 投資超過分もFCロイヤルティ等のストック収益で補填、累計CFが急拡大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23760" y="4901184"/>
            <a:ext cx="4572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▸ Y5末: 累計CF 7.5億円 → 配当・EXIT・追加投資の原資として十分な水準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4320" y="4389120"/>
            <a:ext cx="6675120" cy="2194560"/>
          </a:xfrm>
          <a:prstGeom prst="rect">
            <a:avLst/>
          </a:prstGeom>
          <a:solidFill>
            <a:srgbClr val="F0E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" y="4434840"/>
            <a:ext cx="6492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C4A3E"/>
                </a:solidFill>
                <a:latin typeface="IPAGothic"/>
              </a:rPr>
              <a:t>■ Y1 月次CF イメージ（肉酒場然・稼働済み前提）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4846320"/>
            <a:ext cx="64922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1A1A1A"/>
                </a:solidFill>
                <a:latin typeface="IPAGothic"/>
              </a:rPr>
              <a:t>月1〜3：肉酒場然のみ稼働 → 月次CF +100〜150万（立ち上げ費用除く）</a:t>
            </a:r>
          </a:p>
          <a:p>
            <a:pPr algn="l"/>
            <a:r>
              <a:rPr sz="1050" b="0">
                <a:solidFill>
                  <a:srgbClr val="1A1A1A"/>
                </a:solidFill>
                <a:latin typeface="IPAGothic"/>
              </a:rPr>
              <a:t>月4〜6：だし然 開業 → 月次CF +200〜280万（稼働率70%）</a:t>
            </a:r>
          </a:p>
          <a:p>
            <a:pPr algn="l"/>
            <a:r>
              <a:rPr sz="1050" b="0">
                <a:solidFill>
                  <a:srgbClr val="1A1A1A"/>
                </a:solidFill>
                <a:latin typeface="IPAGothic"/>
              </a:rPr>
              <a:t>月7〜：蕎麦然 開業 → 月次CF +350〜430万（3ブランド揃い踏み）</a:t>
            </a:r>
          </a:p>
          <a:p>
            <a:pPr algn="l"/>
            <a:r>
              <a:rPr sz="1050" b="0">
                <a:solidFill>
                  <a:srgbClr val="1A1A1A"/>
                </a:solidFill>
                <a:latin typeface="IPAGothic"/>
              </a:rPr>
              <a:t>Y1末時点：累計CF（資金調達後）約5,400万 → BEP到達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96012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IPAGothic"/>
              </a:rPr>
              <a:t>資金調達計画</a:t>
            </a:r>
          </a:p>
        </p:txBody>
      </p:sp>
      <p:pic>
        <p:nvPicPr>
          <p:cNvPr id="4" name="Picture 3" descr="zen_bran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45720"/>
            <a:ext cx="2103120" cy="749808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274320" y="1005840"/>
            <a:ext cx="4114800" cy="118872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051560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IPAGothic"/>
              </a:rPr>
              <a:t>第1回 調達目標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417320"/>
            <a:ext cx="39319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C49A22"/>
                </a:solidFill>
                <a:latin typeface="IPAGothic"/>
              </a:rPr>
              <a:t>3,800万円</a:t>
            </a:r>
          </a:p>
        </p:txBody>
      </p:sp>
      <p:sp>
        <p:nvSpPr>
          <p:cNvPr id="8" name="Rectangle 7"/>
          <p:cNvSpPr/>
          <p:nvPr/>
        </p:nvSpPr>
        <p:spPr>
          <a:xfrm>
            <a:off x="4663440" y="1005840"/>
            <a:ext cx="7223760" cy="1188720"/>
          </a:xfrm>
          <a:prstGeom prst="rect">
            <a:avLst/>
          </a:prstGeom>
          <a:solidFill>
            <a:srgbClr val="F0E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54880" y="1234440"/>
            <a:ext cx="7040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C4A3E"/>
                </a:solidFill>
                <a:latin typeface="IPAGothic"/>
              </a:rPr>
              <a:t>調達方法：日本政策金融公庫 ＋ エンジェル投資家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0" y="1691640"/>
            <a:ext cx="7040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A"/>
                </a:solidFill>
                <a:latin typeface="IPAGothic"/>
              </a:rPr>
              <a:t>第2回（Y2〜3）：1〜2億円  /  VC・事業会社提携  /  FC加速・関西展開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274320" y="2377440"/>
          <a:ext cx="1161288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70960"/>
                <a:gridCol w="3870960"/>
                <a:gridCol w="3870960"/>
              </a:tblGrid>
              <a:tr h="418011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IPAGothic"/>
                        </a:rPr>
                        <a:t>用途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IPAGothic"/>
                        </a:rPr>
                        <a:t>金額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IPAGothic"/>
                        </a:rPr>
                        <a:t>内訳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だし 然 1号店 開業費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2,000万円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内装900万＋厨房450万＋敷金（60万×3ヶ月）＋運転資金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蕎麦 然 1号店 開業費（8坪）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800万円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内装250万＋設備200万＋敷金（45万×6ヶ月）＋運転資金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SNSコンサル・スタートダッシュ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300万円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外部コンサル起用・開業前3〜6ヶ月集中投資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人材採用・研修費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300万円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店長・料理長採用・マニュアル・研修体制構築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運転資金・予備費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400万円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グループ管理・広告・オープン販促・予備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</a:tr>
              <a:tr h="418014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合計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3,800万円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274320" y="5120640"/>
            <a:ext cx="116128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IPAGothic"/>
              </a:rPr>
              <a:t>■ 投資家へのリターンイメージ</a:t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IPAGothic"/>
              </a:rPr>
              <a:t>・Y1〜2：初期投資回収フェーズ。各店舗の安定稼働と収益基盤の構築に集中</a:t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IPAGothic"/>
              </a:rPr>
              <a:t>・Y3以降：FCスケールで利益率が改善。EBITDA1.8億円（月商6,000万）で成長が加速</a:t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IPAGothic"/>
              </a:rPr>
              <a:t>・Y5：年商20億円・EBITDA6億円  →  EXIT（M&amp;A or IPO）を視野に</a:t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IPAGothic"/>
              </a:rPr>
              <a:t>・FCロイヤルティ収入はストック型のため、EXIT評価倍率向上に寄与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96012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IPAGothic"/>
              </a:rPr>
              <a:t>リスクと対策</a:t>
            </a:r>
          </a:p>
        </p:txBody>
      </p:sp>
      <p:pic>
        <p:nvPicPr>
          <p:cNvPr id="4" name="Picture 3" descr="zen_bran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0" y="45720"/>
            <a:ext cx="2103120" cy="749808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74320" y="1005840"/>
          <a:ext cx="1161288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03220"/>
                <a:gridCol w="2903220"/>
                <a:gridCol w="2903220"/>
                <a:gridCol w="2903220"/>
              </a:tblGrid>
              <a:tr h="718457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IPAGothic"/>
                        </a:rPr>
                        <a:t>リスク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IPAGothic"/>
                        </a:rPr>
                        <a:t>影響度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IPAGothic"/>
                        </a:rPr>
                        <a:t>発生確率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IPAGothic"/>
                        </a:rPr>
                        <a:t>対策</a:t>
                      </a:r>
                    </a:p>
                  </a:txBody>
                  <a:tcPr>
                    <a:solidFill>
                      <a:srgbClr val="2C4A3E"/>
                    </a:solidFill>
                  </a:tcPr>
                </a:tc>
              </a:tr>
              <a:tr h="718457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物件取得競争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高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中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不動産仲介との早期リレーション・複数候補常時確保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</a:tr>
              <a:tr h="718457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FC加盟店の品質低下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低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SV制度・月次研修・本部仕入れで品質統一・契約解除条項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18457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インバウンド需要の変動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中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中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ランチ（国内需要）でベース売上確保・円安依存排除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</a:tr>
              <a:tr h="718457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人材採用難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中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SNSブランディングで「働きたい会社」化・利益還元・待遇改善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18457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出汁素材の調達リスク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低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低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複数サプライヤーと年間契約・輸入品との組合せで安定化</a:t>
                      </a:r>
                    </a:p>
                  </a:txBody>
                  <a:tcPr>
                    <a:solidFill>
                      <a:srgbClr val="F0EEE8"/>
                    </a:solidFill>
                  </a:tcPr>
                </a:tc>
              </a:tr>
              <a:tr h="718458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競合参入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中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中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1A1A1A"/>
                          </a:solidFill>
                          <a:latin typeface="IPAGothic"/>
                        </a:rPr>
                        <a:t>先行出店・ブランド確立・FC網を早期に張る先行者利益戦略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C4A3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09728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400" b="1" i="0">
                <a:solidFill>
                  <a:srgbClr val="FFFFFF"/>
                </a:solidFill>
                <a:latin typeface="IPAGothic"/>
              </a:rPr>
              <a:t>然グループ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4688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1">
                <a:solidFill>
                  <a:srgbClr val="C49A22"/>
                </a:solidFill>
                <a:latin typeface="IPAGothic"/>
              </a:rPr>
              <a:t>ZEN GROUP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0" y="3200400"/>
            <a:ext cx="6400800" cy="36576"/>
          </a:xfrm>
          <a:prstGeom prst="rect">
            <a:avLst/>
          </a:prstGeom>
          <a:solidFill>
            <a:srgbClr val="C49A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33832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C49A22"/>
                </a:solidFill>
                <a:latin typeface="IPAGothic"/>
              </a:rPr>
              <a:t>食の全シーンに、然を。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0" y="4114800"/>
            <a:ext cx="6400800" cy="1828800"/>
          </a:xfrm>
          <a:prstGeom prst="rect">
            <a:avLst/>
          </a:prstGeom>
          <a:solidFill>
            <a:srgbClr val="1E35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834640" y="4206240"/>
            <a:ext cx="6217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IPAGothic"/>
              </a:rPr>
              <a:t>然グループ 事業企画室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34640" y="4709160"/>
            <a:ext cx="6217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0EEE8"/>
                </a:solidFill>
                <a:latin typeface="IPAGothic"/>
              </a:rPr>
              <a:t>Email：＿＿＿＿＿＿＿＿＿＿＿＿＿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34640" y="5120640"/>
            <a:ext cx="6217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0EEE8"/>
                </a:solidFill>
                <a:latin typeface="IPAGothic"/>
              </a:rPr>
              <a:t>Tel：＿＿＿＿＿＿＿＿＿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62179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C49A22"/>
                </a:solidFill>
                <a:latin typeface="IPAGothic"/>
              </a:rPr>
              <a:t>本資料は機密情報を含みます。無断転載・配布を禁じます。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