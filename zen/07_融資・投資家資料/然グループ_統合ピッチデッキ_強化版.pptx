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店舗数/展開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客単価は推計値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9A22"/>
                </a:solidFill>
                <a:latin typeface="IPAGothic"/>
              </a:rPr>
              <a:t>→ 高こだわり×高展開力を両立している競合はゼロ  ─  然グループの独占ゾーン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ひまり堂（恵比寿）との差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こだわり度は同等だが展開力が決定的に違う
• 然グループはFC化で1店の成功を30店に複製できる
• ひまり堂は単店の「職人店」─ スケールしない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職人系の最高品質だが客単価¥8,000超で市場が狭い
• 蕎麦然は¥2,500帯で「日常使いできるこだわり蕎麦」
• 立地も8坪小型で回転率×FC数で勝負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価格帯は近いが「素材・発酵」の軸が弱い
• 然グループは出汁・麹・発酵を共通コアとして全ブランドが連動
• SNS情報力で口コミ・インバウンドを自力で取込む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然グループ固有の強み（競合ゼロ）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3ブランド×FC展開：1業態の不振を他で補うリスクヘッジ
• 素材へのこだわり + FC展開力の両立 = 競合不在ゾーン
• SNS内製 = 月次マーケ費ゼロで情報優位を維持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差別化の本質  ─  FCモデル × 発酵・出汁コアが生む参入障壁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96112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00584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042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1店→55店への複製力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35331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成功レシピをFC化で横展開
競合は単店の技術・関係性に依存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01168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201168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04825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ロイヤルティ収入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5915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売上の3〜4%が直営費用ゼロで入る
店舗数×ロイヤルティ＝純粋な利益エンジン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301752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8320" y="301752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5409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リスク分散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36499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3ブランド×FC＝景気・トレンドに左右されない
単店競合は1業態の不振で即ダメージ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0624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33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素材・発酵コアの独自性  ─  競合が真似できない「知識資産」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617720"/>
            <a:ext cx="2788920" cy="6400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9A22"/>
                </a:solidFill>
                <a:latin typeface="IPAGothic"/>
              </a:rPr>
              <a:t>出汁の科学的再現性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昆布・鰹・椎茸の配合レシピを数値化
職人の勘ではなく「再現できる出汁」
→ FC加盟店でも同品質を担保できる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4617720"/>
            <a:ext cx="2788920" cy="640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A4A"/>
                </a:solidFill>
                <a:latin typeface="IPAGothic"/>
              </a:rPr>
              <a:t>麹・発酵の内製ノウハウ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麹仕入れKg/¥1,300（税抜）から
塩麹・醤油麹・発酵調味料を内製化
→ 原価コントロールと差別化を同時実現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617720"/>
            <a:ext cx="278892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4A3E"/>
                </a:solidFill>
                <a:latin typeface="IPAGothic"/>
              </a:rPr>
              <a:t>競合に真似されない理由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ひまり堂・三谷・びゃくは職人個人の感覚に依存
然グループは「再現可能なレシピ資産」として蓄積
→ 人が替わっても品質が変わらない = FC化の前提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4617720"/>
            <a:ext cx="2788920" cy="6400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2020"/>
                </a:solidFill>
                <a:latin typeface="IPAGothic"/>
              </a:rPr>
              <a:t>グループ横断のシナジー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だし然の出汁知識 → 蕎麦然のつゆに応用
麹・発酵は全ブランドの共通コア食材
→ R&amp;Dコストをグループで共有、競合はブランドごとに個別対応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「再現可能なこだわり」という矛盾を解決しているのが然グループだけ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4億円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採用・組織計画  ─  人材投資で成長を支える体制づくり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621792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960120"/>
            <a:ext cx="52120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98755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PAGothic"/>
              </a:rPr>
              <a:t>職種別 月給レンジ目安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399032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399032"/>
            <a:ext cx="73152" cy="6126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42646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2020"/>
                </a:solidFill>
                <a:latin typeface="IPAGothic"/>
              </a:rPr>
              <a:t>執行役員（Y3昇格・初期採用から）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7007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※別途検討中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856232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Y1入社→Y3執行役員昇格ルート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057400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057400"/>
            <a:ext cx="73152" cy="6126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0848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4A3E"/>
                </a:solidFill>
                <a:latin typeface="IPAGothic"/>
              </a:rPr>
              <a:t>エリアSV（スーパーバイザー）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3591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38〜45万円/月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514600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5〜7店舗を担当・Y3〜設置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715768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0" y="2715768"/>
            <a:ext cx="73152" cy="6126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743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店長（正社員）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175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30〜38万円/月＋売上1%インセンティブ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172968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店舗運営・スタッフ育成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3374136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3374136"/>
            <a:ext cx="73152" cy="6126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401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副店長・社員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67588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25〜30万円/月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831336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調理・ホール・発注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4032504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5120" y="4032504"/>
            <a:ext cx="73152" cy="612648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0599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AAAA"/>
                </a:solidFill>
                <a:latin typeface="IPAGothic"/>
              </a:rPr>
              <a:t>アルバイト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433425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時給1,200〜1,500円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489704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ホール・キッチン補助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251960"/>
            <a:ext cx="116128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279392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PAGothic"/>
              </a:rPr>
              <a:t>年度別採用計画（人件費逆算ベース）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274320" y="466344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本部・SV（名）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店舗社員（名）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77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121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アルバイト（名）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総人員（名）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49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121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192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298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8738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人件費（万円）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16,480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67208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1A1A"/>
                </a:solidFill>
                <a:latin typeface="IPAGothic"/>
              </a:rPr>
              <a:t>※ 店舗社員は各店2〜3名（店長1＋社員1〜2）、アルバイトは各店3名で計算　／　店長インセンティブ：月次売上の1%（例：だし然960万円/月 → 約9.6万円/月）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▲3,840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▲9,200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▲16,480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▲29,000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▲5,560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1,820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6,480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14,400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24,000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40,000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18%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・Y3以降：FCスケールで利益率が20%に安定。EBITDA1.4億円（月商6,000万）で成長が加速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・Y5：年商20億円・EBITDA4億円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