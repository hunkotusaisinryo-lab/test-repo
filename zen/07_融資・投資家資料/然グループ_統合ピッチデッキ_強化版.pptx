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N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3931920" cy="1188720"/>
          </a:xfrm>
          <a:prstGeom prst="rect">
            <a:avLst/>
          </a:prstGeom>
        </p:spPr>
      </p:pic>
      <p:pic>
        <p:nvPicPr>
          <p:cNvPr id="4" name="Picture 3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017520"/>
            <a:ext cx="3566160" cy="868680"/>
          </a:xfrm>
          <a:prstGeom prst="rect">
            <a:avLst/>
          </a:prstGeom>
        </p:spPr>
      </p:pic>
      <p:pic>
        <p:nvPicPr>
          <p:cNvPr id="5" name="Picture 4" descr="ZEN_NIKU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023360"/>
            <a:ext cx="3566160" cy="868680"/>
          </a:xfrm>
          <a:prstGeom prst="rect">
            <a:avLst/>
          </a:prstGeom>
        </p:spPr>
      </p:pic>
      <p:pic>
        <p:nvPicPr>
          <p:cNvPr id="6" name="Picture 5" descr="ZEN_SOB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5029200"/>
            <a:ext cx="356616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5989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0EEE8"/>
                </a:solidFill>
                <a:latin typeface="IPAGothic"/>
              </a:rPr>
              <a:t>ZEN 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097280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C4A3E"/>
                </a:solidFill>
                <a:latin typeface="IPAGothic"/>
              </a:rPr>
              <a:t>然グループ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  <a:latin typeface="IPAGothic"/>
              </a:rPr>
              <a:t>事業説明資料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108960"/>
            <a:ext cx="59436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291840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然グループ 事業企画室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2026年7月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5120640"/>
            <a:ext cx="320040" cy="320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5120640"/>
            <a:ext cx="320040" cy="320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5120640"/>
            <a:ext cx="320040" cy="320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IPAGothic"/>
              </a:rPr>
              <a:t>だし然  ／  肉酒場然  ／  蕎麦然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Confidential  ─  然グループ Internal Document  ─  無断転載禁止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グループビジョン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C4A3E"/>
                </a:solidFill>
                <a:latin typeface="IPAGothic"/>
              </a:rPr>
              <a:t>「食の全シーンに、然を。」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49A22"/>
                </a:solidFill>
                <a:latin typeface="IPAGothic"/>
              </a:rPr>
              <a:t>日本の「だし・発酵・素材」文化を現代の食卓とビジネスに再定義する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657600" cy="3931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出汁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DASHI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だしダイニング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出汁体験×インバウンド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ランチ定食＋体験ディナー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1,800〜9,000円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560320"/>
            <a:ext cx="3657600" cy="3931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肉と発酵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NIKU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炭火と発酵の居酒屋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発酵×炭火グリル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本格居酒屋体験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4,000〜6,000円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560320"/>
            <a:ext cx="3657600" cy="3931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立ちそば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SOBA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現代的な立ち食いそば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2分提供・FC展開特化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駅前・オフィス街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1,500円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市場機会  ─  なぜ今か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265176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25兆円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国内外食産業
市場規模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005840"/>
            <a:ext cx="2651760" cy="11887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4.3兆円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インバウンド消費
（2025年実績）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005840"/>
            <a:ext cx="2651760" cy="11887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3,188万人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訪日外国人数
（過去最高水準）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0" y="1005840"/>
            <a:ext cx="2651760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68%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健康志向食品市場
過去5年成長率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46888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追い風トレンド（国内）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外食産業はコロナ後の回復を超え、2030年に向けて成長軌道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インバウンド旅行者の「本物の日本食体験」需要が急拡大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発酵食品・出汁・和食の健康志向は国内外で加速中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立ち食い・スタンド業態：コスパ・時短ニーズで拡大継続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46888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追い風トレンド（市場環境）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飲食FC市場：初期投資の軽さから加盟希望者が増加傾向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SNSによる集客格差が顕在化（勝者総取り化が進行）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円安継続→外国人の日本食消費単価は上昇トレンド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2030年大阪万博：関西インバウンド需要の更なる拡大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4A3E"/>
                </a:solidFill>
                <a:latin typeface="IPAGothic"/>
              </a:rPr>
              <a:t>→ だし・発酵・素材こだわり × FC展開 × インバウンド対応 ── この3軸が同時に刺さる市場環境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然グループ  全体像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業態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家賃/月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月次利益/店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出汁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出汁定食・体験ディナー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60万円（25坪）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肉と発酵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炭火コース＋宴会居酒屋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80万円（38坪）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204万円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立ちそば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立ち食い蕎麦（8坪・小型）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45万円（8坪）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飲食特化SNSコンサル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月9.8〜39.8万円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食の時間帯フルカバー戦略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977639"/>
            <a:ext cx="3657600" cy="502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蕎麦 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11:00〜15:00 ランチ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3977639"/>
            <a:ext cx="3657600" cy="502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だし 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11:30〜22:00 ランチ〜ディナー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977639"/>
            <a:ext cx="3657600" cy="502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肉酒場 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17:00〜23:00 ディナー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634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全時間帯をカバーし、顧客をグループ内で回遊させる「然エコシステム」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出汁共通仕入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原価率1〜2%改善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然カード会員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グループ内回遊促進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SNS内製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広告費年300万削減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FCクロスセル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SNS事業受注創出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だし 然  ─  出汁体験レストラン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A22"/>
                </a:solidFill>
                <a:latin typeface="IPAGothic"/>
              </a:rPr>
              <a:t>「一杯の出汁が、今日を整える。」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ビジネスモデル（昼夜二毛作）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昼：出汁定食 1,600〜1,900円 ／ 地元ワーカー向け 平日22日安定集客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夜：出汁しゃぶ・体験コース 8,000〜12,000円 ／ インバウンド向け体験型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昆布×本枯れ節×麹発酵のオリジナルブレンド出汁が核心差別化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25坪・34席（カウンター10席）・4ヶ国語対応・Alipay/WeChatPay導入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【家賃】60万円/月（25坪・坪2.4万）│ 原価33% │ 人件費28%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展開計画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Phase1：東京直営 浅草・銀座・上野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Phase2：関西FC 京都祇園・大阪道頓堀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Phase3：20店舗（直営5＋FC15）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Phase4：海外 台湾・シンガポール（DASHI ZEN）</a:t>
            </a:r>
          </a:p>
        </p:txBody>
      </p:sp>
      <p:pic>
        <p:nvPicPr>
          <p:cNvPr id="19" name="Picture 18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474720"/>
            <a:ext cx="5303520" cy="30175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85216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960万円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144万円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営業利益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18〜24ヶ月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4572000"/>
            <a:ext cx="603504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46177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FCモデル収益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502920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加盟金：300万円 ／ ロイヤルティ：売上の3%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FC初期投資：3,200万円（標準）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FC月次営業利益：約280万円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FC投資回収期間：約20ヶ月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本部ロイヤルティ収入：FC10店で月288万円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肉と発酵  ─  炭火と発酵の居酒屋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2020"/>
                </a:solidFill>
                <a:latin typeface="IPAGothic"/>
              </a:rPr>
              <a:t>「発酵の香りと肉煙が満ちる、大人の隠れ酒場」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コンセプト・差別化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38坪・55席（個室・半個室15席含む）で宴会需要を獲得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発酵肉（麹漬け・味噌漬け）を炭火グリルで「見せる」体験型設計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ディナーコース主体（8,000〜10,000円）＋平日ランチ炭火定食2,000円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日本酒・焼酎の発酵ペアリングでドリンク単価を底上げ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【家賃】80万円/月（38坪・坪2.1万）│ 原価35% │ 人件費27.5%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戦略的位置づけ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然グループの「顔」かつ 発酵文化の発信基地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炭火・発酵器具がSNS映えコンテンツになる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常連顧客育成で口コミによる自然集客を実現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SNS事業部との連動でブランド発信を内製化</a:t>
            </a:r>
          </a:p>
        </p:txBody>
      </p:sp>
      <p:pic>
        <p:nvPicPr>
          <p:cNvPr id="19" name="Picture 18" descr="ZEN_NIK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432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1,200万円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月次売上目標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200万円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8,000〜10,000円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客単価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44068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47725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今後の展開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82472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2号店：東京都内（恵比寿・中目黒エリア）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フラッグシップ店として然グループのブランド旗艦に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519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将来的に大阪・福岡への直営拡大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立ちそば  ─  現代的な立ち食いそばFC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A4A"/>
                </a:solidFill>
                <a:latin typeface="IPAGothic"/>
              </a:rPr>
              <a:t>「2分で届く、本物の蕎麦。」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業態設計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8坪・8スタンド・1〜2人オペレーション（小型化）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客単価1,500円・回転時間12分・1日80〜90人集客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揚げたて天ぷら・北海道幌加内産蕎麦を使用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QR前払い・キャッシュレス100%で人件費最適化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【家賃】45万円/月（8坪・坪5.6万）│ 原価30% │ 人件費23%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FC展開モデル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FC加盟金200万円・ロイヤルティ4%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標準内装パッケージで施工期間2ヶ月以内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首都圏駅前・オフィス街から展開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小型化でFC初期投資を抑え加盟ハードルを下げる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目標：30店舗（直営3＋FC27）</a:t>
            </a:r>
          </a:p>
        </p:txBody>
      </p:sp>
      <p:pic>
        <p:nvPicPr>
          <p:cNvPr id="20" name="Picture 19" descr="ZEN_SOB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657600"/>
            <a:ext cx="548640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94360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350万円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70万円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月次利益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07040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0704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12〜15ヶ月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66344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FC収益シミュレーション（FC1店舗・小型8坪）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初期投資合計：800万円（内装・設備・物件取得費）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月次売上：350万円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月次営業利益：約56万円（ロイヤルティ控除後）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投資回収期間：約14〜16ヶ月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本部ロイヤルティ：FC10店で月140万円（売上の4%）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競合優位性  ─  なぜ然グループが勝てるか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48463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394960" y="1005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1005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59552" y="1051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① 出汁・発酵という普遍的コア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444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トレンドに流されない「日本食の本質」を軸に
10年・20年後も価値が変わらない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2148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0" y="2148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2194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② 価格帯ポートフォリオ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2587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不況時は蕎麦然・ランチ中心で守り
好況・インバウンドはだし然夜・肉酒場で攻める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94960" y="3291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3337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③ FC×直営の二重エンジン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9552" y="3730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直営で利益を確保しながらFCでスケール
飲食成功パターンを確実に踏む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4434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60" y="4434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4480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④ SNS情報優位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4873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毎日のトレンドリサーチを内製→外販できる
唯一の飲食グループ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5577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94960" y="5577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59552" y="5623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⑤ インバウンド確保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6016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だし然がインバウンド向け体験型ディナーを担当
円安・訪日外国人増加の波を確実に取込む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5778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  <a:latin typeface="IPAGothic"/>
              </a:rPr>
              <a:t>調査対象：みなとや・ひまり堂・ひまり商店・びゃく・三谷・なかよし（恵比寿/新橋/学芸大学）→ いずれも「こだわり×展開力」の両立なし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→ 「素材へのこだわり × FC展開力」が高水準で共存する競合不在のゾーン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競合分析  ─  ベンチマーク6店舗の詳細比較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IPAGothic"/>
              </a:rPr>
              <a:t>調査エリア：恵比寿・新橋・学芸大学（いずれも然グループの出店候補商圏）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37160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店舗名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エリア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業態・コンセプト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客単価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店舗数/展開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こだわり度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展開可能性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然グループとの関係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みなとや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大手町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老舗和定食・ビジネス層向け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¥1,200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だし然の客層が重なる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ひまり堂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恵比寿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こだわり出汁・和食カフェ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だし然の直接競合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ひまり商店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新橋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居酒屋・サラリーマン向け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肉酒場然と客層が重なる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びゃく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学芸大学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高級和食・職人こだわり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価格帯上位・直接競合薄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三谷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学芸大学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本格蕎麦・職人系単店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蕎麦然の品質ベンチ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なかよし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恵比寿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カジュアル和食・女性向け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¥2,200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だし然ランチ帯と競合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5577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  <a:latin typeface="IPAGothic"/>
              </a:rPr>
              <a:t>※ こだわり度・展開可能性は5段階評価（★多い＝高い）　客単価は推計値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49A22"/>
                </a:solidFill>
                <a:latin typeface="IPAGothic"/>
              </a:rPr>
              <a:t>→ 高こだわり×高展開力を両立している競合はゼロ  ─  然グループの独占ゾーン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競合分析  ─  差別化戦略と勝ち筋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5303520" cy="4754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60720" y="1005840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720" y="1005840"/>
            <a:ext cx="91440" cy="12984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060704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A22"/>
                </a:solidFill>
                <a:latin typeface="IPAGothic"/>
              </a:rPr>
              <a:t>ひまり堂（恵比寿）との差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408176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こだわり度は同等だが展開力が決定的に違う
• 然グループはFC化で1店の成功を30店に複製できる
• ひまり堂は単店の「職人店」─ スケールしない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395728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2395728"/>
            <a:ext cx="91440" cy="12984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2450592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A4A"/>
                </a:solidFill>
                <a:latin typeface="IPAGothic"/>
              </a:rPr>
              <a:t>びゃく・三谷との差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798064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職人系の最高品質だが客単価¥8,000超で市場が狭い
• 蕎麦然は¥2,500帯で「日常使いできるこだわり蕎麦」
• 立地も8坪小型で回転率×FC数で勝負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3785616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3785616"/>
            <a:ext cx="91440" cy="12984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3840480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2020"/>
                </a:solidFill>
                <a:latin typeface="IPAGothic"/>
              </a:rPr>
              <a:t>ひまり商店・なかよしとの差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187952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価格帯は近いが「素材・発酵」の軸が弱い
• 然グループは出汁・麹・発酵を共通コアとして全ブランドが連動
• SNS情報力で口コミ・インバウンドを自力で取込む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5175504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60720" y="5175504"/>
            <a:ext cx="91440" cy="12984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523036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然グループ固有の強み（競合ゼロ）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577840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3ブランド×FC展開：1業態の不振を他で補うリスクヘッジ
• 素材へのこだわり + FC展開力の両立 = 競合不在ゾーン
• SNS内製 = 月次マーケ費ゼロで情報優位を維持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0350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結論：然グループは「こだわり × スケール」の両立という、現状競合が存在しないポジションを確立する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差別化の本質  ─  FCモデル × 発酵・出汁コアが生む参入障壁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8961120" cy="3108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418320" y="100584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18320" y="100584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55480" y="1042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1店→55店への複製力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5480" y="135331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成功レシピをFC化で横展開
競合は単店の技術・関係性に依存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201168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20" y="201168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55480" y="204825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ロイヤルティ収入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35915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売上の3〜4%が直営費用ゼロで入る
店舗数×ロイヤルティ＝純粋な利益エンジン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0" y="301752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8320" y="301752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305409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リスク分散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336499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3ブランド×FC＝景気・トレンドに左右されない
単店競合は1業態の不振で即ダメージ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20624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2336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素材・発酵コアの独自性  ─  競合が真似できない「知識資産」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617720"/>
            <a:ext cx="2788920" cy="6400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49A22"/>
                </a:solidFill>
                <a:latin typeface="IPAGothic"/>
              </a:rPr>
              <a:t>出汁の科学的再現性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昆布・鰹・椎茸の配合レシピを数値化
職人の勘ではなく「再現できる出汁」
→ FC加盟店でも同品質を担保できる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0" y="4617720"/>
            <a:ext cx="2788920" cy="6400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A4A"/>
                </a:solidFill>
                <a:latin typeface="IPAGothic"/>
              </a:rPr>
              <a:t>麹・発酵の内製ノウハウ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麹仕入れKg/¥1,300（税抜）から
塩麹・醤油麹・発酵調味料を内製化
→ 原価コントロールと差別化を同時実現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0" y="4617720"/>
            <a:ext cx="2788920" cy="6400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C4A3E"/>
                </a:solidFill>
                <a:latin typeface="IPAGothic"/>
              </a:rPr>
              <a:t>競合に真似されない理由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ひまり堂・三谷・びゃくは職人個人の感覚に依存
然グループは「再現可能なレシピ資産」として蓄積
→ 人が替わっても品質が変わらない = FC化の前提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5256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52560" y="4617720"/>
            <a:ext cx="2788920" cy="6400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2020"/>
                </a:solidFill>
                <a:latin typeface="IPAGothic"/>
              </a:rPr>
              <a:t>グループ横断のシナジー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だし然の出汁知識 → 蕎麦然のつゆに応用
麹・発酵は全ブランドの共通コア食材
→ R&amp;Dコストをグループで共有、競合はブランドごとに個別対応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5836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「再現可能なこだわり」という矛盾を解決しているのが然グループだけ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販売・SNSマーケティング戦略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C4A3E"/>
                </a:solidFill>
                <a:latin typeface="IPAGothic"/>
              </a:rPr>
              <a:t>「SNSで集客する飲食グループ」を自ら実証し、外販へ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36576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1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開業前3〜6ヶ月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外部SNSコンサル起用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スタートダッシュ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645920"/>
            <a:ext cx="36576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2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Y1〜Y2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内製移行＋毎日トレンドリサーチ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コンテンツ量産体制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645920"/>
            <a:ext cx="36576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3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Y3〜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SNS事業部外販スタート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然グループが証明した手法を商品化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337560"/>
            <a:ext cx="2743200" cy="3840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YouTube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然グループ公式チャンネル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仕込み・料理動画・代表ブログ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発酵・出汁の解説コンテンツ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チャンネル登録→来店転換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3337560"/>
            <a:ext cx="2743200" cy="3840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Instagram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ブランド別アカウント＋統合アカウント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出汁の湯気・炭火の煙=映えコンテンツ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ストーリーズで日常・ビハインドシーン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フォロワーをリザーブに誘導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337560"/>
            <a:ext cx="2743200" cy="3840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TikTok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短尺料理動画・発酵解説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インバウンド向け多言語対応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ハッシュタグ戦略でバズ狙い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若年層・外国人の来店促進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3337560"/>
            <a:ext cx="2743200" cy="3840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97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Google / OTA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Googleマップ口コミ管理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食べログ・ぐるなびSEO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Booking.com / Airbnb体験登録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インバウンド流入確保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8932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開業前コンサル費用 300万円を資金調達に組み込み済み → Y1からSNS集客を最大化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5カ年数値計画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8404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00584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月商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1,200万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1.4億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3.6億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6,000万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7.2億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10,000万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12億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17,000万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20億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0" y="4206240"/>
            <a:ext cx="4572000" cy="6400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PAGothic"/>
              </a:rPr>
              <a:t>Year 5 目標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4526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PAGothic"/>
              </a:rPr>
              <a:t>年商 20億円  /  55店舗  /  EBITDA 4億円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5074920"/>
            <a:ext cx="27432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Y1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だし然・蕎麦然1号店開業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5074920"/>
            <a:ext cx="27432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FC展開開始・肉酒場然2号店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5074920"/>
            <a:ext cx="2743200" cy="1463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関西進出・SNS事業部外販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5074920"/>
            <a:ext cx="27432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55店舗・年商20億・EXIT準備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採用・組織計画  ─  人材投資で成長を支える体制づくり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6217920" cy="3200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675120" y="960120"/>
            <a:ext cx="52120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98755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IPAGothic"/>
              </a:rPr>
              <a:t>職種別 月給レンジ目安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1399032"/>
            <a:ext cx="5212080" cy="6126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399032"/>
            <a:ext cx="73152" cy="6126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142646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2020"/>
                </a:solidFill>
                <a:latin typeface="IPAGothic"/>
              </a:rPr>
              <a:t>代表役員（オーナー）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170078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IPAGothic"/>
              </a:rPr>
              <a:t>検討中　※Y1-Y2は最小限に抑え再投資優先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1856232"/>
            <a:ext cx="4937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1A1A1A"/>
                </a:solidFill>
                <a:latin typeface="IPAGothic"/>
              </a:rPr>
              <a:t>Y1-Y2:1名体制　Y3以降:2名体制へ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2057400"/>
            <a:ext cx="5212080" cy="6126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2057400"/>
            <a:ext cx="73152" cy="6126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08483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C4A3E"/>
                </a:solidFill>
                <a:latin typeface="IPAGothic"/>
              </a:rPr>
              <a:t>執行役員（Y3〜・初期採用から昇格）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3591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IPAGothic"/>
              </a:rPr>
              <a:t>検討中　※Y3時点で執行役員に昇格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2514600"/>
            <a:ext cx="4937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1A1A1A"/>
                </a:solidFill>
                <a:latin typeface="IPAGothic"/>
              </a:rPr>
              <a:t>Y1入社→Y3執行役員として経営参画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2715768"/>
            <a:ext cx="5212080" cy="6126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5120" y="2715768"/>
            <a:ext cx="73152" cy="6126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27432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エリアSV（スーパーバイザー）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0175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IPAGothic"/>
              </a:rPr>
              <a:t>38〜45万円/月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172968"/>
            <a:ext cx="4937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1A1A1A"/>
                </a:solidFill>
                <a:latin typeface="IPAGothic"/>
              </a:rPr>
              <a:t>5〜7店舗を担当・Y3〜設置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3374136"/>
            <a:ext cx="5212080" cy="6126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75120" y="3374136"/>
            <a:ext cx="73152" cy="6126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40156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店長（正社員）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367588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IPAGothic"/>
              </a:rPr>
              <a:t>30〜38万円/月 ＋ 売上1%インセンティブ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3831336"/>
            <a:ext cx="4937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1A1A1A"/>
                </a:solidFill>
                <a:latin typeface="IPAGothic"/>
              </a:rPr>
              <a:t>例：月商960万→インセンティブ約9.6万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0" y="4032504"/>
            <a:ext cx="5212080" cy="6126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75120" y="4032504"/>
            <a:ext cx="73152" cy="612648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405993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AAAA"/>
                </a:solidFill>
                <a:latin typeface="IPAGothic"/>
              </a:rPr>
              <a:t>アルバイト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433425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IPAGothic"/>
              </a:rPr>
              <a:t>時給1,200〜1,500円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4489704"/>
            <a:ext cx="4937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1A1A1A"/>
                </a:solidFill>
                <a:latin typeface="IPAGothic"/>
              </a:rPr>
              <a:t>蕎麦然2名/店、だし然・肉酒場然3名/店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251960"/>
            <a:ext cx="116128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279392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IPAGothic"/>
              </a:rPr>
              <a:t>年度別採用計画（人件費逆算ベース）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274320" y="4663440"/>
          <a:ext cx="1161288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25717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1A2A4A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店舗数（直営＋FC）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役員（名）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本部・SV（名）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店舗社員（名）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アルバイト（名）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24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135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総人員（名）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人件費（万円）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3,840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9,200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16,480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29,000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65760" y="674827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1A1A1A"/>
                </a:solidFill>
                <a:latin typeface="IPAGothic"/>
              </a:rPr>
              <a:t>※ 蕎麦然:社員1名＋アルバイト2名/店　だし然・肉酒場然:社員2名＋アルバイト3名/店　役員報酬は別途設計予定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収益モデルサマリー  ─  グループ損益と成長ストック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669280" cy="28346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005840"/>
          <a:ext cx="5943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90600"/>
                <a:gridCol w="990600"/>
                <a:gridCol w="990600"/>
                <a:gridCol w="990600"/>
                <a:gridCol w="990600"/>
              </a:tblGrid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目標店舗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グループ月次利益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2,880万円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 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1,000万円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 然（小型）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2,100万円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合計（安定期）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6,063万円〜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02336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05993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収益構造のポイント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074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Y1 グループ月次売上：約2,510万円（利益率約17%、月次利益約418万円）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FCロイヤルティはFC40店規模で月1,296万円のストック収益（安定成長）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102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成長フェーズ（Y3〜）で利益率が改善：規模の経済＋仕入共通化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44982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直営利益＋FCロイヤルティの二重収益でリスク分散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 事業計画 P&amp;L  ─  5カ年損益計画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65376"/>
                <a:gridCol w="1865376"/>
                <a:gridCol w="1865376"/>
                <a:gridCol w="1865376"/>
                <a:gridCol w="1865376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売上高（万円）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14,000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36,000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72,000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120,000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売上原価（31%）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▲22,320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▲62,000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売上総利益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9,660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24,840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49,680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82,800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138,000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粗利率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人件費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▲3,840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▲9,200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▲16,480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▲29,000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家賃合計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その他（光熱費等）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▲5,560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▲18,800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▲35,000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EBITDA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1,820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6,480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14,400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24,000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40,000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EBITDA率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13%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18%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303520"/>
            <a:ext cx="1161288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キャッシュフロー計画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200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0" y="1005840"/>
          <a:ext cx="475487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268"/>
                <a:gridCol w="679268"/>
                <a:gridCol w="679268"/>
                <a:gridCol w="679268"/>
                <a:gridCol w="679268"/>
                <a:gridCol w="679268"/>
                <a:gridCol w="67926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調達時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Y1末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Y2末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Y3末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Y4末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Y5末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営業CF（万円）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+15,000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投資CF（万円）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純CF（万円）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+3,800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+43,000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累計CF（万円）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75,900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0" y="3474720"/>
            <a:ext cx="4754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351129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CFのポイント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8587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資金調達3,800万を起点にY1末で累計CF黒字転換（返済原資確保）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2062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Y2: FC展開への投資5,000万は営業CF7,140万の範囲内でまかなえる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55371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Y3以降: 投資超過分もFCロイヤルティ等のストック収益で補填、累計CFが急拡大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90118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Y5末: 累計CF 7.5億円 → 配当・EXIT・追加投資の原資として十分な水準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389120"/>
            <a:ext cx="6675120" cy="2194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443484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■ Y1 月次CF イメージ（肉酒場然・稼働済み前提）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846320"/>
            <a:ext cx="6492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月1〜3：肉酒場然のみ稼働 → 月次CF +100〜150万（立ち上げ費用除く）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月4〜6：だし然 開業 → 月次CF +200〜280万（稼働率70%）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月7〜：蕎麦然 開業 → 月次CF +350〜430万（3ブランド揃い踏み）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Y1末時点：累計CF（資金調達後）約5,400万 → BEP到達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資金調達計画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PAGothic"/>
              </a:rPr>
              <a:t>第1回 調達目標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49A22"/>
                </a:solidFill>
                <a:latin typeface="IPAGothic"/>
              </a:rPr>
              <a:t>3,800万円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05840"/>
            <a:ext cx="7223760" cy="118872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23444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4A3E"/>
                </a:solidFill>
                <a:latin typeface="IPAGothic"/>
              </a:rPr>
              <a:t>調達方法：日本政策金融公庫 ＋ エンジェル投資家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916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第2回（Y2〜3）：1〜2億円  /  VC・事業会社提携  /  FC加速・関西展開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237744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用途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金額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内訳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だし 然 1号店 開業費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内装900万＋厨房450万＋敷金（60万×3ヶ月）＋運転資金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蕎麦 然 1号店 開業費（8坪）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内装250万＋設備200万＋敷金（45万×6ヶ月）＋運転資金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SNSコンサル・スタートダッシュ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外部コンサル起用・開業前3〜6ヶ月集中投資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人材採用・研修費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店長・料理長採用・マニュアル・研修体制構築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運転資金・予備費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グループ管理・広告・オープン販促・予備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3,800万円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投資家へのリターンイメージ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・Y1〜2：初期投資回収フェーズ。各店舗の安定稼働と収益基盤の構築に集中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・Y3以降：FCスケールで利益率が20%に安定。EBITDA1.4億円（月商6,000万）で成長が加速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・Y5：年商20億円・EBITDA4億円  →  EXIT（M&amp;A or IPO）を視野に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・FCロイヤルティ収入はストック型のため、EXIT評価倍率向上に寄与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リスクと対策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リスク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影響度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発生確率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対策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物件取得競争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不動産仲介との早期リレーション・複数候補常時確保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FC加盟店の品質低下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SV制度・月次研修・本部仕入れで品質統一・契約解除条項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インバウンド需要の変動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ランチ（国内需要）でベース売上確保・円安依存排除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SNSブランディングで「働きたい会社」化・利益還元・待遇改善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出汁素材の調達リスク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複数サプライヤーと年間契約・輸入品との組合せで安定化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競合参入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先行出店・ブランド確立・FC網を早期に張る先行者利益戦略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4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IPAGothic"/>
              </a:rPr>
              <a:t>然グループ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49A22"/>
                </a:solidFill>
                <a:latin typeface="IPAGothic"/>
              </a:rPr>
              <a:t>ZEN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200400"/>
            <a:ext cx="64008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400800" cy="1828800"/>
          </a:xfrm>
          <a:prstGeom prst="rect">
            <a:avLst/>
          </a:prstGeom>
          <a:solidFill>
            <a:srgbClr val="1E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然グループ 事業企画室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091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Email：＿＿＿＿＿＿＿＿＿＿＿＿＿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Tel：＿＿＿＿＿＿＿＿＿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49A22"/>
                </a:solidFill>
                <a:latin typeface="IPAGothic"/>
              </a:rPr>
              <a:t>本資料は機密情報を含みます。無断転載・配布を禁じます。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