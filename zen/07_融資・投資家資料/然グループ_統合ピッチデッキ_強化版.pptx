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ZEN_GROUP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1645920"/>
            <a:ext cx="3931920" cy="1188720"/>
          </a:xfrm>
          <a:prstGeom prst="rect">
            <a:avLst/>
          </a:prstGeom>
        </p:spPr>
      </p:pic>
      <p:pic>
        <p:nvPicPr>
          <p:cNvPr id="4" name="Picture 3" descr="ZEN_DASH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3017520"/>
            <a:ext cx="3566160" cy="868680"/>
          </a:xfrm>
          <a:prstGeom prst="rect">
            <a:avLst/>
          </a:prstGeom>
        </p:spPr>
      </p:pic>
      <p:pic>
        <p:nvPicPr>
          <p:cNvPr id="5" name="Picture 4" descr="ZEN_NIKU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4023360"/>
            <a:ext cx="3566160" cy="868680"/>
          </a:xfrm>
          <a:prstGeom prst="rect">
            <a:avLst/>
          </a:prstGeom>
        </p:spPr>
      </p:pic>
      <p:pic>
        <p:nvPicPr>
          <p:cNvPr id="6" name="Picture 5" descr="ZEN_SOBA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5029200"/>
            <a:ext cx="3566160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0" y="59893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F0EEE8"/>
                </a:solidFill>
                <a:latin typeface="IPAGothic"/>
              </a:rPr>
              <a:t>ZEN BRAND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097280"/>
            <a:ext cx="7132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2C4A3E"/>
                </a:solidFill>
                <a:latin typeface="IPAGothic"/>
              </a:rPr>
              <a:t>然グループ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A1A1A"/>
                </a:solidFill>
                <a:latin typeface="IPAGothic"/>
              </a:rPr>
              <a:t>事業説明資料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3108960"/>
            <a:ext cx="5943600" cy="36576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3291840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49A22"/>
                </a:solidFill>
                <a:latin typeface="IPAGothic"/>
              </a:rPr>
              <a:t>食の全シーンに、然を。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114800"/>
            <a:ext cx="7132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IPAGothic"/>
              </a:rPr>
              <a:t>然グループ 事業企画室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IPAGothic"/>
              </a:rPr>
              <a:t>2026年7月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5120640"/>
            <a:ext cx="320040" cy="32004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0" y="5120640"/>
            <a:ext cx="320040" cy="32004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5120640"/>
            <a:ext cx="320040" cy="32004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5120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IPAGothic"/>
              </a:rPr>
              <a:t>だし然  ／  肉酒場然  ／  蕎麦然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Confidential  ─  然グループ Internal Document  ─  無断転載禁止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グループビジョン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10058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2C4A3E"/>
                </a:solidFill>
                <a:latin typeface="IPAGothic"/>
              </a:rPr>
              <a:t>「食の全シーンに、然を。」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C49A22"/>
                </a:solidFill>
                <a:latin typeface="IPAGothic"/>
              </a:rPr>
              <a:t>日本の「だし・発酵・素材」文化を現代の食卓とビジネスに再定義する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560320"/>
            <a:ext cx="3657600" cy="393192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26517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IPAGothic"/>
              </a:rPr>
              <a:t>然 出汁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46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  <a:latin typeface="IPAGothic"/>
              </a:rPr>
              <a:t>ZEN DASHI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611880"/>
            <a:ext cx="310896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7033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だしダイニング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11480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出汁体験×インバウンド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ランチ定食＋体験ディナー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客単価 1,800〜9,000円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2560320"/>
            <a:ext cx="3657600" cy="393192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0" y="26517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IPAGothic"/>
              </a:rPr>
              <a:t>然 肉と発酵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246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  <a:latin typeface="IPAGothic"/>
              </a:rPr>
              <a:t>ZEN NIKU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3611880"/>
            <a:ext cx="310896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37033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炭火と発酵の居酒屋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411480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発酵×炭火グリル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本格居酒屋体験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客単価 4,000〜6,000円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2560320"/>
            <a:ext cx="3657600" cy="39319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26517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IPAGothic"/>
              </a:rPr>
              <a:t>然 立ちそば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3246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  <a:latin typeface="IPAGothic"/>
              </a:rPr>
              <a:t>ZEN SOBA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03920" y="3611880"/>
            <a:ext cx="310896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21040" y="37033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現代的な立ち食いそば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411480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2分提供・FC展開特化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駅前・オフィス街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客単価 1,500円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市場機会  ─  なぜ今か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274320" y="1005840"/>
            <a:ext cx="2651760" cy="118872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078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49A22"/>
                </a:solidFill>
                <a:latin typeface="IPAGothic"/>
              </a:rPr>
              <a:t>25兆円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62763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国内外食産業
市場規模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1005840"/>
            <a:ext cx="2651760" cy="118872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1078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49A22"/>
                </a:solidFill>
                <a:latin typeface="IPAGothic"/>
              </a:rPr>
              <a:t>4.3兆円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162763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インバウンド消費
（2025年実績）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005840"/>
            <a:ext cx="2651760" cy="118872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1078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49A22"/>
                </a:solidFill>
                <a:latin typeface="IPAGothic"/>
              </a:rPr>
              <a:t>3,188万人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62763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訪日外国人数
（過去最高水準）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52560" y="1005840"/>
            <a:ext cx="2651760" cy="11887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52560" y="1078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49A22"/>
                </a:solidFill>
                <a:latin typeface="IPAGothic"/>
              </a:rPr>
              <a:t>68%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60" y="162763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健康志向食品市場
過去5年成長率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468880"/>
            <a:ext cx="56692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50545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追い風トレンド（国内）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85292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外食産業はコロナ後の回復を超え、2030年に向けて成長軌道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2004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インバウンド旅行者の「本物の日本食体験」需要が急拡大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5478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発酵食品・出汁・和食の健康志向は国内外で加速中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89534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立ち食い・スタンド業態：コスパ・時短ニーズで拡大継続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2468880"/>
            <a:ext cx="5669280" cy="347472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50545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追い風トレンド（市場環境）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285292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飲食FC市場：初期投資の軽さから加盟希望者が増加傾向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2004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SNSによる集客格差が顕在化（勝者総取り化が進行）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5478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円安継続→外国人の日本食消費単価は上昇トレンド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389534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2030年大阪万博：関西インバウンド需要の更なる拡大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5989320"/>
            <a:ext cx="1161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C4A3E"/>
                </a:solidFill>
                <a:latin typeface="IPAGothic"/>
              </a:rPr>
              <a:t>→ だし・発酵・素材こだわり × FC展開 × インバウンド対応 ── この3軸が同時に刺さる市場環境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然グループ  全体像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005840"/>
          <a:ext cx="116128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5480"/>
                <a:gridCol w="1935480"/>
                <a:gridCol w="1935480"/>
                <a:gridCol w="1935480"/>
                <a:gridCol w="1935480"/>
                <a:gridCol w="19354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ブランド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業態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月次売上/店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利益率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家賃/月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月次利益/店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然 出汁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出汁定食・体験ディナー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960万円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15%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60万円（25坪）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144万円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然 肉と発酵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炭火コース＋宴会居酒屋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1,200万円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80万円（38坪）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204万円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然 立ちそば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立ち食い蕎麦（8坪・小型）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350万円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20%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45万円（8坪）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70万円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SNS事業部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飲食特化SNSコンサル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月9.8〜39.8万円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83万円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74320" y="35204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食の時間帯フルカバー戦略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3977639"/>
            <a:ext cx="3657600" cy="5029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400507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蕎麦 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2976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11:00〜15:00 ランチ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3977639"/>
            <a:ext cx="3657600" cy="50292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0" y="400507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だし 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42976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11:30〜22:00 ランチ〜ディナー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3977639"/>
            <a:ext cx="3657600" cy="50292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00507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肉酒場 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42976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17:00〜23:00 ディナー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46634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49A22"/>
                </a:solidFill>
                <a:latin typeface="IPAGothic"/>
              </a:rPr>
              <a:t>→ 全時間帯をカバーし、顧客をグループ内で回遊させる「然エコシステム」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5166360"/>
            <a:ext cx="2743200" cy="13716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52303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出汁共通仕入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5669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原価率1〜2%改善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0" y="5166360"/>
            <a:ext cx="2743200" cy="13716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0" y="52303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然カード会員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5669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グループ内回遊促進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26480" y="5166360"/>
            <a:ext cx="2743200" cy="13716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0" y="52303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SNS内製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5669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広告費年300万削減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52560" y="5166360"/>
            <a:ext cx="2743200" cy="13716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52560" y="52303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FCクロスセル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560" y="5669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SNS事業受注創出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だし 然  ─  出汁体験レストラン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058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49A22"/>
                </a:solidFill>
                <a:latin typeface="IPAGothic"/>
              </a:rPr>
              <a:t>「一杯の出汁が、今日を整える。」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645920"/>
            <a:ext cx="5669280" cy="347472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ビジネスモデル（昼夜二毛作）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昼：出汁定食 1,600〜1,900円 ／ 地元ワーカー向け 平日22日安定集客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夜：出汁しゃぶ・体験コース 8,000〜12,000円 ／ インバウンド向け体験型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昆布×本枯れ節×麹発酵のオリジナルブレンド出汁が核心差別化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25坪・34席（カウンター10席）・4ヶ国語対応・Alipay/WeChatPay導入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4198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【家賃】60万円/月（25坪・坪2.4万）│ 原価33% │ 人件費28%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645920"/>
            <a:ext cx="56692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展開計画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Phase1：東京直営 浅草・銀座・上野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Phase2：関西FC 京都祇園・大阪道頓堀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Phase3：20店舗（直営5＋FC15）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Phase4：海外 台湾・シンガポール（DASHI ZEN）</a:t>
            </a:r>
          </a:p>
        </p:txBody>
      </p:sp>
      <p:pic>
        <p:nvPicPr>
          <p:cNvPr id="19" name="Picture 18" descr="ZEN_DASH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600200"/>
            <a:ext cx="2560320" cy="640080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3474720"/>
            <a:ext cx="5303520" cy="301752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5852160" y="3474720"/>
            <a:ext cx="13716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0" y="3520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960万円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0" y="40416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月次売上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06640" y="3474720"/>
            <a:ext cx="13716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0" y="3520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144万円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40" y="40416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営業利益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61120" y="3474720"/>
            <a:ext cx="13716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61120" y="3520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15%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40416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利益率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515600" y="3474720"/>
            <a:ext cx="13716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5600" y="3520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18〜24ヶ月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40416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投資回収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52160" y="4572000"/>
            <a:ext cx="6035040" cy="192024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0" y="461772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FCモデル収益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0" y="5029200"/>
            <a:ext cx="5852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加盟金：300万円 ／ ロイヤルティ：売上の3%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FC初期投資：3,200万円（標準）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FC月次営業利益：約280万円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FC投資回収期間：約20ヶ月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本部ロイヤルティ収入：FC10店で月288万円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然 肉と発酵  ─  炭火と発酵の居酒屋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058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8B2020"/>
                </a:solidFill>
                <a:latin typeface="IPAGothic"/>
              </a:rPr>
              <a:t>「発酵の香りと肉煙が満ちる、大人の隠れ酒場」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645920"/>
            <a:ext cx="5669280" cy="347472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コンセプト・差別化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38坪・55席（個室・半個室15席含む）で宴会需要を獲得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発酵肉（麹漬け・味噌漬け）を炭火グリルで「見せる」体験型設計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ディナーコース主体（8,000〜10,000円）＋平日ランチ炭火定食2,000円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日本酒・焼酎の発酵ペアリングでドリンク単価を底上げ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4198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【家賃】80万円/月（38坪・坪2.1万）│ 原価35% │ 人件費27.5%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645920"/>
            <a:ext cx="56692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戦略的位置づけ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然グループの「顔」かつ 発酵文化の発信基地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炭火・発酵器具がSNS映えコンテンツになる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常連顧客育成で口コミによる自然集客を実現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SNS事業部との連動でブランド発信を内製化</a:t>
            </a:r>
          </a:p>
        </p:txBody>
      </p:sp>
      <p:pic>
        <p:nvPicPr>
          <p:cNvPr id="19" name="Picture 18" descr="ZEN_NIK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600200"/>
            <a:ext cx="2560320" cy="64008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274320" y="4297680"/>
            <a:ext cx="2743200" cy="91440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43434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49A22"/>
                </a:solidFill>
                <a:latin typeface="IPAGothic"/>
              </a:rPr>
              <a:t>1,200万円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489204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月次売上目標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0" y="4297680"/>
            <a:ext cx="27432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0" y="43434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49A22"/>
                </a:solidFill>
                <a:latin typeface="IPAGothic"/>
              </a:rPr>
              <a:t>200万円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489204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月次営業利益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4297680"/>
            <a:ext cx="2743200" cy="91440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0" y="43434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49A22"/>
                </a:solidFill>
                <a:latin typeface="IPAGothic"/>
              </a:rPr>
              <a:t>17%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489204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利益率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52560" y="4297680"/>
            <a:ext cx="27432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52560" y="43434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49A22"/>
                </a:solidFill>
                <a:latin typeface="IPAGothic"/>
              </a:rPr>
              <a:t>8,000〜10,000円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60" y="489204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客単価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440680"/>
            <a:ext cx="116128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5477256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今後の展開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582472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2号店：東京都内（恵比寿・中目黒エリア）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17220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フラッグシップ店として然グループのブランド旗艦に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51967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将来的に大阪・福岡への直営拡大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然 立ちそば  ─  現代的な立ち食いそばFC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058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2A4A"/>
                </a:solidFill>
                <a:latin typeface="IPAGothic"/>
              </a:rPr>
              <a:t>「2分で届く、本物の蕎麦。」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645920"/>
            <a:ext cx="5669280" cy="347472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業態設計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8坪・8スタンド・1〜2人オペレーション（小型化）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客単価1,500円・回転時間12分・1日80〜90人集客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揚げたて天ぷら・北海道幌加内産蕎麦を使用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QR前払い・キャッシュレス100%で人件費最適化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4198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【家賃】45万円/月（8坪・坪5.6万）│ 原価30% │ 人件費23%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645920"/>
            <a:ext cx="56692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FC展開モデル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FC加盟金200万円・ロイヤルティ4%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標準内装パッケージで施工期間2ヶ月以内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首都圏駅前・オフィス街から展開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小型化でFC初期投資を抑え加盟ハードルを下げる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4198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目標：30店舗（直営3＋FC27）</a:t>
            </a:r>
          </a:p>
        </p:txBody>
      </p:sp>
      <p:pic>
        <p:nvPicPr>
          <p:cNvPr id="20" name="Picture 19" descr="ZEN_SOB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600200"/>
            <a:ext cx="2560320" cy="640080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3657600"/>
            <a:ext cx="5486400" cy="283464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5943600" y="3657600"/>
            <a:ext cx="1371600" cy="86868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0" y="370332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49A22"/>
                </a:solidFill>
                <a:latin typeface="IPAGothic"/>
              </a:rPr>
              <a:t>350万円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42062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月次売上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98079" y="3657600"/>
            <a:ext cx="1371600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79" y="370332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49A22"/>
                </a:solidFill>
                <a:latin typeface="IPAGothic"/>
              </a:rPr>
              <a:t>70万円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42062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月次利益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52560" y="3657600"/>
            <a:ext cx="1371600" cy="86868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52560" y="370332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49A22"/>
                </a:solidFill>
                <a:latin typeface="IPAGothic"/>
              </a:rPr>
              <a:t>20%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42062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利益率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607040" y="3657600"/>
            <a:ext cx="1371600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607040" y="370332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49A22"/>
                </a:solidFill>
                <a:latin typeface="IPAGothic"/>
              </a:rPr>
              <a:t>12〜15ヶ月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42062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投資回収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0" y="4663440"/>
            <a:ext cx="5943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■ FC収益シミュレーション（FC1店舗・小型8坪）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初期投資合計：800万円（内装・設備・物件取得費）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月次売上：350万円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月次営業利益：約56万円（ロイヤルティ控除後）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投資回収期間：約14〜16ヶ月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本部ロイヤルティ：FC10店で月140万円（売上の4%）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競合優位性  ─  なぜ然グループが勝てるか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4846320" cy="4114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394960" y="1005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94960" y="1005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59552" y="1051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① 出汁・発酵という普遍的コア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59552" y="1444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トレンドに流されない「日本食の本質」を軸に
10年・20年後も価値が変わらない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94960" y="2148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94960" y="2148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552" y="2194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② 価格帯ポートフォリオ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59552" y="2587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不況時は蕎麦然・ランチ中心で守り
好況・インバウンドはだし然夜・肉酒場で攻める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94960" y="3291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394960" y="3291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552" y="3337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③ FC×直営の二重エンジン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59552" y="3730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直営で利益を確保しながらFCでスケール
飲食成功パターンを確実に踏む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94960" y="4434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94960" y="4434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59552" y="4480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④ SNS情報優位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59552" y="4873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毎日のトレンドリサーチを内製→外販できる
唯一の飲食グループ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94960" y="5577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394960" y="5577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59552" y="5623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⑤ インバウンド確保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59552" y="6016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だし然がインバウンド向け体験型ディナーを担当
円安・訪日外国人増加の波を確実に取込む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55778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A1A1A"/>
                </a:solidFill>
                <a:latin typeface="IPAGothic"/>
              </a:rPr>
              <a:t>調査対象：みなとや・ひまり堂・ひまり商店・びゃく・三谷・なかよし（恵比寿/新橋/学芸大学）→ いずれも「こだわり×展開力」の両立なし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594360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→ 「素材へのこだわり × FC展開力」が高水準で共存する競合不在のゾーン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競合分析  ─  ベンチマーク6店舗の詳細比較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9601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A1A1A"/>
                </a:solidFill>
                <a:latin typeface="IPAGothic"/>
              </a:rPr>
              <a:t>調査エリア：恵比寿・新橋・学芸大学（いずれも然グループの出店候補商圏）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371600"/>
          <a:ext cx="116128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1610"/>
                <a:gridCol w="1451610"/>
                <a:gridCol w="1451610"/>
                <a:gridCol w="1451610"/>
                <a:gridCol w="1451610"/>
                <a:gridCol w="1451610"/>
                <a:gridCol w="1451610"/>
                <a:gridCol w="1451610"/>
              </a:tblGrid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店舗名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エリア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業態・コンセプト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客単価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店舗数/展開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こだわり度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展開可能性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然グループとの関係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みなとや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大手町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老舗和定食・ビジネス層向け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¥1,200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単店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★★★☆☆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★★☆☆☆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だし然の客層が重なる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ひまり堂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恵比寿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こだわり出汁・和食カフェ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¥1,800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単店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★★★★☆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★☆☆☆☆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だし然の直接競合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ひまり商店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新橋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居酒屋・サラリーマン向け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¥3,500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単店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★★☆☆☆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★★★☆☆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肉酒場然と客層が重なる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びゃく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学芸大学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高級和食・職人こだわり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¥8,000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単店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★★★★★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★☆☆☆☆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価格帯上位・直接競合薄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三谷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学芸大学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本格蕎麦・職人系単店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¥2,500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単店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★★★★☆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★☆☆☆☆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蕎麦然の品質ベンチ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なかよし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恵比寿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カジュアル和食・女性向け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¥2,200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単店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★★★☆☆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★★☆☆☆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だし然ランチ帯と競合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55778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1A1A1A"/>
                </a:solidFill>
                <a:latin typeface="IPAGothic"/>
              </a:rPr>
              <a:t>※ こだわり度・展開可能性は5段階評価（★多い＝高い）　客単価は推計値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594360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49A22"/>
                </a:solidFill>
                <a:latin typeface="IPAGothic"/>
              </a:rPr>
              <a:t>→ 高こだわり×高展開力を両立している競合はゼロ  ─  然グループの独占ゾーン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競合分析  ─  差別化戦略と勝ち筋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960120"/>
            <a:ext cx="5303520" cy="47548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760720" y="1005840"/>
            <a:ext cx="6126480" cy="1298448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60720" y="1005840"/>
            <a:ext cx="91440" cy="1298448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0" y="1060704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9A22"/>
                </a:solidFill>
                <a:latin typeface="IPAGothic"/>
              </a:rPr>
              <a:t>ひまり堂（恵比寿）との差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408176"/>
            <a:ext cx="5852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IPAGothic"/>
              </a:rPr>
              <a:t>• こだわり度は同等だが展開力が決定的に違う
• 然グループはFC化で1店の成功を30店に複製できる
• ひまり堂は単店の「職人店」─ スケールしない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60720" y="2395728"/>
            <a:ext cx="6126480" cy="1298448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720" y="2395728"/>
            <a:ext cx="91440" cy="1298448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0" y="2450592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A4A"/>
                </a:solidFill>
                <a:latin typeface="IPAGothic"/>
              </a:rPr>
              <a:t>びゃく・三谷との差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798064"/>
            <a:ext cx="5852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IPAGothic"/>
              </a:rPr>
              <a:t>• 職人系の最高品質だが客単価¥8,000超で市場が狭い
• 蕎麦然は¥2,500帯で「日常使いできるこだわり蕎麦」
• 立地も8坪小型で回転率×FC数で勝負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720" y="3785616"/>
            <a:ext cx="6126480" cy="1298448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60720" y="3785616"/>
            <a:ext cx="91440" cy="1298448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0" y="3840480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2020"/>
                </a:solidFill>
                <a:latin typeface="IPAGothic"/>
              </a:rPr>
              <a:t>ひまり商店・なかよしとの差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4187952"/>
            <a:ext cx="5852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IPAGothic"/>
              </a:rPr>
              <a:t>• 価格帯は近いが「素材・発酵」の軸が弱い
• 然グループは出汁・麹・発酵を共通コアとして全ブランドが連動
• SNS情報力で口コミ・インバウンドを自力で取込む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60720" y="5175504"/>
            <a:ext cx="6126480" cy="1298448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760720" y="5175504"/>
            <a:ext cx="91440" cy="1298448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0" y="5230368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C4A3E"/>
                </a:solidFill>
                <a:latin typeface="IPAGothic"/>
              </a:rPr>
              <a:t>然グループ固有の強み（競合ゼロ）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5577840"/>
            <a:ext cx="5852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IPAGothic"/>
              </a:rPr>
              <a:t>• 3ブランド×FC展開：1業態の不振を他で補うリスクヘッジ
• 素材へのこだわり + FC展開力の両立 = 競合不在ゾーン
• SNS内製 = 月次マーケ費ゼロで情報優位を維持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603504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49A22"/>
                </a:solidFill>
                <a:latin typeface="IPAGothic"/>
              </a:rPr>
              <a:t>結論：然グループは「こだわり × スケール」の両立という、現状競合が存在しないポジションを確立する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差別化の本質  ─  FCモデル × 発酵・出汁コアが生む参入障壁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960120"/>
            <a:ext cx="8961120" cy="31089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9418320" y="1005840"/>
            <a:ext cx="2651760" cy="91440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418320" y="1005840"/>
            <a:ext cx="73152" cy="91440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55480" y="1042416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49A22"/>
                </a:solidFill>
                <a:latin typeface="IPAGothic"/>
              </a:rPr>
              <a:t>1店→55店への複製力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55480" y="1353312"/>
            <a:ext cx="2468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IPAGothic"/>
              </a:rPr>
              <a:t>成功レシピをFC化で横展開
競合は単店の技術・関係性に依存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18320" y="2011680"/>
            <a:ext cx="2651760" cy="91440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18320" y="2011680"/>
            <a:ext cx="73152" cy="91440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55480" y="2048256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49A22"/>
                </a:solidFill>
                <a:latin typeface="IPAGothic"/>
              </a:rPr>
              <a:t>ロイヤルティ収入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55480" y="2359152"/>
            <a:ext cx="2468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IPAGothic"/>
              </a:rPr>
              <a:t>売上の3〜4%が直営費用ゼロで入る
店舗数×ロイヤルティ＝純粋な利益エンジン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418320" y="3017520"/>
            <a:ext cx="2651760" cy="91440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418320" y="3017520"/>
            <a:ext cx="73152" cy="91440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55480" y="3054096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49A22"/>
                </a:solidFill>
                <a:latin typeface="IPAGothic"/>
              </a:rPr>
              <a:t>リスク分散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55480" y="3364992"/>
            <a:ext cx="2468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IPAGothic"/>
              </a:rPr>
              <a:t>3ブランド×FC＝景気・トレンドに左右されない
単店競合は1業態の不振で即ダメージ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206240"/>
            <a:ext cx="116128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2336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素材・発酵コアの独自性  ─  競合が真似できない「知識資産」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617720"/>
            <a:ext cx="2788920" cy="192024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" y="4617720"/>
            <a:ext cx="2788920" cy="64008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4690872"/>
            <a:ext cx="2606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49A22"/>
                </a:solidFill>
                <a:latin typeface="IPAGothic"/>
              </a:rPr>
              <a:t>出汁の科学的再現性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5029200"/>
            <a:ext cx="2606040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IPAGothic"/>
              </a:rPr>
              <a:t>昆布・鰹・椎茸の配合レシピを数値化
職人の勘ではなく「再現できる出汁」
→ FC加盟店でも同品質を担保できる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0" y="4617720"/>
            <a:ext cx="2788920" cy="192024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00400" y="4617720"/>
            <a:ext cx="2788920" cy="64008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0" y="4690872"/>
            <a:ext cx="2606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A4A"/>
                </a:solidFill>
                <a:latin typeface="IPAGothic"/>
              </a:rPr>
              <a:t>麹・発酵の内製ノウハウ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5029200"/>
            <a:ext cx="2606040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IPAGothic"/>
              </a:rPr>
              <a:t>麹仕入れKg/¥1,300（税抜）から
塩麹・醤油麹・発酵調味料を内製化
→ 原価コントロールと差別化を同時実現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26480" y="4617720"/>
            <a:ext cx="2788920" cy="192024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80" y="4617720"/>
            <a:ext cx="2788920" cy="64008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0" y="4690872"/>
            <a:ext cx="2606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C4A3E"/>
                </a:solidFill>
                <a:latin typeface="IPAGothic"/>
              </a:rPr>
              <a:t>競合に真似されない理由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5029200"/>
            <a:ext cx="2606040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IPAGothic"/>
              </a:rPr>
              <a:t>ひまり堂・三谷・びゃくは職人個人の感覚に依存
然グループは「再現可能なレシピ資産」として蓄積
→ 人が替わっても品質が変わらない = FC化の前提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052560" y="4617720"/>
            <a:ext cx="2788920" cy="192024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052560" y="4617720"/>
            <a:ext cx="2788920" cy="64008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0" y="4690872"/>
            <a:ext cx="2606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B2020"/>
                </a:solidFill>
                <a:latin typeface="IPAGothic"/>
              </a:rPr>
              <a:t>グループ横断のシナジー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5029200"/>
            <a:ext cx="2606040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IPAGothic"/>
              </a:rPr>
              <a:t>だし然の出汁知識 → 蕎麦然のつゆに応用
麹・発酵は全ブランドの共通コア食材
→ R&amp;Dコストをグループで共有、競合はブランドごとに個別対応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4320" y="658368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49A22"/>
                </a:solidFill>
                <a:latin typeface="IPAGothic"/>
              </a:rPr>
              <a:t>→ 「再現可能なこだわり」という矛盾を解決しているのが然グループだけ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販売・SNSマーケティング戦略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C4A3E"/>
                </a:solidFill>
                <a:latin typeface="IPAGothic"/>
              </a:rPr>
              <a:t>「SNSで集客する飲食グループ」を自ら実証し、外販へ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645920"/>
            <a:ext cx="3657600" cy="146304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6916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PHASE 1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開業前3〜6ヶ月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3774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外部SNSコンサル起用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スタートダッシュ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645920"/>
            <a:ext cx="3657600" cy="146304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0" y="16916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PHASE 2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Y1〜Y2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23774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内製移行＋毎日トレンドリサーチ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コンテンツ量産体制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1645920"/>
            <a:ext cx="3657600" cy="1463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16916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PHASE 3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Y3〜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23774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SNS事業部外販スタート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然グループが証明した手法を商品化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337560"/>
            <a:ext cx="2743200" cy="384048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33649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YouTube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767328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然グループ公式チャンネル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仕込み・料理動画・代表ブログ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発酵・出汁の解説コンテンツ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→ チャンネル登録→来店転換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46120" y="3337560"/>
            <a:ext cx="2743200" cy="384048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33649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Instagram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37560" y="3767328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ブランド別アカウント＋統合アカウント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出汁の湯気・炭火の煙=映えコンテンツ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ストーリーズで日常・ビハインドシーン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→ フォロワーをリザーブに誘導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3337560"/>
            <a:ext cx="2743200" cy="384048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0" y="33649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TikTok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767328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短尺料理動画・発酵解説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インバウンド向け多言語対応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ハッシュタグ戦略でバズ狙い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→ 若年層・外国人の来店促進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89720" y="3337560"/>
            <a:ext cx="2743200" cy="384048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89720" y="33649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Google / OTA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81160" y="3767328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Googleマップ口コミ管理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食べログ・ぐるなびSEO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Booking.com / Airbnb体験登録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→ インバウンド流入確保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5989320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開業前コンサル費用 300万円を資金調達に組み込み済み → Y1からSNS集客を最大化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5カ年数値計画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6858000" cy="384048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0" y="1005840"/>
          <a:ext cx="45720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1143000"/>
                <a:gridCol w="1143000"/>
                <a:gridCol w="114300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IPAGothic"/>
                        </a:rPr>
                        <a:t>年度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IPAGothic"/>
                        </a:rPr>
                        <a:t>店舗数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IPAGothic"/>
                        </a:rPr>
                        <a:t>月商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IPAGothic"/>
                        </a:rPr>
                        <a:t>年商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Y1 2026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3店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1,200万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1.4億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Y2 2027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9店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3,000万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3.6億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Y3 2028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22店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6,000万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7.2億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Y4 2029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35店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10,000万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12億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Y5 2030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55店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17,000万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20億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315200" y="4206240"/>
            <a:ext cx="4572000" cy="64008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0" y="425196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IPAGothic"/>
              </a:rPr>
              <a:t>Year 5 目標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452628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IPAGothic"/>
              </a:rPr>
              <a:t>年商 20億円  /  55店舗  /  EBITDA 6億円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5074920"/>
            <a:ext cx="2743200" cy="146304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PAGothic"/>
              </a:rPr>
              <a:t>Y1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55778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だし然・蕎麦然1号店開業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5074920"/>
            <a:ext cx="2743200" cy="146304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Y2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55778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FC展開開始・肉酒場然2号店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5074920"/>
            <a:ext cx="2743200" cy="146304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Y3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55778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関西進出・SNS事業部外販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2560" y="5074920"/>
            <a:ext cx="2743200" cy="1463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Y5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55778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55店舗・年商20億・EXIT準備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収益モデルサマリー  ─  グループ損益と成長ストック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5669280" cy="283464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0" y="1005840"/>
          <a:ext cx="594360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0600"/>
                <a:gridCol w="990600"/>
                <a:gridCol w="990600"/>
                <a:gridCol w="990600"/>
                <a:gridCol w="990600"/>
                <a:gridCol w="990600"/>
              </a:tblGrid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ブランド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月次売上/店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利益率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1店月次利益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目標店舗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グループ月次利益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だし 然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960万円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15%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144万円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20店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2,880万円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肉酒場 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1,200万円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5店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1,000万円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蕎麦 然（小型）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350万円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20%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70万円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30店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2,100万円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SNS事業部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83万円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83万円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合計（安定期）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55店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6,063万円〜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274320" y="4023360"/>
            <a:ext cx="116128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059936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収益構造のポイント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4074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Y1 グループ月次売上：約2,510万円（利益率約17%、月次利益約418万円）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7548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FCロイヤルティはFC40店規模で月1,296万円のストック収益（安定成長）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10235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成長フェーズ（Y3〜）で利益率が改善：規模の経済＋仕入共通化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5449824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直営利益＋FCロイヤルティの二重収益でリスク分散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グループ 事業計画 P&amp;L  ─  5カ年損益計画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005840"/>
          <a:ext cx="116128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865376"/>
                <a:gridCol w="1865376"/>
                <a:gridCol w="1865376"/>
                <a:gridCol w="1865376"/>
                <a:gridCol w="1865376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/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Y1 2026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Y2 2027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Y3 2028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Y4 2029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Y5 2030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売上高（万円）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14,000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36,000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72,000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120,000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200,000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　売上原価（31%）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▲4,340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▲11,160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▲22,320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▲37,200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▲62,000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売上総利益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9,660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24,840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49,680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82,800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138,000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　粗利率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　人件費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▲3,500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▲8,500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▲16,000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▲26,000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▲42,000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　家賃合計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▲3,600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▲7,200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▲17,000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　その他（光熱費等）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▲2,400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▲5,600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▲11,600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▲18,000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▲31,000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EBITDA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2,260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7,140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14,880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27,800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48,000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EBITDA率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16%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20%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21%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23%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24%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303520"/>
            <a:ext cx="11612880" cy="12801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キャッシュフロー計画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6858000" cy="320040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0" y="1005840"/>
          <a:ext cx="4754876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9268"/>
                <a:gridCol w="679268"/>
                <a:gridCol w="679268"/>
                <a:gridCol w="679268"/>
                <a:gridCol w="679268"/>
                <a:gridCol w="679268"/>
                <a:gridCol w="679268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/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調達時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Y1末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Y2末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Y3末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Y4末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Y5末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営業CF（万円）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+2,600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+7,500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+15,000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+28,000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+48,000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投資CF（万円）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▲3,800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▲8,000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▲10,000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純CF（万円）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+3,800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+1,600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+2,500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+7,000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+18,000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+43,000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累計CF（万円）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5,400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7,900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14,900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32,900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75,900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132320" y="3474720"/>
            <a:ext cx="47548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0" y="3511296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CFのポイント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3858768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資金調達3,800万を起点にY1末で累計CF黒字転換（返済原資確保）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420624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Y2: FC展開への投資5,000万は営業CF7,140万の範囲内でまかなえる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4553712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Y3以降: 投資超過分もFCロイヤルティ等のストック収益で補填、累計CFが急拡大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490118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Y5末: 累計CF 7.5億円 → 配当・EXIT・追加投資の原資として十分な水準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4389120"/>
            <a:ext cx="6675120" cy="2194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4434840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C4A3E"/>
                </a:solidFill>
                <a:latin typeface="IPAGothic"/>
              </a:rPr>
              <a:t>■ Y1 月次CF イメージ（肉酒場然・稼働済み前提）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846320"/>
            <a:ext cx="6492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IPAGothic"/>
              </a:rPr>
              <a:t>月1〜3：肉酒場然のみ稼働 → 月次CF +100〜150万（立ち上げ費用除く）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IPAGothic"/>
              </a:rPr>
              <a:t>月4〜6：だし然 開業 → 月次CF +200〜280万（稼働率70%）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IPAGothic"/>
              </a:rPr>
              <a:t>月7〜：蕎麦然 開業 → 月次CF +350〜430万（3ブランド揃い踏み）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IPAGothic"/>
              </a:rPr>
              <a:t>Y1末時点：累計CF（資金調達後）約5,400万 → BEP到達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資金調達計画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274320" y="1005840"/>
            <a:ext cx="4114800" cy="118872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515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IPAGothic"/>
              </a:rPr>
              <a:t>第1回 調達目標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3931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C49A22"/>
                </a:solidFill>
                <a:latin typeface="IPAGothic"/>
              </a:rPr>
              <a:t>3,800万円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005840"/>
            <a:ext cx="7223760" cy="118872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0" y="1234440"/>
            <a:ext cx="7040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4A3E"/>
                </a:solidFill>
                <a:latin typeface="IPAGothic"/>
              </a:rPr>
              <a:t>調達方法：日本政策金融公庫 ＋ エンジェル投資家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691640"/>
            <a:ext cx="7040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第2回（Y2〜3）：1〜2億円  /  VC・事業会社提携  /  FC加速・関西展開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74320" y="2377440"/>
          <a:ext cx="116128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70960"/>
                <a:gridCol w="3870960"/>
                <a:gridCol w="3870960"/>
              </a:tblGrid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用途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金額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内訳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だし 然 1号店 開業費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2,000万円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内装900万＋厨房450万＋敷金（60万×3ヶ月）＋運転資金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蕎麦 然 1号店 開業費（8坪）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800万円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内装250万＋設備200万＋敷金（45万×6ヶ月）＋運転資金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SNSコンサル・スタートダッシュ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300万円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外部コンサル起用・開業前3〜6ヶ月集中投資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人材採用・研修費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300万円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店長・料理長採用・マニュアル・研修体制構築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運転資金・予備費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400万円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グループ管理・広告・オープン販促・予備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合計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3,800万円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274320" y="5120640"/>
            <a:ext cx="11612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■ 投資家へのリターンイメージ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・Y1〜2：初期投資回収フェーズ。各店舗の安定稼働と収益基盤の構築に集中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・Y3以降：FCスケールで利益率が改善。EBITDA1.8億円（月商6,000万）で成長が加速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・Y5：年商20億円・EBITDA6億円  →  EXIT（M&amp;A or IPO）を視野に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・FCロイヤルティ収入はストック型のため、EXIT評価倍率向上に寄与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リスクと対策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005840"/>
          <a:ext cx="1161288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220"/>
                <a:gridCol w="2903220"/>
                <a:gridCol w="2903220"/>
                <a:gridCol w="2903220"/>
              </a:tblGrid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リスク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影響度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発生確率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対策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物件取得競争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高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不動産仲介との早期リレーション・複数候補常時確保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FC加盟店の品質低下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SV制度・月次研修・本部仕入れで品質統一・契約解除条項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インバウンド需要の変動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ランチ（国内需要）でベース売上確保・円安依存排除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人材採用難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SNSブランディングで「働きたい会社」化・利益還元・待遇改善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出汁素材の調達リスク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低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低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複数サプライヤーと年間契約・輸入品との組合せで安定化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71845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競合参入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先行出店・ブランド確立・FC網を早期に張る先行者利益戦略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4A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IPAGothic"/>
              </a:rPr>
              <a:t>然グループ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C49A22"/>
                </a:solidFill>
                <a:latin typeface="IPAGothic"/>
              </a:rPr>
              <a:t>ZEN GROUP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0" y="3200400"/>
            <a:ext cx="6400800" cy="36576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383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49A22"/>
                </a:solidFill>
                <a:latin typeface="IPAGothic"/>
              </a:rPr>
              <a:t>食の全シーンに、然を。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4114800"/>
            <a:ext cx="6400800" cy="1828800"/>
          </a:xfrm>
          <a:prstGeom prst="rect">
            <a:avLst/>
          </a:prstGeom>
          <a:solidFill>
            <a:srgbClr val="1E3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34640" y="420624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PAGothic"/>
              </a:rPr>
              <a:t>然グループ 事業企画室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4709160"/>
            <a:ext cx="6217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0EEE8"/>
                </a:solidFill>
                <a:latin typeface="IPAGothic"/>
              </a:rPr>
              <a:t>Email：＿＿＿＿＿＿＿＿＿＿＿＿＿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5120640"/>
            <a:ext cx="6217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0EEE8"/>
                </a:solidFill>
                <a:latin typeface="IPAGothic"/>
              </a:rPr>
              <a:t>Tel：＿＿＿＿＿＿＿＿＿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217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49A22"/>
                </a:solidFill>
                <a:latin typeface="IPAGothic"/>
              </a:rPr>
              <a:t>本資料は機密情報を含みます。無断転載・配布を禁じます。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