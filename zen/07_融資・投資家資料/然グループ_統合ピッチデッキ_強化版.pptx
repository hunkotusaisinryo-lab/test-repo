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5720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0" b="1" i="0">
                <a:solidFill>
                  <a:srgbClr val="C49A22"/>
                </a:solidFill>
                <a:latin typeface="IPAGothic"/>
              </a:rPr>
              <a:t>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3891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F0EEE8"/>
                </a:solidFill>
                <a:latin typeface="IPAGothic"/>
              </a:rPr>
              <a:t>ZEN BRAND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097280"/>
            <a:ext cx="7132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2C4A3E"/>
                </a:solidFill>
                <a:latin typeface="IPAGothic"/>
              </a:rPr>
              <a:t>然グループ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2194560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1A"/>
                </a:solidFill>
                <a:latin typeface="IPAGothic"/>
              </a:rPr>
              <a:t>事業説明資料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3108960"/>
            <a:ext cx="5943600" cy="36576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3291840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49A22"/>
                </a:solidFill>
                <a:latin typeface="IPAGothic"/>
              </a:rPr>
              <a:t>食の全シーンに、然を。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4114800"/>
            <a:ext cx="7132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IPAGothic"/>
              </a:rPr>
              <a:t>然グループ 事業企画室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IPAGothic"/>
              </a:rPr>
              <a:t>2026年7月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5120640"/>
            <a:ext cx="320040" cy="32004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0" y="5120640"/>
            <a:ext cx="320040" cy="32004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5120640"/>
            <a:ext cx="320040" cy="32004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5120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IPAGothic"/>
              </a:rPr>
              <a:t>だし然  ／  肉酒場然  ／  蕎麦然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Confidential  ─  然グループ Internal Document  ─  無断転載禁止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グループビジョン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058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2C4A3E"/>
                </a:solidFill>
                <a:latin typeface="IPAGothic"/>
              </a:rPr>
              <a:t>「食の全シーンに、然を。」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C49A22"/>
                </a:solidFill>
                <a:latin typeface="IPAGothic"/>
              </a:rPr>
              <a:t>日本の「だし・発酵・素材」文化を現代の食卓とビジネスに再定義する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560320"/>
            <a:ext cx="3657600" cy="39319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出汁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DASHI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だしダイニング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出汁体験×インバウンド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ランチ定食＋体験ディナー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1,800〜9,000円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2560320"/>
            <a:ext cx="3657600" cy="39319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肉と発酵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NIKU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炭火と発酵の居酒屋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発酵×炭火グリル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本格居酒屋体験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4,000〜6,000円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2560320"/>
            <a:ext cx="3657600" cy="39319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立ちそば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SOBA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現代的な立ち食いそば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2分提供・FC展開特化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駅前・オフィス街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1,500円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市場機会  ─  なぜ今か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2651760" cy="118872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25兆円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国内外食産業
市場規模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005840"/>
            <a:ext cx="2651760" cy="11887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4.3兆円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インバウンド消費
（2025年実績）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005840"/>
            <a:ext cx="2651760" cy="11887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3,188万人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訪日外国人数
（過去最高水準）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0" y="1005840"/>
            <a:ext cx="2651760" cy="11887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68%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健康志向食品市場
過去5年成長率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46888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50545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追い風トレンド（国内）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85292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外食産業はコロナ後の回復を超え、2030年に向けて成長軌道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2004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インバウンド旅行者の「本物の日本食体験」需要が急拡大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5478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発酵食品・出汁・和食の健康志向は国内外で加速中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89534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立ち食い・スタンド業態：コスパ・時短ニーズで拡大継続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2468880"/>
            <a:ext cx="5669280" cy="347472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250545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追い風トレンド（市場環境）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85292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飲食FC市場：初期投資の軽さから加盟希望者が増加傾向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2004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SNSによる集客格差が顕在化（勝者総取り化が進行）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5478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円安継続→外国人の日本食消費単価は上昇トレンド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89534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2030年大阪万博：関西インバウンド需要の更なる拡大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598932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C4A3E"/>
                </a:solidFill>
                <a:latin typeface="IPAGothic"/>
              </a:rPr>
              <a:t>→ だし・発酵・素材こだわり × FC展開 × インバウンド対応 ── この3軸が同時に刺さる市場環境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然グループ  全体像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05840"/>
          <a:ext cx="116128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5480"/>
                <a:gridCol w="1935480"/>
                <a:gridCol w="1935480"/>
                <a:gridCol w="1935480"/>
                <a:gridCol w="1935480"/>
                <a:gridCol w="19354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ブランド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業態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客単価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ターゲット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展開モデル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月次利益/店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出汁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出汁定食・体験ディナー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1,800〜9,000円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ワーカー＋インバウンド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直営＋FC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330万円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肉と発酵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発酵×炭火居酒屋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4,000〜6,000円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20〜40代・飲み会需要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直営中心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立ちそば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立ち食い蕎麦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1,500円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ビジネスパーソン（ランチ）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FC特化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132万円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SNS事業部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飲食特化SNSコンサル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月9.8〜39.8万円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飲食店オーナー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コンサル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3520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食の時間帯フルカバー戦略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3977639"/>
            <a:ext cx="3657600" cy="5029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蕎麦 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11:00〜15:00 ランチ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3977639"/>
            <a:ext cx="3657600" cy="5029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だし 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11:30〜22:00 ランチ〜ディナー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3977639"/>
            <a:ext cx="3657600" cy="5029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肉酒場 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17:00〜23:00 ディナー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46634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49A22"/>
                </a:solidFill>
                <a:latin typeface="IPAGothic"/>
              </a:rPr>
              <a:t>→ 全時間帯をカバーし、顧客をグループ内で回遊させる「然エコシステム」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出汁共通仕入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原価率1〜2%改善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然カード会員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グループ内回遊促進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SNS内製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広告費年300万削減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256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FCクロスセル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56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SNS事業受注創出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だし 然  ─  出汁体験レストラン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49A22"/>
                </a:solidFill>
                <a:latin typeface="IPAGothic"/>
              </a:rPr>
              <a:t>「一杯の出汁が、今日を整える。」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ビジネスモデル（昼夜二毛作）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昼：出汁定食 1,600〜1,900円 ／ 地元ワーカー向け 平日22日安定集客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夜：出汁しゃぶ・体験コース 8,000〜12,000円 ／ インバウンド向け体験型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昆布×本枯れ節×麹発酵のオリジナルブレンド出汁が核心差別化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25坪・34席（カウンター10席）・4ヶ国語対応・Alipay/WeChatPay導入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展開計画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Phase1：東京直営 浅草・銀座・上野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Phase2：関西FC 京都祇園・大阪道頓堀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Phase3：20店舗（直営5＋FC15）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Phase4：海外 台湾・シンガポール（DASHI ZEN）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474720"/>
            <a:ext cx="5303520" cy="301752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585216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960万円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月次売上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330万円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営業利益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6112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34%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51560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15〜18ヶ月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投資回収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52160" y="4572000"/>
            <a:ext cx="603504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0" y="461772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FCモデル収益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5029200"/>
            <a:ext cx="5852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加盟金：300万円 ／ ロイヤルティ：売上の3%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FC初期投資：3,200万円（標準）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FC月次営業利益：約280万円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FC投資回収期間：約20ヶ月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本部ロイヤルティ収入：FC10店で月288万円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 肉と発酵  ─  炭火と発酵の居酒屋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8B2020"/>
                </a:solidFill>
                <a:latin typeface="IPAGothic"/>
              </a:rPr>
              <a:t>「発酵の香りと肉煙が満ちる、大人の隠れ酒場」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コンセプト・差別化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発酵肉（麹漬け・味噌漬け）を核心に据えた独自メニュー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炭火グリルをオープンキッチンで「見せる」体験型設計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日本酒・焼酎との発酵ペアリングでドリンク単価向上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22〜25坪・30〜35席・客単価 4,000〜6,000円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ディナー特化・予約制で客単価を安定化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戦略的位置づけ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然グループの「顔」かつ 発酵文化の発信基地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炭火・発酵器具がSNS映えコンテンツになる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常連顧客育成で口コミによる自然集客を実現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SNS事業部との連動でブランド発信を内製化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297680"/>
            <a:ext cx="2743200" cy="91440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600万円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月次売上目標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4297680"/>
            <a:ext cx="27432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200万円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月次営業利益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4297680"/>
            <a:ext cx="2743200" cy="91440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33%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52560" y="4297680"/>
            <a:ext cx="27432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5,000円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客単価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5440680"/>
            <a:ext cx="11612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5477256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今後の展開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582472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2号店：東京都内（恵比寿・中目黒エリア）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1722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フラッグシップ店として然グループのブランド旗艦に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6519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将来的に大阪・福岡への直営拡大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 立ちそば  ─  現代的な立ち食いそばFC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2A4A"/>
                </a:solidFill>
                <a:latin typeface="IPAGothic"/>
              </a:rPr>
              <a:t>「2分で届く、本物の蕎麦。」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業態設計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10坪・12スタンド・2人オペレーション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客単価1,500円・回転時間12分・稼働率80%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揚げたて天ぷら・北海道幌加内産蕎麦を使用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QR前払い・キャッシュレス100%で人件費最適化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BEP：1日43人（月商174万円）で黒字化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FC展開モデル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FC加盟金200万円・ロイヤルティ4%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標準内装パッケージで施工期間2.5ヶ月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首都圏駅前・オフィス街から展開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目標：30店舗（直営3＋FC27）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657600"/>
            <a:ext cx="5486400" cy="283464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5943600" y="3657600"/>
            <a:ext cx="1371600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348万円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月次売上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79" y="3657600"/>
            <a:ext cx="1371600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79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132万円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月次利益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2560" y="3657600"/>
            <a:ext cx="1371600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1日43人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56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BEP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07040" y="3657600"/>
            <a:ext cx="1371600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0704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8〜10ヶ月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投資回収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4663440"/>
            <a:ext cx="5943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■ FC収益シミュレーション（FC1店舗）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初期投資合計：1,100万円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月次営業利益：約108万円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投資回収期間：約12ヶ月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本部ロイヤルティ：FC10店で月139万円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競合優位性  ─  なぜ然グループが勝てるか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4846320" cy="411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394960" y="1005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94960" y="1005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9552" y="1051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① 出汁・発酵という普遍的コア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59552" y="1444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トレンドに流されない「日本食の本質」を軸に
10年・20年後も価値が変わらない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5394960" y="2148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94960" y="2148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9552" y="2194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② 価格帯ポートフォリオ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59552" y="2587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不況時は蕎麦然・ランチ中心で守り
好況・インバウンドはだし然夜・肉酒場で攻める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3291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94960" y="3291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552" y="3337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③ FC×直営の二重エンジン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59552" y="3730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直営で利益を確保しながらFCでスケール
飲食成功パターンを確実に踏む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60" y="4434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94960" y="4434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552" y="4480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④ SNS情報優位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59552" y="4873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毎日のトレンドリサーチを内製→外販できる
唯一の飲食グループ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94960" y="5577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94960" y="5577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9552" y="5623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⑤ インバウンド確保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9552" y="6016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だし然がインバウンド向け体験型ディナーを担当
円安・訪日外国人増加の波を確実に取込む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58521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→ 「素材へのこだわり × FC展開力」が高水準で共存する競合不在のゾーン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5カ年数値計画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6858000" cy="384048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0" y="1005840"/>
          <a:ext cx="4572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1143000"/>
                <a:gridCol w="1143000"/>
                <a:gridCol w="11430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年度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店舗数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月商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年商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Y1 2026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1,200万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1.4億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Y2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9店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3,000万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3.6億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Y3 2028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22店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6,000万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7.2億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Y4 2029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35店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10,000万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12億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Y5 2030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55店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17,000万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20億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0" y="4206240"/>
            <a:ext cx="4572000" cy="64008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42519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IPAGothic"/>
              </a:rPr>
              <a:t>Year 5 目標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45262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PAGothic"/>
              </a:rPr>
              <a:t>年商 20億円  /  55店舗  /  EBITDA 6億円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074920"/>
            <a:ext cx="2743200" cy="146304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PAGothic"/>
              </a:rPr>
              <a:t>Y1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だし然・蕎麦然1号店開業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5074920"/>
            <a:ext cx="2743200" cy="146304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FC展開開始・肉酒場然2号店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5074920"/>
            <a:ext cx="2743200" cy="146304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関西進出・SNS事業部外販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52560" y="5074920"/>
            <a:ext cx="2743200" cy="1463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55店舗・年商20億・EXIT準備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収益モデルサマリー  ─  ストック収益の積み上げ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05840"/>
          <a:ext cx="6858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ブランド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1店月次利益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目標店舗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グループ月次利益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だし 然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330万円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20店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2,200万円＋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肉酒場 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5店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1,000万円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蕎麦 然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132万円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30店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1,500万円＋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SNS事業部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83万円＋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合計（安定期）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55店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4,783万円〜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005840"/>
            <a:ext cx="4754880" cy="2743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3931920"/>
            <a:ext cx="11612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3968496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収益構造のポイント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31596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FCロイヤルティはFC40店規模で月1,709万円のストック収益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66344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直営利益＋FCロイヤルティの二重収益構造でリスク分散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1091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SNS事業部はグループ全店のSNS内製→広告費年300万削減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358384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「然カード」共通会員でリピート率向上→LTV最大化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資金調達計画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0" cy="118872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IPAGothic"/>
              </a:rPr>
              <a:t>第1回 調達目標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C49A22"/>
                </a:solidFill>
                <a:latin typeface="IPAGothic"/>
              </a:rPr>
              <a:t>5,000万円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1005840"/>
            <a:ext cx="7223760" cy="118872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1234440"/>
            <a:ext cx="7040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4A3E"/>
                </a:solidFill>
                <a:latin typeface="IPAGothic"/>
              </a:rPr>
              <a:t>調達方法：日本政策金融公庫 ＋ エンジェル投資家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691640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第2回（Y2〜3）：2〜3億円  /  VC・事業会社提携  /  関西展開・FC加速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74320" y="2377440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70960"/>
                <a:gridCol w="3870960"/>
                <a:gridCol w="3870960"/>
              </a:tblGrid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用途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金額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内訳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だし 然 1号店 開業費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3,000万円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内装1,375万＋厨房450万＋敷金＋運転資金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蕎麦 然 1号店 開業費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930万円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内装400万＋設備200万＋保証金＋運転資金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人材採用・研修費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500万円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店長・料理長採用・マニュアル構築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運転資金・マーケ費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570万円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グループ管理・SNS・広告・オープン販促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合計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5,000万円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■ 投資家へのリターンイメージ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・Y3以降：配当原資となるEBITDA 1.8億円（グループ月商6,000万円）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・Y5：年商20億円・EBITDA 6億円  →  EXIT（M&amp;A or IPO）を視野に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・FCロイヤルティ収入はストック型のため、EXIT評価倍率向上に寄与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リスクと対策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05840"/>
          <a:ext cx="116128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リスク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影響度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発生確率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対策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物件取得競争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不動産仲介との早期リレーション・複数候補常時確保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FC加盟店の品質低下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SV制度・月次研修・本部仕入れで品質統一・契約解除条項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インバウンド需要の変動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ランチ（国内需要）でベース売上確保・円安依存排除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人材採用難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SNSブランディングで「働きたい会社」化・利益還元・待遇改善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出汁素材の調達リスク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複数サプライヤーと年間契約・輸入品との組合せで安定化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競合参入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先行出店・ブランド確立・FC網を早期に張る先行者利益戦略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4A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IPAGothic"/>
              </a:rPr>
              <a:t>然グループ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C49A22"/>
                </a:solidFill>
                <a:latin typeface="IPAGothic"/>
              </a:rPr>
              <a:t>ZEN GROUP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3200400"/>
            <a:ext cx="6400800" cy="36576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49A22"/>
                </a:solidFill>
                <a:latin typeface="IPAGothic"/>
              </a:rPr>
              <a:t>食の全シーンに、然を。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4114800"/>
            <a:ext cx="6400800" cy="1828800"/>
          </a:xfrm>
          <a:prstGeom prst="rect">
            <a:avLst/>
          </a:prstGeom>
          <a:solidFill>
            <a:srgbClr val="1E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34640" y="420624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PAGothic"/>
              </a:rPr>
              <a:t>然グループ 事業企画室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470916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EEE8"/>
                </a:solidFill>
                <a:latin typeface="IPAGothic"/>
              </a:rPr>
              <a:t>Email：＿＿＿＿＿＿＿＿＿＿＿＿＿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512064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EEE8"/>
                </a:solidFill>
                <a:latin typeface="IPAGothic"/>
              </a:rPr>
              <a:t>Tel：＿＿＿＿＿＿＿＿＿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49A22"/>
                </a:solidFill>
                <a:latin typeface="IPAGothic"/>
              </a:rPr>
              <a:t>本資料は機密情報を含みます。無断転載・配布を禁じます。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