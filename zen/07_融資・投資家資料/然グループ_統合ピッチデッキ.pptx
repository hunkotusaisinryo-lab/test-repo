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2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0" b="1">
                <a:solidFill>
                  <a:srgbClr val="2C4A3E"/>
                </a:solidFill>
                <a:latin typeface="IPAGothic"/>
              </a:rPr>
              <a:t>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164592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2C4A3E"/>
                </a:solidFill>
                <a:latin typeface="IPAGothic"/>
              </a:rPr>
              <a:t>然グループ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256032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IPAGothic"/>
              </a:rPr>
              <a:t>事業説明資料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35661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B6914"/>
                </a:solidFill>
                <a:latin typeface="IPAGothic"/>
              </a:rPr>
              <a:t>2026年6月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41148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PAGothic"/>
              </a:rPr>
              <a:t>然グループ 事業企画室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89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IPAGothic"/>
              </a:rPr>
              <a:t>Confidential  --  然グループ Internal Document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IPAGothic"/>
              </a:rPr>
              <a:t>グループビジョン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C4A3E"/>
                </a:solidFill>
                <a:latin typeface="IPAGothic"/>
              </a:rPr>
              <a:t>食の全シーンに、然を。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1031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B6914"/>
                </a:solidFill>
                <a:latin typeface="IPAGothic"/>
              </a:rPr>
              <a:t>日本の「だし・発酵・素材」文化を現代の食卓とビジネスに再定義する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926080"/>
            <a:ext cx="3566160" cy="2926080"/>
          </a:xfrm>
          <a:prstGeom prst="rect">
            <a:avLst/>
          </a:prstGeom>
          <a:solidFill>
            <a:srgbClr val="E8F0ED"/>
          </a:solidFill>
          <a:ln>
            <a:solidFill>
              <a:srgbClr val="2C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C4A3E"/>
                </a:solidFill>
                <a:latin typeface="IPAGothic"/>
              </a:rPr>
              <a:t>[ 食体験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IPAGothic"/>
              </a:rPr>
              <a:t>本物のだし・発酵・肉文化を</a:t>
            </a:r>
          </a:p>
          <a:p>
            <a:pPr algn="ctr"/>
            <a:r>
              <a:rPr sz="1300" b="0">
                <a:solidFill>
                  <a:srgbClr val="1A1A1A"/>
                </a:solidFill>
                <a:latin typeface="IPAGothic"/>
              </a:rPr>
              <a:t>直営店舗で提供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926080"/>
            <a:ext cx="3566160" cy="2926080"/>
          </a:xfrm>
          <a:prstGeom prst="rect">
            <a:avLst/>
          </a:prstGeom>
          <a:solidFill>
            <a:srgbClr val="E8F0ED"/>
          </a:solidFill>
          <a:ln>
            <a:solidFill>
              <a:srgbClr val="2C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30175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C4A3E"/>
                </a:solidFill>
                <a:latin typeface="IPAGothic"/>
              </a:rPr>
              <a:t>[ フランチャイズ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65760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IPAGothic"/>
              </a:rPr>
              <a:t>蕎麦然・だし然を軸とした</a:t>
            </a:r>
          </a:p>
          <a:p>
            <a:pPr algn="ctr"/>
            <a:r>
              <a:rPr sz="1300" b="0">
                <a:solidFill>
                  <a:srgbClr val="1A1A1A"/>
                </a:solidFill>
                <a:latin typeface="IPAGothic"/>
              </a:rPr>
              <a:t>全国展開モデル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2926080"/>
            <a:ext cx="3566160" cy="2926080"/>
          </a:xfrm>
          <a:prstGeom prst="rect">
            <a:avLst/>
          </a:prstGeom>
          <a:solidFill>
            <a:srgbClr val="E8F0ED"/>
          </a:solidFill>
          <a:ln>
            <a:solidFill>
              <a:srgbClr val="2C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30175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C4A3E"/>
                </a:solidFill>
                <a:latin typeface="IPAGothic"/>
              </a:rPr>
              <a:t>[ SNS・コンサル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65760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IPAGothic"/>
              </a:rPr>
              <a:t>飲食特化のSNS支援で</a:t>
            </a:r>
          </a:p>
          <a:p>
            <a:pPr algn="ctr"/>
            <a:r>
              <a:rPr sz="1300" b="0">
                <a:solidFill>
                  <a:srgbClr val="1A1A1A"/>
                </a:solidFill>
                <a:latin typeface="IPAGothic"/>
              </a:rPr>
              <a:t>ブランドと収益を拡大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IPAGothic"/>
              </a:rPr>
              <a:t>市場機会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C4A3E"/>
                </a:solidFill>
                <a:latin typeface="IPAGothic"/>
              </a:rPr>
              <a:t>25兆円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1031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B6914"/>
                </a:solidFill>
                <a:latin typeface="IPAGothic"/>
              </a:rPr>
              <a:t>国内外食産業市場規模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09728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C4A3E"/>
                </a:solidFill>
                <a:latin typeface="IPAGothic"/>
              </a:rPr>
              <a:t>4.3兆円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1031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B6914"/>
                </a:solidFill>
                <a:latin typeface="IPAGothic"/>
              </a:rPr>
              <a:t>インバウンド消費（2025年）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09728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C4A3E"/>
                </a:solidFill>
                <a:latin typeface="IPAGothic"/>
              </a:rPr>
              <a:t>急拡大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21031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B6914"/>
                </a:solidFill>
                <a:latin typeface="IPAGothic"/>
              </a:rPr>
              <a:t>健康・発酵食品トレンド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34640"/>
            <a:ext cx="11247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PAGothic"/>
              </a:rPr>
              <a:t>● 国内外食産業は約25兆円規模（2025年）。コロナ禍後の回復が続き、都市部を中心に拡大中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IPAGothic"/>
              </a:rPr>
              <a:t>● 訪日外国人消費は2025年に4.3兆円超。和食・発酵食品への関心が急増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IPAGothic"/>
              </a:rPr>
              <a:t>● 健康志向・発酵ブームにより、だし・糀・熟成肉カテゴリの成長率は年15〜20%超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IPAGothic"/>
              </a:rPr>
              <a:t>● 飲食FC市場も拡大中。低投資・高収益モデルへのニーズが加盟希望者を集める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IPAGothic"/>
              </a:rPr>
              <a:t>● SNS（TikTok・Instagram）を軸とした飲食プロモーション需要が急速に拡大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IPAGothic"/>
              </a:rPr>
              <a:t>グループ事業概要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6914"/>
                </a:solidFill>
                <a:latin typeface="IPAGothic"/>
              </a:rPr>
              <a:t>4つの事業が連携し、食の全シーンをカバーします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554480"/>
          <a:ext cx="1161288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828800"/>
                <a:gridCol w="2743200"/>
                <a:gridCol w="2560320"/>
                <a:gridCol w="32004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IPAGothic"/>
                        </a:rPr>
                        <a:t>事業</a:t>
                      </a:r>
                    </a:p>
                  </a:txBody>
                  <a:tcPr>
                    <a:solidFill>
                      <a:srgbClr val="2C4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IPAGothic"/>
                        </a:rPr>
                        <a:t>ブランド</a:t>
                      </a:r>
                    </a:p>
                  </a:txBody>
                  <a:tcPr>
                    <a:solidFill>
                      <a:srgbClr val="2C4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IPAGothic"/>
                        </a:rPr>
                        <a:t>業態</a:t>
                      </a:r>
                    </a:p>
                  </a:txBody>
                  <a:tcPr>
                    <a:solidFill>
                      <a:srgbClr val="2C4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IPAGothic"/>
                        </a:rPr>
                        <a:t>客単価</a:t>
                      </a:r>
                    </a:p>
                  </a:txBody>
                  <a:tcPr>
                    <a:solidFill>
                      <a:srgbClr val="2C4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IPAGothic"/>
                        </a:rPr>
                        <a:t>ターゲット</a:t>
                      </a:r>
                    </a:p>
                  </a:txBody>
                  <a:tcPr>
                    <a:solidFill>
                      <a:srgbClr val="2C4A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飲食①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肉酒場 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居酒屋・焼肉（直営）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4,000〜6,000円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30〜50代 男女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飲食②</a:t>
                      </a:r>
                    </a:p>
                  </a:txBody>
                  <a:tcPr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だし 然</a:t>
                      </a:r>
                    </a:p>
                  </a:txBody>
                  <a:tcPr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だし料理・ランチ（FC）</a:t>
                      </a:r>
                    </a:p>
                  </a:txBody>
                  <a:tcPr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1,500〜2,500円</a:t>
                      </a:r>
                    </a:p>
                  </a:txBody>
                  <a:tcPr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20〜40代 女性・観光客</a:t>
                      </a:r>
                    </a:p>
                  </a:txBody>
                  <a:tcPr>
                    <a:solidFill>
                      <a:srgbClr val="F0F0E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飲食③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蕎麦 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立ち食い蕎麦（FC）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700〜1,200円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全年代・ビジネス層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デジタル</a:t>
                      </a:r>
                    </a:p>
                  </a:txBody>
                  <a:tcPr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SNS事業部</a:t>
                      </a:r>
                    </a:p>
                  </a:txBody>
                  <a:tcPr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飲食特化コンサル</a:t>
                      </a:r>
                    </a:p>
                  </a:txBody>
                  <a:tcPr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月9.8〜39.8万円</a:t>
                      </a:r>
                    </a:p>
                  </a:txBody>
                  <a:tcPr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中小飲食事業者</a:t>
                      </a:r>
                    </a:p>
                  </a:txBody>
                  <a:tcPr>
                    <a:solidFill>
                      <a:srgbClr val="F0F0E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IPAGothic"/>
              </a:rPr>
              <a:t>肉酒場 然  --  フラッグシップ直営店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4A3E"/>
                </a:solidFill>
                <a:latin typeface="IPAGothic"/>
              </a:rPr>
              <a:t>コンセプト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PAGothic"/>
              </a:rPr>
              <a:t>「発酵と肉の融合」をテーマに、糀・塩麹・味噌を活かした熟成肉料理を提供。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IPAGothic"/>
              </a:rPr>
              <a:t>日本酒・クラフトビールとのペアリングで、大人の食体験を演出。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402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4A3E"/>
                </a:solidFill>
                <a:latin typeface="IPAGothic"/>
              </a:rPr>
              <a:t>差別化ポイント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PAGothic"/>
              </a:rPr>
              <a:t>● 自社仕込みの発酵ダレ・漬けダレで他社との差別化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IPAGothic"/>
              </a:rPr>
              <a:t>● 食材ロスを削減する全頭利用メニュー構成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IPAGothic"/>
              </a:rPr>
              <a:t>● SNS映えする盛り付けとストーリーテリング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832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4A3E"/>
                </a:solidFill>
                <a:latin typeface="IPAGothic"/>
              </a:rPr>
              <a:t>現状実績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03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PAGothic"/>
              </a:rPr>
              <a:t>● 現直営店舗：月商 約450万円（ランチ＋ディナー）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IPAGothic"/>
              </a:rPr>
              <a:t>● 客単価：平均 5,200円  /  FL比率 58%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IPAGothic"/>
              </a:rPr>
              <a:t>● リピート率：約40%（LINEミニアプリ計測）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262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4A3E"/>
                </a:solidFill>
                <a:latin typeface="IPAGothic"/>
              </a:rPr>
              <a:t>月次利益目標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846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PAGothic"/>
              </a:rPr>
              <a:t>売上450万円  →  営業利益 約45〜60万円（利益率10〜13%）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IPAGothic"/>
              </a:rPr>
              <a:t>旗艦店の知名度を活かし、FC事業・SNS事業へ送客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IPAGothic"/>
              </a:rPr>
              <a:t>だし 然  --  だし体験特化型FC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09728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8B6914"/>
                </a:solidFill>
                <a:latin typeface="IPAGothic"/>
              </a:rPr>
              <a:t>月次利益目標: 330万円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828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8B6914"/>
                </a:solidFill>
                <a:latin typeface="IPAGothic"/>
              </a:rPr>
              <a:t>投資回収: 15〜18ヶ月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4A3E"/>
                </a:solidFill>
                <a:latin typeface="IPAGothic"/>
              </a:rPr>
              <a:t>コンセプト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PAGothic"/>
              </a:rPr>
              <a:t>本枯れ節・昆布・煮干しを軸とした「だし体験」専門店。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IPAGothic"/>
              </a:rPr>
              <a:t>飲み比べセット・だし茶漬け・だし鍋など、だしを主役にしたメニュー展開。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4A3E"/>
                </a:solidFill>
                <a:latin typeface="IPAGothic"/>
              </a:rPr>
              <a:t>ランチ/ディナー二毛作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862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PAGothic"/>
              </a:rPr>
              <a:t>● ランチ：だし茶漬け・定食（客単価1,500〜2,000円）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IPAGothic"/>
              </a:rPr>
              <a:t>● ディナー：だし鍋・日本酒コース（客単価3,000〜4,000円）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IPAGothic"/>
              </a:rPr>
              <a:t>● 1坪あたり売上効率を最大化する設計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4A3E"/>
                </a:solidFill>
                <a:latin typeface="IPAGothic"/>
              </a:rPr>
              <a:t>FCモデル概要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07492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PAGothic"/>
              </a:rPr>
              <a:t>● 加盟金：300万円  /  保証金：50万円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IPAGothic"/>
              </a:rPr>
              <a:t>● ロイヤリティ：売上の5%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IPAGothic"/>
              </a:rPr>
              <a:t>● 初期投資総額目安：1,500〜2,000万円（物件除く）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IPAGothic"/>
              </a:rPr>
              <a:t>● 損益分岐点：月商 約210万円（目標月商350万円）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IPAGothic"/>
              </a:rPr>
              <a:t>蕎麦 然  --  立ち食い蕎麦FC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474720" cy="1005840"/>
          </a:xfrm>
          <a:prstGeom prst="rect">
            <a:avLst/>
          </a:prstGeom>
          <a:solidFill>
            <a:srgbClr val="E8F0ED"/>
          </a:solidFill>
          <a:ln>
            <a:solidFill>
              <a:srgbClr val="2C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B6914"/>
                </a:solidFill>
                <a:latin typeface="IPAGothic"/>
              </a:rPr>
              <a:t>月次利益目標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C4A3E"/>
                </a:solidFill>
                <a:latin typeface="IPAGothic"/>
              </a:rPr>
              <a:t>132万円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097280"/>
            <a:ext cx="3474720" cy="1005840"/>
          </a:xfrm>
          <a:prstGeom prst="rect">
            <a:avLst/>
          </a:prstGeom>
          <a:solidFill>
            <a:srgbClr val="E8F0ED"/>
          </a:solidFill>
          <a:ln>
            <a:solidFill>
              <a:srgbClr val="2C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11430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B6914"/>
                </a:solidFill>
                <a:latin typeface="IPAGothic"/>
              </a:rPr>
              <a:t>投資回収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5087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C4A3E"/>
                </a:solidFill>
                <a:latin typeface="IPAGothic"/>
              </a:rPr>
              <a:t>8〜10ヶ月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097280"/>
            <a:ext cx="3474720" cy="1005840"/>
          </a:xfrm>
          <a:prstGeom prst="rect">
            <a:avLst/>
          </a:prstGeom>
          <a:solidFill>
            <a:srgbClr val="E8F0ED"/>
          </a:solidFill>
          <a:ln>
            <a:solidFill>
              <a:srgbClr val="2C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1430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B6914"/>
                </a:solidFill>
                <a:latin typeface="IPAGothic"/>
              </a:rPr>
              <a:t>1日BEP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15087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C4A3E"/>
                </a:solidFill>
                <a:latin typeface="IPAGothic"/>
              </a:rPr>
              <a:t>43名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286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4A3E"/>
                </a:solidFill>
                <a:latin typeface="IPAGothic"/>
              </a:rPr>
              <a:t>コンセプト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6060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PAGothic"/>
              </a:rPr>
              <a:t>石臼挽き十割蕎麦を立ち食いスタイルで提供。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IPAGothic"/>
              </a:rPr>
              <a:t>「本物を、早く、安く」をモットーに、駅前・商業施設での展開を想定。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474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4A3E"/>
                </a:solidFill>
                <a:latin typeface="IPAGothic"/>
              </a:rPr>
              <a:t>低投資・高回転FCモデル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7947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PAGothic"/>
              </a:rPr>
              <a:t>● 加盟金：150万円  /  保証金：30万円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IPAGothic"/>
              </a:rPr>
              <a:t>● ロイヤリティ：売上の3%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IPAGothic"/>
              </a:rPr>
              <a:t>● 初期投資目安：600〜900万円（物件除く）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IPAGothic"/>
              </a:rPr>
              <a:t>● 目標月商：220万円  /  客単価：850円  /  1日目標客数：85名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IPAGothic"/>
              </a:rPr>
              <a:t>SNS事業部  --  飲食特化デジタルコンサルティング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8B6914"/>
                </a:solidFill>
                <a:latin typeface="IPAGothic"/>
              </a:rPr>
              <a:t>Year3 売上目標: 1,000万円  /  自社ブランドのSNS戦略も内製化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554480"/>
          <a:ext cx="114300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5029200"/>
                <a:gridCol w="310896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IPAGothic"/>
                        </a:rPr>
                        <a:t>プラン</a:t>
                      </a:r>
                    </a:p>
                  </a:txBody>
                  <a:tcPr>
                    <a:solidFill>
                      <a:srgbClr val="2C4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IPAGothic"/>
                        </a:rPr>
                        <a:t>月額料金</a:t>
                      </a:r>
                    </a:p>
                  </a:txBody>
                  <a:tcPr>
                    <a:solidFill>
                      <a:srgbClr val="2C4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IPAGothic"/>
                        </a:rPr>
                        <a:t>主なサービス内容</a:t>
                      </a:r>
                    </a:p>
                  </a:txBody>
                  <a:tcPr>
                    <a:solidFill>
                      <a:srgbClr val="2C4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IPAGothic"/>
                        </a:rPr>
                        <a:t>想定クライアント</a:t>
                      </a:r>
                    </a:p>
                  </a:txBody>
                  <a:tcPr>
                    <a:solidFill>
                      <a:srgbClr val="2C4A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ライト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9.8万円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Instagram投稿代行（週3回）ハッシュタグ戦略・月次レポート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個人店・スタートアップ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スタンダード</a:t>
                      </a:r>
                    </a:p>
                  </a:txBody>
                  <a:tcPr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19.8万円</a:t>
                      </a:r>
                    </a:p>
                  </a:txBody>
                  <a:tcPr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Instagram＋TikTok運用 リール制作（月4本）・広告運用支援</a:t>
                      </a:r>
                    </a:p>
                  </a:txBody>
                  <a:tcPr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中規模チェーン・FC加盟店</a:t>
                      </a:r>
                    </a:p>
                  </a:txBody>
                  <a:tcPr>
                    <a:solidFill>
                      <a:srgbClr val="F0F0E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プレミアム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39.8万円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全SNS統合運用＋PR企画 インフルエンサー連携・取材誘致支援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多店舗展開企業・ブランド強化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8463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PAGothic"/>
              </a:rPr>
              <a:t>● 然グループ直営店・FC店を実績事例として活用し、新規クライアント獲得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IPAGothic"/>
              </a:rPr>
              <a:t>● 飲食×SNSに特化した専門チームが運営。一般デジタルエージェンシーとの差別化を実現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IPAGothic"/>
              </a:rPr>
              <a:t>● 将来的にはFC加盟店向けSNS支援パッケージとして標準化し、ロイヤリティ収入に組み込む予定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IPAGothic"/>
              </a:rPr>
              <a:t>グループシナジー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C4A3E"/>
                </a:solidFill>
                <a:latin typeface="IPAGothic"/>
              </a:rPr>
              <a:t>4事業が相互に強化し合う「然エコシステム」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45920"/>
            <a:ext cx="5577840" cy="2011680"/>
          </a:xfrm>
          <a:prstGeom prst="rect">
            <a:avLst/>
          </a:prstGeom>
          <a:solidFill>
            <a:srgbClr val="E8F0ED"/>
          </a:solidFill>
          <a:ln>
            <a:solidFill>
              <a:srgbClr val="2C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4A3E"/>
                </a:solidFill>
                <a:latin typeface="IPAGothic"/>
              </a:rPr>
              <a:t>共同仕入れ（だし原材料）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0312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PAGothic"/>
              </a:rPr>
              <a:t>然グループ全店で本枯れ節・昆布などを一括購入。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IPAGothic"/>
              </a:rPr>
              <a:t>スケールメリットでコスト削減＋品質の統一。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645920"/>
            <a:ext cx="5577840" cy="2011680"/>
          </a:xfrm>
          <a:prstGeom prst="rect">
            <a:avLst/>
          </a:prstGeom>
          <a:solidFill>
            <a:srgbClr val="E8F0ED"/>
          </a:solidFill>
          <a:ln>
            <a:solidFill>
              <a:srgbClr val="2C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916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4A3E"/>
                </a:solidFill>
                <a:latin typeface="IPAGothic"/>
              </a:rPr>
              <a:t>然カード（顧客囲い込み）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10312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PAGothic"/>
              </a:rPr>
              <a:t>グループ共通ポイント「然カード」で肉酒場・だし・蕎麦の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IPAGothic"/>
              </a:rPr>
              <a:t>クロスユースを促進。LTV向上と来店頻度アップ。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931920"/>
            <a:ext cx="5577840" cy="2011680"/>
          </a:xfrm>
          <a:prstGeom prst="rect">
            <a:avLst/>
          </a:prstGeom>
          <a:solidFill>
            <a:srgbClr val="E8F0ED"/>
          </a:solidFill>
          <a:ln>
            <a:solidFill>
              <a:srgbClr val="2C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9776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4A3E"/>
                </a:solidFill>
                <a:latin typeface="IPAGothic"/>
              </a:rPr>
              <a:t>内製SNS支援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38912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PAGothic"/>
              </a:rPr>
              <a:t>SNS事業部が全直営店・FC店の情報発信を担当。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IPAGothic"/>
              </a:rPr>
              <a:t>コスト削減と一貫したブランドイメージを実現。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3931920"/>
            <a:ext cx="5577840" cy="2011680"/>
          </a:xfrm>
          <a:prstGeom prst="rect">
            <a:avLst/>
          </a:prstGeom>
          <a:solidFill>
            <a:srgbClr val="E8F0ED"/>
          </a:solidFill>
          <a:ln>
            <a:solidFill>
              <a:srgbClr val="2C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9776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4A3E"/>
                </a:solidFill>
                <a:latin typeface="IPAGothic"/>
              </a:rPr>
              <a:t>FCクロスセル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38912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PAGothic"/>
              </a:rPr>
              <a:t>蕎麦然オーナーへだし然の複数ブランド加盟を提案。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IPAGothic"/>
              </a:rPr>
              <a:t>1人のFCオーナーがグループ内複数ブランドを展開可能。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IPAGothic"/>
              </a:rPr>
              <a:t>5ヵ年財務計画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8B6914"/>
                </a:solidFill>
                <a:latin typeface="IPAGothic"/>
              </a:rPr>
              <a:t>Year5 グループ年商目標：20億円（直営＋FC＋SNS）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554480"/>
          <a:ext cx="106984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828800"/>
                <a:gridCol w="2286000"/>
                <a:gridCol w="2286000"/>
                <a:gridCol w="22860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IPAGothic"/>
                        </a:rPr>
                        <a:t>年度</a:t>
                      </a:r>
                    </a:p>
                  </a:txBody>
                  <a:tcPr>
                    <a:solidFill>
                      <a:srgbClr val="2C4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IPAGothic"/>
                        </a:rPr>
                        <a:t>直営店舗数</a:t>
                      </a:r>
                    </a:p>
                  </a:txBody>
                  <a:tcPr>
                    <a:solidFill>
                      <a:srgbClr val="2C4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IPAGothic"/>
                        </a:rPr>
                        <a:t>FC店舗数（累計）</a:t>
                      </a:r>
                    </a:p>
                  </a:txBody>
                  <a:tcPr>
                    <a:solidFill>
                      <a:srgbClr val="2C4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IPAGothic"/>
                        </a:rPr>
                        <a:t>月商合計（万円）</a:t>
                      </a:r>
                    </a:p>
                  </a:txBody>
                  <a:tcPr>
                    <a:solidFill>
                      <a:srgbClr val="2C4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IPAGothic"/>
                        </a:rPr>
                        <a:t>年商合計（億円）</a:t>
                      </a:r>
                    </a:p>
                  </a:txBody>
                  <a:tcPr>
                    <a:solidFill>
                      <a:srgbClr val="2C4A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IPAGothic"/>
                        </a:rPr>
                        <a:t>Year 1（2026）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IPAGothic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IPAGothic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IPAGothic"/>
                        </a:rPr>
                        <a:t>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IPAGothic"/>
                        </a:rPr>
                        <a:t>0.96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IPAGothic"/>
                        </a:rPr>
                        <a:t>Year 2（2027）</a:t>
                      </a:r>
                    </a:p>
                  </a:txBody>
                  <a:tcPr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IPAGothic"/>
                        </a:rPr>
                        <a:t>2</a:t>
                      </a:r>
                    </a:p>
                  </a:txBody>
                  <a:tcPr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IPAGothic"/>
                        </a:rPr>
                        <a:t>8</a:t>
                      </a:r>
                    </a:p>
                  </a:txBody>
                  <a:tcPr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IPAGothic"/>
                        </a:rPr>
                        <a:t>2,200</a:t>
                      </a:r>
                    </a:p>
                  </a:txBody>
                  <a:tcPr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IPAGothic"/>
                        </a:rPr>
                        <a:t>2.64</a:t>
                      </a:r>
                    </a:p>
                  </a:txBody>
                  <a:tcPr>
                    <a:solidFill>
                      <a:srgbClr val="F0F0E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IPAGothic"/>
                        </a:rPr>
                        <a:t>Year 3（2028）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IPAGothic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IPAGothic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IPAGothic"/>
                        </a:rPr>
                        <a:t>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IPAGothic"/>
                        </a:rPr>
                        <a:t>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IPAGothic"/>
                        </a:rPr>
                        <a:t>Year 4（2029）</a:t>
                      </a:r>
                    </a:p>
                  </a:txBody>
                  <a:tcPr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IPAGothic"/>
                        </a:rPr>
                        <a:t>4</a:t>
                      </a:r>
                    </a:p>
                  </a:txBody>
                  <a:tcPr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IPAGothic"/>
                        </a:rPr>
                        <a:t>40</a:t>
                      </a:r>
                    </a:p>
                  </a:txBody>
                  <a:tcPr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IPAGothic"/>
                        </a:rPr>
                        <a:t>10,000</a:t>
                      </a:r>
                    </a:p>
                  </a:txBody>
                  <a:tcPr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IPAGothic"/>
                        </a:rPr>
                        <a:t>12.00</a:t>
                      </a:r>
                    </a:p>
                  </a:txBody>
                  <a:tcPr>
                    <a:solidFill>
                      <a:srgbClr val="F0F0E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IPAGothic"/>
                        </a:rPr>
                        <a:t>Year 5（2030）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IPAGothic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IPAGothic"/>
                        </a:rPr>
                        <a:t>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IPAGothic"/>
                        </a:rPr>
                        <a:t>17,000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IPAGothic"/>
                        </a:rPr>
                        <a:t>20.40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852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6914"/>
                </a:solidFill>
                <a:latin typeface="IPAGothic"/>
              </a:rPr>
              <a:t>※ FC店舗数はだし然＋蕎麦然の合算。月商合計はロイヤリティ収入を含むグループ連結ベース。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IPAGothic"/>
              </a:rPr>
              <a:t>店舗展開フェーズ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3749039" cy="5303520"/>
          </a:xfrm>
          <a:prstGeom prst="rect">
            <a:avLst/>
          </a:prstGeom>
          <a:solidFill>
            <a:srgbClr val="D0E8D8"/>
          </a:solidFill>
          <a:ln>
            <a:solidFill>
              <a:srgbClr val="2C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4A3E"/>
                </a:solidFill>
                <a:latin typeface="IPAGothic"/>
              </a:rPr>
              <a:t>Phase 1（2026〜2027）</a:t>
            </a:r>
          </a:p>
          <a:p>
            <a:pPr algn="l"/>
            <a:r>
              <a:rPr sz="1300" b="1">
                <a:solidFill>
                  <a:srgbClr val="2C4A3E"/>
                </a:solidFill>
                <a:latin typeface="IPAGothic"/>
              </a:rPr>
              <a:t>首都圏集中展開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1031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PAGothic"/>
              </a:rPr>
              <a:t>● 東京都内（渋谷・新宿・品川・上野）を優先エリアに設定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IPAGothic"/>
              </a:rPr>
              <a:t>● 直営2店舗 ＋ FC試験導入8店舗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IPAGothic"/>
              </a:rPr>
              <a:t>● 成功モデルの標準化とマニュアル整備を完了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1097280"/>
            <a:ext cx="3749039" cy="5303520"/>
          </a:xfrm>
          <a:prstGeom prst="rect">
            <a:avLst/>
          </a:prstGeom>
          <a:solidFill>
            <a:srgbClr val="E8F0ED"/>
          </a:solidFill>
          <a:ln>
            <a:solidFill>
              <a:srgbClr val="2C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118872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4A3E"/>
                </a:solidFill>
                <a:latin typeface="IPAGothic"/>
              </a:rPr>
              <a:t>Phase 2（2028〜2029）</a:t>
            </a:r>
          </a:p>
          <a:p>
            <a:pPr algn="l"/>
            <a:r>
              <a:rPr sz="1300" b="1">
                <a:solidFill>
                  <a:srgbClr val="2C4A3E"/>
                </a:solidFill>
                <a:latin typeface="IPAGothic"/>
              </a:rPr>
              <a:t>関西・主要都市展開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21031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PAGothic"/>
              </a:rPr>
              <a:t>● 大阪・京都・名古屋・福岡への出店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IPAGothic"/>
              </a:rPr>
              <a:t>● 地域FCパートナー制度を導入し加速展開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IPAGothic"/>
              </a:rPr>
              <a:t>● 40店舗体制でブランド認知を全国区へ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097280"/>
            <a:ext cx="3749039" cy="5303520"/>
          </a:xfrm>
          <a:prstGeom prst="rect">
            <a:avLst/>
          </a:prstGeom>
          <a:solidFill>
            <a:srgbClr val="F5F0E0"/>
          </a:solidFill>
          <a:ln>
            <a:solidFill>
              <a:srgbClr val="2C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18872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4A3E"/>
                </a:solidFill>
                <a:latin typeface="IPAGothic"/>
              </a:rPr>
              <a:t>Phase 3（2030〜）</a:t>
            </a:r>
          </a:p>
          <a:p>
            <a:pPr algn="l"/>
            <a:r>
              <a:rPr sz="1300" b="1">
                <a:solidFill>
                  <a:srgbClr val="2C4A3E"/>
                </a:solidFill>
                <a:latin typeface="IPAGothic"/>
              </a:rPr>
              <a:t>海外展開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21031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PAGothic"/>
              </a:rPr>
              <a:t>● 訪日客が多いアジア主要都市（バンコク・台北・シンガポール）を検討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IPAGothic"/>
              </a:rPr>
              <a:t>● 海外マスターFC方式での展開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IPAGothic"/>
              </a:rPr>
              <a:t>● 「JAPAN DASHI」として海外ブランド化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IPAGothic"/>
              </a:rPr>
              <a:t>収益モデルサマリー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6914"/>
                </a:solidFill>
                <a:latin typeface="IPAGothic"/>
              </a:rPr>
              <a:t>3ブランドの月次利益合計（単店ベース）とロイヤリティ収入スケール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554480"/>
          <a:ext cx="64008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645920"/>
                <a:gridCol w="1645920"/>
                <a:gridCol w="128016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IPAGothic"/>
                        </a:rPr>
                        <a:t>ブランド</a:t>
                      </a:r>
                    </a:p>
                  </a:txBody>
                  <a:tcPr>
                    <a:solidFill>
                      <a:srgbClr val="2C4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IPAGothic"/>
                        </a:rPr>
                        <a:t>目標月商</a:t>
                      </a:r>
                    </a:p>
                  </a:txBody>
                  <a:tcPr>
                    <a:solidFill>
                      <a:srgbClr val="2C4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IPAGothic"/>
                        </a:rPr>
                        <a:t>月次利益（単店）</a:t>
                      </a:r>
                    </a:p>
                  </a:txBody>
                  <a:tcPr>
                    <a:solidFill>
                      <a:srgbClr val="2C4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IPAGothic"/>
                        </a:rPr>
                        <a:t>利益率</a:t>
                      </a:r>
                    </a:p>
                  </a:txBody>
                  <a:tcPr>
                    <a:solidFill>
                      <a:srgbClr val="2C4A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肉酒場 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450万円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45〜60万円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10〜13%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だし 然（FC）</a:t>
                      </a:r>
                    </a:p>
                  </a:txBody>
                  <a:tcPr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350万円</a:t>
                      </a:r>
                    </a:p>
                  </a:txBody>
                  <a:tcPr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330万円※</a:t>
                      </a:r>
                    </a:p>
                  </a:txBody>
                  <a:tcPr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〜94%※</a:t>
                      </a:r>
                    </a:p>
                  </a:txBody>
                  <a:tcPr>
                    <a:solidFill>
                      <a:srgbClr val="F0F0E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蕎麦 然（FC）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220万円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132万円※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〜60%※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36576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6914"/>
                </a:solidFill>
                <a:latin typeface="IPAGothic"/>
              </a:rPr>
              <a:t>※ FCはロイヤリティ収入ベース（加盟店売上×ロイヤリティ率）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0" y="1554480"/>
          <a:ext cx="50292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01752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IPAGothic"/>
                        </a:rPr>
                        <a:t>FC店舗数</a:t>
                      </a:r>
                    </a:p>
                  </a:txBody>
                  <a:tcPr>
                    <a:solidFill>
                      <a:srgbClr val="2C4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IPAGothic"/>
                        </a:rPr>
                        <a:t>月次ロイヤリティ収入（目安）</a:t>
                      </a:r>
                    </a:p>
                  </a:txBody>
                  <a:tcPr>
                    <a:solidFill>
                      <a:srgbClr val="2C4A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10店舗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約100〜175万円/月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20店舗</a:t>
                      </a:r>
                    </a:p>
                  </a:txBody>
                  <a:tcPr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約200〜350万円/月</a:t>
                      </a:r>
                    </a:p>
                  </a:txBody>
                  <a:tcPr>
                    <a:solidFill>
                      <a:srgbClr val="F0F0E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40店舗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約400〜700万円/月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70店舗</a:t>
                      </a:r>
                    </a:p>
                  </a:txBody>
                  <a:tcPr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約700〜1,225万円/月</a:t>
                      </a:r>
                    </a:p>
                  </a:txBody>
                  <a:tcPr>
                    <a:solidFill>
                      <a:srgbClr val="F0F0ED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0" y="4389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6914"/>
                </a:solidFill>
                <a:latin typeface="IPAGothic"/>
              </a:rPr>
              <a:t>※ だし然5%＋蕎麦然3%の平均から試算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7200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PAGothic"/>
              </a:rPr>
              <a:t>● SNS事業部の月次収益（Year3）：約830万円（25クライアント×平均33万円）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IPAGothic"/>
              </a:rPr>
              <a:t>● グループ合計（Year3見込み）：月次1,500〜2,000万円  /  年間1.8〜2.4億円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IPAGothic"/>
              </a:rPr>
              <a:t>資金調達計画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C4A3E"/>
                </a:solidFill>
                <a:latin typeface="IPAGothic"/>
              </a:rPr>
              <a:t>ラウンド1：5,000万円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828800"/>
          <a:ext cx="11612879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7498079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IPAGothic"/>
                        </a:rPr>
                        <a:t>用途</a:t>
                      </a:r>
                    </a:p>
                  </a:txBody>
                  <a:tcPr>
                    <a:solidFill>
                      <a:srgbClr val="2C4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IPAGothic"/>
                        </a:rPr>
                        <a:t>金額</a:t>
                      </a:r>
                    </a:p>
                  </a:txBody>
                  <a:tcPr>
                    <a:solidFill>
                      <a:srgbClr val="2C4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IPAGothic"/>
                        </a:rPr>
                        <a:t>内訳・目的</a:t>
                      </a:r>
                    </a:p>
                  </a:txBody>
                  <a:tcPr>
                    <a:solidFill>
                      <a:srgbClr val="2C4A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IPAGothic"/>
                        </a:rPr>
                        <a:t>だし 然 出店準備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IPAGothic"/>
                        </a:rPr>
                        <a:t>3,000万円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IPAGothic"/>
                        </a:rPr>
                        <a:t>1〜2号店の内装・厨房設備・FCモデル確立費用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IPAGothic"/>
                        </a:rPr>
                        <a:t>蕎麦 然 出店準備</a:t>
                      </a:r>
                    </a:p>
                  </a:txBody>
                  <a:tcPr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IPAGothic"/>
                        </a:rPr>
                        <a:t>930万円</a:t>
                      </a:r>
                    </a:p>
                  </a:txBody>
                  <a:tcPr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IPAGothic"/>
                        </a:rPr>
                        <a:t>試験店舗（2店）の設備・マニュアル整備費用</a:t>
                      </a:r>
                    </a:p>
                  </a:txBody>
                  <a:tcPr>
                    <a:solidFill>
                      <a:srgbClr val="F0F0E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IPAGothic"/>
                        </a:rPr>
                        <a:t>運転資金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IPAGothic"/>
                        </a:rPr>
                        <a:t>1,070万円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IPAGothic"/>
                        </a:rPr>
                        <a:t>開業後6ヶ月分の人件費・家賃・仕入れ資金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IPAGothic"/>
                        </a:rPr>
                        <a:t>合計</a:t>
                      </a:r>
                    </a:p>
                  </a:txBody>
                  <a:tcPr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IPAGothic"/>
                        </a:rPr>
                        <a:t>5,000万円</a:t>
                      </a:r>
                    </a:p>
                  </a:txBody>
                  <a:tcPr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IPAGothic"/>
                        </a:rPr>
                        <a:t>―</a:t>
                      </a:r>
                    </a:p>
                  </a:txBody>
                  <a:tcPr>
                    <a:solidFill>
                      <a:srgbClr val="F0F0ED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7548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PAGothic"/>
              </a:rPr>
              <a:t>【調達方法の想定】エクイティ（株式）またはコンバーティブルノートによる第三者割当増資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IPAGothic"/>
              </a:rPr>
              <a:t>【バリュエーション】Year2売上見込みを基準に協議（詳細は別紙）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IPAGothic"/>
              </a:rPr>
              <a:t>【ラウンド2以降】Year2末（2027年末）に追加調達を検討。関西展開・海外FC準備費用として2〜3億円を想定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IPAGothic"/>
              </a:rPr>
              <a:t>リスクと対策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116128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371600"/>
                <a:gridCol w="704088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IPAGothic"/>
                        </a:rPr>
                        <a:t>リスク項目</a:t>
                      </a:r>
                    </a:p>
                  </a:txBody>
                  <a:tcPr>
                    <a:solidFill>
                      <a:srgbClr val="2C4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IPAGothic"/>
                        </a:rPr>
                        <a:t>影響度</a:t>
                      </a:r>
                    </a:p>
                  </a:txBody>
                  <a:tcPr>
                    <a:solidFill>
                      <a:srgbClr val="2C4A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IPAGothic"/>
                        </a:rPr>
                        <a:t>対策</a:t>
                      </a:r>
                    </a:p>
                  </a:txBody>
                  <a:tcPr>
                    <a:solidFill>
                      <a:srgbClr val="2C4A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食材原価高騰（円安・インフレ）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共同仕入れ・産地直送契約・メニュー価格の段階的見直し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FC加盟者の品質管理</a:t>
                      </a:r>
                    </a:p>
                  </a:txBody>
                  <a:tcPr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中〜高</a:t>
                      </a:r>
                    </a:p>
                  </a:txBody>
                  <a:tcPr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SV制度・月次研修・ブランド監査で基準遵守を担保</a:t>
                      </a:r>
                    </a:p>
                  </a:txBody>
                  <a:tcPr>
                    <a:solidFill>
                      <a:srgbClr val="F0F0E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競合他社の類似コンセプト参入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然ブランドの商標登録・先行者優位・SNSによる認知拡大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人材不足（調理・マネジメント）</a:t>
                      </a:r>
                    </a:p>
                  </a:txBody>
                  <a:tcPr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中</a:t>
                      </a:r>
                    </a:p>
                  </a:txBody>
                  <a:tcPr>
                    <a:solidFill>
                      <a:srgbClr val="F0F0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パート比率最適化・グループ内人材ローテーション・採用専任担当設置</a:t>
                      </a:r>
                    </a:p>
                  </a:txBody>
                  <a:tcPr>
                    <a:solidFill>
                      <a:srgbClr val="F0F0E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SNS事業のクライアント離脱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低〜中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IPAGothic"/>
                        </a:rPr>
                        <a:t>年間契約による収益安定化・飲食FC加盟店を優先クライアントに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828800"/>
          </a:xfrm>
          <a:prstGeom prst="rect">
            <a:avLst/>
          </a:prstGeom>
          <a:solidFill>
            <a:srgbClr val="2C4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IPAGothic"/>
              </a:rPr>
              <a:t>然グループ 事業企画室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CDDCC"/>
                </a:solidFill>
                <a:latin typeface="IPAGothic"/>
              </a:rPr>
              <a:t>お問い合わせ・投資家向けお申し込み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6914"/>
                </a:solidFill>
                <a:latin typeface="IPAGothic"/>
              </a:rPr>
              <a:t>Email：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2286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PAGothic"/>
              </a:rPr>
              <a:t>（担当者よりご連絡いたします）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926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6914"/>
                </a:solidFill>
                <a:latin typeface="IPAGothic"/>
              </a:rPr>
              <a:t>Tel：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926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PAGothic"/>
              </a:rPr>
              <a:t>（担当よりご案内いたします）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566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6914"/>
                </a:solidFill>
                <a:latin typeface="IPAGothic"/>
              </a:rPr>
              <a:t>Web：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566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PAGothic"/>
              </a:rPr>
              <a:t>https://zen-group.jp  （準備中）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206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6914"/>
                </a:solidFill>
                <a:latin typeface="IPAGothic"/>
              </a:rPr>
              <a:t>所在地：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42062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PAGothic"/>
              </a:rPr>
              <a:t>東京都（詳細はお問い合わせください）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6692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B6914"/>
                </a:solidFill>
                <a:latin typeface="IPAGothic"/>
              </a:rPr>
              <a:t>本資料の内容は機密情報です。無断複製・転用・開示はお断りいたします。  /  (c) 2026 然グループ.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