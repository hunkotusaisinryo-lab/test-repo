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0" b="1">
                <a:solidFill>
                  <a:srgbClr val="8B6914"/>
                </a:solidFill>
                <a:latin typeface="IPAGothic"/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3716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4688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DCE6E1"/>
                </a:solidFill>
                <a:latin typeface="IPAGothic"/>
              </a:rPr>
              <a:t>事業説明資料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34747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B6914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50292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CE6E1"/>
                </a:solidFill>
                <a:latin typeface="IPAGothic"/>
              </a:rPr>
              <a:t>2026年6月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IPAGothic"/>
              </a:rPr>
              <a:t>日本の食文化の本質（出汁・発酵・素材）を核に、
ランチから夜まで・スタンドから体験型まで・国内から海外まで。
飲食業界の「新しいスタンダード」を創るグループ。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2560320" cy="2286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🍜
蕎麦 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CE6E1"/>
                </a:solidFill>
                <a:latin typeface="IPAGothic"/>
              </a:rPr>
              <a:t>立ち食い蕎麦FC
客単価 1,500円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3840480"/>
            <a:ext cx="2560320" cy="2286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3931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🍲
だし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8463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CE6E1"/>
                </a:solidFill>
                <a:latin typeface="IPAGothic"/>
              </a:rPr>
              <a:t>出汁体験レストラン
客単価 1,800〜9,000円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2560320" cy="2286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931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🥩
肉酒場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CE6E1"/>
                </a:solidFill>
                <a:latin typeface="IPAGothic"/>
              </a:rPr>
              <a:t>発酵×肉の居酒屋
客単価 4,000〜6,000円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3840480"/>
            <a:ext cx="2560320" cy="2286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3931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</a:rPr>
              <a:t>📱
SNS事業部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48463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CE6E1"/>
                </a:solidFill>
                <a:latin typeface="IPAGothic"/>
              </a:rPr>
              <a:t>飲食特化コンサル
月額 9.8〜39.8万円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市場機会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47472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8B6914"/>
                </a:solidFill>
                <a:latin typeface="IPAGothic"/>
              </a:rPr>
              <a:t>25兆円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国内外食産業市場規模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005840"/>
            <a:ext cx="347472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0972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8B6914"/>
                </a:solidFill>
                <a:latin typeface="IPAGothic"/>
              </a:rPr>
              <a:t>3,188万人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002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2023年訪日外国人数
（コロナ前超えの勢い）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05840"/>
            <a:ext cx="347472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0972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8B6914"/>
                </a:solidFill>
                <a:latin typeface="IPAGothic"/>
              </a:rPr>
              <a:t>68%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097280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7063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市場トレンドサマリー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9067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外食産業は2030年に向けて回復・成長トレンド継続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インバウンド旅行者の「本物の日本食体験」需要が急増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85616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発酵食品・出汁・和食の健康志向は国内外で高まる一方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3308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立ち食い・スタンド業態はコスパ・時短ニーズで拡大中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8056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飲食FC市場：参入障壁が低く加盟希望者が増加傾向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SNSによる集客格差が飲食業界で顕在化（勝者総取り化）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然グループ 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ターゲット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展開モデル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月次利益目標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立ち食い蕎麦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1,500円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ビジネスパーソン（ランチ）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FC特化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132万円/店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1,800〜9,000円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ワーカー+インバウンド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直営+FC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330万円/店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発酵×肉の居酒屋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4,000〜6,000円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20〜40代・飲み会需要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直営中心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200万円/店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飲食店オーナー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83万円/月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4A3E"/>
                </a:solidFill>
                <a:latin typeface="IPAGothic"/>
              </a:rPr>
              <a:t>食の時間帯カバレッジ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297680"/>
            <a:ext cx="2286000" cy="4572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3159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IPAGothic"/>
              </a:rPr>
              <a:t>ランチ 11:00〜15:00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297680"/>
            <a:ext cx="2286000" cy="4572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43159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IPAGothic"/>
              </a:rPr>
              <a:t>ランチ〜ディナー 11:30〜22:00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297680"/>
            <a:ext cx="2286000" cy="4572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3159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IPAGothic"/>
              </a:rPr>
              <a:t>ディナー 17:00〜23:00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6914"/>
                </a:solidFill>
                <a:latin typeface="IPAGothic"/>
              </a:rPr>
              <a:t>→ グループ全体で食の全時間帯を網羅。顧客をグループ内で回遊させる仕組み。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肉酒場 然  ─  発酵×肉の居酒屋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C4A3E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30352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647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コンセプト・特徴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発酵肉（麹漬け・味噌漬け）を核心に据えた独自メニュー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炭火グリルをオープンキッチンで見せる体験型設計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797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日本酒・焼酎との発酵ペアリングでドリンク単価向上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22〜25坪・30〜35席・客単価 4,000〜6,000円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0352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647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然グループの「顔」かつ 発酵文化の発信基地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323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ディナー特化・予約制で客単価を安定させる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797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SNS映えする炭火・発酵器具がコンテンツになる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27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常連顧客育成で口コミによる自然集客を実現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349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B6914"/>
                </a:solidFill>
                <a:latin typeface="IPAGothic"/>
              </a:rPr>
              <a:t>600万円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530352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5349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B6914"/>
                </a:solidFill>
                <a:latin typeface="IPAGothic"/>
              </a:rPr>
              <a:t>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521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530352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5349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8B6914"/>
                </a:solidFill>
                <a:latin typeface="IPAGothic"/>
              </a:rPr>
              <a:t>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58521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C4A3E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30352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647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昼：出汁定食（1,600〜1,900円）地元ワーカー向け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夜：出汁しゃぶ・体験コース（8,000〜12,000円）インバウンド向け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797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昆布×本枯れ節×麹発酵のオリジナルブレンド出汁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25坪・34席（カウンター10席）・多言語対応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0352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647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FC展開：加盟金300万円・ロイヤルティ3%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323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Phase1：東京直営（浅草・銀座・上野）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797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Phase2：関西FC（京都・大阪）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27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Phase3：20店舗（直営5+FC15）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Phase4：海外（台湾・シンガポール）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2920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8B6914"/>
                </a:solidFill>
                <a:latin typeface="IPAGothic"/>
              </a:rPr>
              <a:t>960万円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77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02920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50749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8B6914"/>
                </a:solidFill>
                <a:latin typeface="IPAGothic"/>
              </a:rPr>
              <a:t>330万円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5577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02920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50749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8B6914"/>
                </a:solidFill>
                <a:latin typeface="IPAGothic"/>
              </a:rPr>
              <a:t>15〜18ヶ月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5577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蕎麦 然  ─  立ち食い蕎麦FC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C4A3E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30352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647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10坪・12スタンド・2人オペレーション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客単価1,500円・回転時間12分・稼働率80%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797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揚げたて天ぷら・北海道幌加内産蕎麦を使用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QR前払い・キャッシュレス100%でオペレーション効率化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530352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647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848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FC加盟金200万円・ロイヤルティ4%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3230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標準内装パッケージで施工期間2.5ヶ月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797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首都圏駅前・オフィス街から展開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272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目標：30店舗（直営3+FC27）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2920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749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6914"/>
                </a:solidFill>
                <a:latin typeface="IPAGothic"/>
              </a:rPr>
              <a:t>348万円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577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502920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50749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6914"/>
                </a:solidFill>
                <a:latin typeface="IPAGothic"/>
              </a:rPr>
              <a:t>132万円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577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5029200"/>
            <a:ext cx="347472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50749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6914"/>
                </a:solidFill>
                <a:latin typeface="IPAGothic"/>
              </a:rPr>
              <a:t>1日43人・投資回収8〜10ヶ月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5577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IPAGothic"/>
              </a:rPr>
              <a:t>BEP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SNS事業部  ─  飲食特化SNSコンサル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C4A3E"/>
                </a:solidFill>
                <a:latin typeface="IPAGothic"/>
              </a:rPr>
              <a:t>「飲食店のSNSを、売上に変える。」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プラン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主な内容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スターター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9.8万円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Instagram月12投稿＋リール4本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単店舗・立ち上げ期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スタンダード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Instagram+TikTok月20投稿＋撮影月1回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複数店舗・グロース期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フルサポート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39.8万円〜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全SNS＋専属担当＋ブランド戦略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FC本部・大手チェーン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66160"/>
            <a:ext cx="10972800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9359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PAGothic"/>
              </a:rPr>
              <a:t>競合優位・シナジー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136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然グループ自身が証明した「SNSで集客する飲食店」ノウハウを外販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61104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毎日の飲食トレンドリサーチをクライアントのコンテンツに即反映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08576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FC加盟検討者へのクロスセルで受注確率向上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5604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▶ 然グループ全店のSNSを内製→広告費年間300万円削減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3474720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7790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6914"/>
                </a:solidFill>
                <a:latin typeface="IPAGothic"/>
              </a:rPr>
              <a:t>168万円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3620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Year3月次売上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5760720"/>
            <a:ext cx="3474720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7790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6914"/>
                </a:solidFill>
                <a:latin typeface="IPAGothic"/>
              </a:rPr>
              <a:t>83万円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623620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Year3月次利益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5760720"/>
            <a:ext cx="3474720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57790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6914"/>
                </a:solidFill>
                <a:latin typeface="IPAGothic"/>
              </a:rPr>
              <a:t>1,000万円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623620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年次収益（Year3）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グループシナジー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0352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6914"/>
                </a:solidFill>
                <a:latin typeface="IPAGothic"/>
              </a:rPr>
              <a:t>▶ 出汁素材の共通仕入れ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だし然・蕎麦然・肉酒場然が同一出汁ベースを使用
→ バイイングパワーで原価率1〜2%改善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788920"/>
            <a:ext cx="530352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6914"/>
                </a:solidFill>
                <a:latin typeface="IPAGothic"/>
              </a:rPr>
              <a:t>▶ 然カード（共通会員）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全ブランドで使えるポイントカード
→ 蕎麦然ランチ客→肉酒場然ディナーへの回遊促進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80560"/>
            <a:ext cx="530352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6914"/>
                </a:solidFill>
                <a:latin typeface="IPAGothic"/>
              </a:rPr>
              <a:t>▶ SNS内製（コスト0）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920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SNS事業部が然グループ全店のSNSを担当
→ 広告費 年間300万円削減 + ブランド統一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530352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6914"/>
                </a:solidFill>
                <a:latin typeface="IPAGothic"/>
              </a:rPr>
              <a:t>▶ FC加盟者へのクロスセル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蕎麦然・だし然FC加盟者にSNSコンサルを提案
→ 自然な受注機会の創出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788920"/>
            <a:ext cx="530352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834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6914"/>
                </a:solidFill>
                <a:latin typeface="IPAGothic"/>
              </a:rPr>
              <a:t>▶ セントラルキッチン（将来）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004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将来的に共通仕込み場を設置
→ 人件費・フードロス削減・品質均一化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総店舗数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EBITDA（推定）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主要マイルストーン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Year 1
(2026)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1.4億円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だし然・蕎麦然1号店開業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Year 2
(2027)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3.6億円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FC展開開始・肉酒場然2号店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Year 3
(2028)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7.2億円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1.8億円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関西進出・SNS事業部開始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Year 4
(2029)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10,000万円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12億円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3.5億円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持株会社設立・海外準備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Year 5
(2030)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17,000万円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20億円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6億円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上場・EXIT準備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74320" y="4937760"/>
            <a:ext cx="11612880" cy="73152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983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Year 5 目標：年商 20億円  /  累計店舗 55店  /  EBITDA 6億円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店舗展開マップ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3566160" cy="53035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B6914"/>
                </a:solidFill>
                <a:latin typeface="IPAGothic"/>
              </a:rPr>
              <a:t>Phase 1
2026〜2027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3566160" cy="36576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70992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</a:rPr>
              <a:t>東京・首都圏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48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だし 然：浅草・銀座・上野・渋谷（直営4店）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蕎麦 然：新橋・神田・大手町（直営+FC計5店）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154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肉酒場 然：2号店展開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1005840"/>
            <a:ext cx="3566160" cy="53035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051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B6914"/>
                </a:solidFill>
                <a:latin typeface="IPAGothic"/>
              </a:rPr>
              <a:t>Phase 2
2027〜2028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1691640"/>
            <a:ext cx="3566160" cy="36576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70992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</a:rPr>
              <a:t>関西進出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148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だし 然 FC：京都祇園・大阪道頓堀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蕎麦 然 FC：大阪・神戸の駅前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154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インバウンド需要の高いエリア優先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1005840"/>
            <a:ext cx="3566160" cy="53035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9" y="1051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B6914"/>
                </a:solidFill>
                <a:latin typeface="IPAGothic"/>
              </a:rPr>
              <a:t>Phase 3
2029〜2030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691640"/>
            <a:ext cx="3566160" cy="36576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70992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</a:rPr>
              <a:t>全国・海外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39" y="2148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蕎麦 然：30店舗（直営3+FC27）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39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だし 然：20店舗（直営5+FC15）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39" y="3154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PAGothic"/>
              </a:rPr>
              <a:t>▶ 海外：台湾・シンガポール（DASHI ZEN）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収益モデルサマリー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1店舗月次利益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目標店舗数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然（直営+FC）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330万円/店 + FC収入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2,200万円+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然（直営+FC）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132万円/店 + FC収入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1,500万円+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4,783万円〜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1148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FC店舗数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月次ロイヤルティ収入（だし然3%）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月次ロイヤルティ収入（蕎麦然4%）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FC 10店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288万円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139万円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427万円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FC 25店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720万円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348万円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1,068万円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FC 40店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1,152万円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557万円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1,709万円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4A3E"/>
                </a:solidFill>
                <a:latin typeface="IPAGothic"/>
              </a:rPr>
              <a:t>FCロイヤルティ収入スケール（ストック収益）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029200" cy="10972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IPAGothic"/>
              </a:rPr>
              <a:t>第1回調達目標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8B6914"/>
                </a:solidFill>
                <a:latin typeface="IPAGothic"/>
              </a:rPr>
              <a:t>5,000万円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05840"/>
            <a:ext cx="5760720" cy="10972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0515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IPAGothic"/>
              </a:rPr>
              <a:t>調達方法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B6914"/>
                </a:solidFill>
                <a:latin typeface="IPAGothic"/>
              </a:rPr>
              <a:t>日本政策金融公庫 + エンジェル投資家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3774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3,000万円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内装1,375万+厨房450万+敷金保証金+運転資金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930万円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内装400万+設備200万+保証金+運転資金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店長・料理長採用・研修プログラム構築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運転資金（6ヶ月）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570万円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グループ管理費・マーケティング費用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5,000万円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4A3E"/>
                </a:solidFill>
                <a:latin typeface="IPAGothic"/>
              </a:rPr>
              <a:t>第2回調達（Year 2〜3）：2〜3億円  /  用途：関西展開・FC加速  /  VCまたは事業会社との提携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不動産仲介との早期リレーション構築・複数候補を常時確保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SV（スーパーバイザー）制度・月次研修・本部仕入れで品質統一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ランチ（国内需要）でベース売上を確保・円安依存を排除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SNSブランディングで「働きたい会社」化・待遇改善（利益還元）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複数サプライヤーと年間契約・輸入品との組み合わせで安定化</a:t>
                      </a:r>
                    </a:p>
                  </a:txBody>
                  <a:tcPr>
                    <a:solidFill>
                      <a:srgbClr val="DCE6E1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IPAGothic"/>
              </a:rPr>
              <a:t>然グループ 事業説明資料  | 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CE6E1"/>
                </a:solidFill>
                <a:latin typeface="IPAGothic"/>
              </a:rPr>
              <a:t>事業説明資料に関するお問い合わせ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749039"/>
            <a:ext cx="6400800" cy="1645920"/>
          </a:xfrm>
          <a:prstGeom prst="rect">
            <a:avLst/>
          </a:prstGeom>
          <a:solidFill>
            <a:srgbClr val="1E3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384048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43434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DCE6E1"/>
                </a:solidFill>
                <a:latin typeface="IPAGothic"/>
              </a:rPr>
              <a:t>Email：＿＿＿＿＿＿＿＿＿＿＿＿＿＿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48006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DCE6E1"/>
                </a:solidFill>
                <a:latin typeface="IPAGothic"/>
              </a:rPr>
              <a:t>Tel：＿＿＿＿＿＿＿＿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E6E1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