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229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63C"/>
                </a:solidFill>
              </a:rPr>
              <a:t>肉酒場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然（ぜん）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502920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0E6D3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7A6A"/>
                </a:solidFill>
              </a:rPr>
              <a:t>事業計画書　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572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私たちのビジョン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8963C"/>
                </a:solidFill>
              </a:rPr>
              <a:t>7年で100店舗。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E6D3"/>
                </a:solidFill>
              </a:rPr>
              <a:t>発酵と肉の掛け合わせで、
日本の食文化に新しい定番をつくる。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7A6A"/>
                </a:solidFill>
              </a:rPr>
              <a:t>居酒屋×発酵×定食　という空白地帯に参入し、
糀漬け肉料理を「日本の新定番」として全国に広める。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なぜ今か　――　市場の追い風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3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外食産業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35.7兆円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2025年市場規模
（前年比＋3.5%）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居酒屋業態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48ヶ月連続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売上前年比プラス
コロナ前超え達成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発酵食品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SNS急拡大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健康志向×体験価値
Z世代・40代双方に刺さる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→ 出店タイミングは今が最適。居酒屋×発酵×定食の空白地帯は誰もいない。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肉酒場 然のコンセプト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業態定義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昼：糀漬け肉定食の専門店
夜：発酵×肉の創作酒場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三つの独自性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49040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糀漬け×低温調理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前日仕込みで品質均一化。FC展開時の再現性を担保。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645151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5994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昼夜二毛作モデル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651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ランチ定食で固定売上 ＋ ディナー酒場でドリンク収益。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41264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495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石板焼き体験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613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煙・音・ロゼ色の断面がSNS映え。来店動機を設計する。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ポジショニングマップ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57784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6510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「健康・発酵 × 肉 × ランチ＆ディナー」は競合ゼロの完全空白地帯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看板3品　――　これを食べに来る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5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SNS映え No.1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糀漬けサガリの
石板焼き定食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北海道産サガリを糀で48時間熟成。
石板で焼き上げる煙と音が体験価値に。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34.5%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定食の王道×発酵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糀漬け豚の
厚切りカツ定食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糀漬け豚ロースを低温調理後に揚げる。
ロゼ色の断面が口コミの起点。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32.1%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ヘルシー需要取込み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糀漬け鶏の
ロースト定食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鶏もも肉を糀×ハーブで低温ロースト。
鶏の旨みが最大限に引き出される。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7A6A"/>
                </a:solidFill>
              </a:rPr>
              <a:t>全3品にライス・味噌汁・小鉢2品・漬物が付く。「体にいい定食」を徹底追求。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競合5店　繁盛の法則と然の優位性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6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38404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店舗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1709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月商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ランチ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発酵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3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肉特化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FC展開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66543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18541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なかよし（恵比寿）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2185415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986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88336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07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つむぎ堂（新宿）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2807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1,500万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986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3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310128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びゃく（学芸大学）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4" y="34290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86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3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31920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4050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ひまり堂（恵比寿）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0507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850万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986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3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53712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46725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ひまり商店（新橋）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8104" y="4672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1,700万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3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75504"/>
            <a:ext cx="11247120" cy="58521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529437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★ 肉酒場 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18104" y="52943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720万目標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114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986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58583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30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「健康・発酵 × 肉 × ランチ×ディナー × FC」を同時に満たすのは然だけ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代表者プロフィール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経歴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9424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1762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都内約25店舗展開　焼肉レストランブランド　運営本部長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07791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34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現 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83463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やきとり家すみれ　運営本部長（SV体制構築・販促・業績管理）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兼 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4930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EC通販事業 経営メンバー（販売戦略・商品企画・数値分析）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5つの強み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494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01  複数店舗の運営経験（本部長として売上・利益・人材を総合管理）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352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535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02  現場と経営の両立（現場課題と経営数値の両方を深く理解）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210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393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03  数字に基づく改善力（客数・客単価・原価・人件費を分解改善）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068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251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04  商品企画・販促経験（SNS・LINE・キャンペーンによる集客実績）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9926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05  人材育成と仕組み化（属人化しない標準化・教育体制の構築）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11247120" cy="9601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963C"/>
                </a:solidFill>
              </a:rPr>
              <a:t>「飲食の現場と数字を両方知っている人間が、
　ゼロから作るブランドだから強い。」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収支計画　――　堅実な数字設計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月次売上目標（安定期・30席）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57784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客単価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5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席数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1214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回転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営業日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売上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0592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2374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ランチ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2,000円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5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523744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270万円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26080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9992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ディナー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5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299923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450万円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5577840" cy="45720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347472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合計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5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347472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8536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フェーズ別収支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1596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074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立ち上げ期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0〜3ヶ月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360万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4074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▲72万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1032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017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成長期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3〜6ヶ月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504万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001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7A6A"/>
                </a:solidFill>
              </a:rPr>
              <a:t>＋14万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50468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5961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安定期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6ヶ月〜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648万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55961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7A5A"/>
                </a:solidFill>
              </a:rPr>
              <a:t>＋142万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1664208"/>
            <a:ext cx="5486400" cy="48463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1792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損益分岐点分析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2286000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2359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損益分岐点売上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460万円/月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798064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2871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目標売上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871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720万円/月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310128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目標対比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64%で黒字転換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822191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89534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固定費合計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89534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約175万円/月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4334256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44074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FL比率（安定期）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4407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48.6%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4846320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4919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安定期営業利益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約142万円/月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5358384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54315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月次返済（友人＋公庫）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約20万円/月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5870448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5943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返済後手残り（安定期）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5943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約122万円/月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資金調達計画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調達構成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代表 自己資金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311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90%持分（株式）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出資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169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70万円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535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10%持分（株式）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株主借入金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027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1,430万円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393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金利1%・10年返済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068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日本政策金融公庫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885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500万円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325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金利2%・7年返済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5577840" cy="65836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調達総額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99262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3C"/>
                </a:solidFill>
              </a:rPr>
              <a:t>2,630万円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資金使途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176272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2494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物件取得費（保証金・礼金）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49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350万円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06624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7797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内装・設備工事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7797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870万円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36976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3101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厨房機器・備品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10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200万円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767327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840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仕入・食材初回発注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8404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50万円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97679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7083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採用・オープン前研修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3708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28031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901183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マーケティング（3ヶ月分）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90118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45万円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358383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3153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運転資金（3ヶ月分）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43153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405万円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888736"/>
            <a:ext cx="5486400" cy="49377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961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手元残金（緊急予備）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961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手元残金630万円は立ち上げ期の赤字（▲216万）を十分カバー。財務安全性は高い。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展開ロードマップ　7年で100店舗へ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実証期　1〜2年目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1〜2店舗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直営1号店で型をつくる
QSC・レシピ・教育マニュアル完成
インフルエンサー戦略で認知獲得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月商黒字化
リピート率60%以上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横展開期　3年目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2〜5店舗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直営2〜3号店 ＋ FC募集開始
FC加盟オーナー教育体制構築
三軒茶屋・目黒・自由が丘エリアへ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FC1号店開業
グループ月商2,000万超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加速期　4〜5年目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20〜50店舗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480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FC中心に年15〜20店舗ペース
魚酒場 然・鶏酒場 然も展開開始
SV体制・本部機能を整備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FC比率70%以上
年商10億超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確立期　6〜7年目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C"/>
                </a:solidFill>
              </a:rPr>
              <a:t>100店舗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088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全国展開・上場検討
ブランド価値の確立
「然」を食文化のアイコンへ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100店舗達成
上場準備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067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A6A"/>
                </a:solidFill>
              </a:rPr>
              <a:t>FC展開により資本効率を最大化。オーナーのノウハウを型にして横展開する。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GROUP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グループ事業戦略　――　3つの柱で成長する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メイン事業　Year1〜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肉酒場 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糀漬け肉×定食居酒屋の直営・FC展開。
7年目100店舗・年商86億を目指すコア事業。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86億円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100店舗 / FC展開 / 上場検討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立ち食い蕎麦FC　Year4〜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蕎麦 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然の発酵だし×立ち食い蕎麦の
FC業態。2人OP・客単価1,500円。
月商400万円・高回転モデルで
FC加盟者の収益性を高く設計。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12億円（約25店舗）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2人OP / 月商400万 / 客単価1,500円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事業部化　Year3〜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SNS事業部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3年目に事業部として独立。
SNSコンサルティングと
クリエイティブ制作を軸に
飲食業界特化で展開。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2.5億円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月額顧問契約 / 案件単価UP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69280"/>
            <a:ext cx="11247120" cy="8229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42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7A6A"/>
                </a:solidFill>
              </a:rPr>
              <a:t>7年目グループ合計年商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C"/>
                </a:solidFill>
              </a:rPr>
              <a:t>約103億円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788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（然86億 ＋ 蕎麦 然12億 ＋ SNS事業部4.5億）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集客・マーケティング戦略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① インフルエンサー戦略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ひまり商店モデル（初月1,700万円）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開業3ヶ月前からマイクロ〜メガ
インフルエンサーをリスト化。
無料招待→動画・リール投稿で
オープン前から認知を爆発させる。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② Instagram中心のSNS設計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石板の煙・音・断面美を動画化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撮られることを前提にした
商品・空間・BGMの設計。
「映え」ではなく「体験動画」
として拡散される仕掛けを作る。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③ MEO（Googleマップ）対策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「肉酒場 三軒茶屋」で1位獲得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業態説明に「糀漬け肉定食居酒屋」
を明記。写真・口コミ・投稿頻度
で上位表示を維持する。
AI検索（AIO）にも対応した記述。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④ ランチ×ディナー来店設計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一人の客が昼も夜も来る店に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ランチで日常客を獲得し、
夜の酒場に引き上げる。
LINE公式・スタンプカードで
リピートを仕組み化する。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LAUNCH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オープン戦略　――　開業前から火をつける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13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-6ヶ月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物件契約・内装着工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Instagramアカウント開設（コンセプト発信）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インフルエンサーリスト作成（50名以上）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メニュー最終決定・レシピ標準化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-3ヶ月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認知獲得期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マイクロインフルエンサー（1万〜10万）20名招待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3864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工事中の様子・仕込み動画をリール投稿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3864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Googleビジネスプロフィール登録・MEO開始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3864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プレスリリース・食メディアへのアプローチ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-1ヶ月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加熱期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8232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メガインフルエンサー（10万〜）5名招待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232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プレオープン（関係者・常連候補・地元住民）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8232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Instagramカウントダウン投稿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Googleマップ写真・口コミ初期投稿の準備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1664208"/>
            <a:ext cx="2788920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9448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20B"/>
                </a:solidFill>
              </a:rPr>
              <a:t>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爆発期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オープン当日ライブ配信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72600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初月は意図的に「並ばせる」演出で話題化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8904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日次で売上・客数・SNS反応をモニタリング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8904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口コミ返信を毎日・MEO評価を週次チェック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参考：ひまり商店（新橋）は開業前からのインフルエンサー戦略で初月1,700万円を達成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FC展開戦略　――　型をつくり、型で増やす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FCパッケージ設計（予定）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3113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6771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ブランド使用権・初期研修込み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ロイヤリティ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4378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売上の3%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036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本部サポート・仕入支援含む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93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保証金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5643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930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退会時返還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6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056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加盟者の初期投資目安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6908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1,500〜2,000万円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05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物件・内装・設備込み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26864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1830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FC加盟者の想定月商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68172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600〜720万円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1830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直営モデルの再現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39512"/>
            <a:ext cx="5577840" cy="56692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FCオーナーの想定手残り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29437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月60〜90万円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309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ロイヤリティ・返済後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FC加盟者ターゲット像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176272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8" y="22677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飲食経験者の独立志望者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26974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元料理人・飲食チェーン出身者。
現場力があり、ブランドの型を活かせる。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66160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566160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657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副業・投資目的の個人オーナー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087367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他業種からの参入。オーナー不在でも
回るオペレーションを本部が支援。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956048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956048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5047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地方への展開パートナー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477255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東京モデルを地方に持ち込む
エリアFCオーナー。複数店舗可。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291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FC本部収益（100店舗時）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100店×720万×3%ロイヤリティ ＝ 月2,160万円 / 年2.6億円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LOCATION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立地・出店戦略　――　勝てる場所を選ぶ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物件選定スコアリング基準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乗降者数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5万人/日以上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94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駅徒歩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5分以内・路面優先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4378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1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5643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坪数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15〜25坪（理想20坪）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438143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935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家賃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507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50万円以内（坪2.5万以下）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325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451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設備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451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重飲食対応・居抜き優先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62686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480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395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競合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39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同業態が近くに集中していない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212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7A6A"/>
                </a:solidFill>
              </a:rP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優先出店エリア（1号店候補）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6771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三軒茶屋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約10万人/日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2491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住宅街×夜の人通り◎
飲食激戦区だが差別化余地大
渋谷から2駅の好立地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74904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目黒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767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約12万人/日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206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30〜40代富裕層多い
平均客単価が高く取りやすい
ランチ需要も強い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2303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自由が丘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248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約8万人/日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687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感度高い客層・SNS拡散◎
カフェ・グルメ激戦区
ブランドイメージ向上に寄与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1号店は三軒茶屋〜目黒エリアで検討。居抜き物件を優先し初期投資を抑制する。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BRAND &amp; SNS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ブランド・SNS戦略　――　「然」を育てる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ブランドアーキテクチャ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176272"/>
            <a:ext cx="2697480" cy="51206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203704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20B"/>
                </a:solidFill>
              </a:rPr>
              <a:t>然（ぜん）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肉酒場 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1号店〜
糀漬け肉×石板焼き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魚酒場 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2年目〜
魚介×発酵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鶏酒場 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3年目〜
やきとり×糀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SEO / MEO / AIO設計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032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92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「肉酒場」「糀漬け定食」＋エリア名でコンテンツ設計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30952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MEO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330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Googleマップ説明に「糀漬け肉定食居酒屋」を明記。写真・口コミを週次更新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9864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788152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AIO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769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AI検索で「糀漬け肉定食の居酒屋」として説明されやすい構造的な記述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08775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27063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指名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620877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「然（ぜん）」を固有名詞として育て、リピーター指名検索を増やす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SNSコンテンツ設計（Instagram）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体験動画（リール）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週3本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633472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石板の煙・音・肉の断面。
「見ていて気持ちいい」が拡散の鍵。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310128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3741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仕込みの裏側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週2本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767328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糀漬けの工程・仕込み動画。
「作り手が見える」信頼感を演出。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443983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50799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インフルエンサーUGC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随時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901183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招待者の投稿をリポスト。
他者目線の口コミが最強の広告。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577840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6418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オーナーの想い発信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週1本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6035040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開業ストーリー・日々の学び。
「この人から買いたい」を育てる。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オペレーション設計　――　型が利益を生む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仕込みフロー（前日→当日）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15:00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67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サガリ・豚・鶏を糀に漬け込み（各48h）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17:00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16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低温調理器にセット（サガリ55℃×4h）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当日 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仕込み完了・ポーション確認・ライン設定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22191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136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ランチ営業開始（石板+トッピング仕上げ30秒）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0831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6227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ランチ終了・ディナー仕込み補充・清掃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1947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17:30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109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ディナー営業開始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6811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595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22:30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59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閉店・翌日仕込み開始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FC展開を可能にする3つの仕組み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176272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2677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低温調理×前日仕込み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27249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温度・時間が数値化されているため
誰が作っても同じ品質に仕上がる。
料理経験が浅いスタッフでも対応可能。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657600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7490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石板仕上げ（30秒）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調理の最終工程は石板で30秒焼くだけ。
オペレーションが極めてシンプルで
ホール兼務も可能なスキーム。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5138928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52303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③ レシピ・マニュアルの完全数値化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56875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仕込み温度・時間・グラム数を
全てマニュアル化。SVが巡回研修で
品質を均一化する体制を構築。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「低温調理×石板仕上げ」は職人不要のオペレーションを実現し、FC展開の最大の武器になる。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データ経営　――　感覚ではなく数字で動く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KPI管理サイクル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日次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客数・客単価・売上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時間帯別回転数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メニュー別注文数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SNSエンゲージメント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週次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原価率・人件費率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FL比率の確認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口コミ・MEO評価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前週比・前年比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月次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損益計算書の確認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リピート率・新規比率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メニュー見直し判断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広告ROI測定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重要KPI目標値（1号店・安定期）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2219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月商目標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212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720万円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安定期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624328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70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660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460万円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6883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目標の64%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072384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1181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ランチ回転数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3136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520439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566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ディナー回転数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5570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358444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968496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0142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30%以下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403250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FL管理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416552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4462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人件費率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453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18〜22%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体制次第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864608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49103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49011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48〜52%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92861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目標50%以下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5312664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358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リピート率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60%以上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53766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6ヶ月後目標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760720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5806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Googleマップ評価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5797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4.0以上維持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8247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MEO管理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6208776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6254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Instagram フォロワー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6245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1万人（1年目）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9880" y="62727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SNS資産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参考：つむぎ堂は毎日注文数・売上をスタッフと共有するデータ経営で坪月商57万円を実現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HQ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本部経費・賞与引当　――　スケールと共に整備する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本部経費ロードマップ（Year3〜）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3年目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0.3億円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50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SV1名・経理外注・小オフィス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4年目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71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0.8億円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90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SV2名・人事採用・本部スタッフ3名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5年目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1.5億円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30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本部スタッフ6名・FC支援チーム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6年目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51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2.5億円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SV5名・マーケ専任・IT担当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5760720" cy="5943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7年目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920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4.0億円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本部組織完成形（100店舗対応）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4068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8〜10年目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532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5〜7億円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5504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上場準備・海外展開準備コスト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賞与引当（売上の1%相当）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240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全店舗売上に対して1%を
グループ本部へ計上。
・ブランド維持費（商標登録・更新）
・POSシステム・オペレーションツール
・本部マーケティング共通費
・FC加盟店サポート費用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389120"/>
            <a:ext cx="5394960" cy="5029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165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7年目 賞与引当総額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41655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A120B"/>
                </a:solidFill>
              </a:rPr>
              <a:t>約1.0億円/年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E6D3"/>
                </a:solidFill>
              </a:rPr>
              <a:t>賞与引当は売上1%で毎月積立。社員・バイトへの賞与原資として管理。
→ 100店舗時、本部だけで年商ベース約35億円規模のグループ収入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72200"/>
            <a:ext cx="11247120" cy="5029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179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本部経費・賞与引当控除後の実効営業利益率：Year3〜9% / Year7〜12% / Year10〜13%（15%から約2〜3%下方修正）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10-YEAR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10年財務成長シナリオ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グループ年商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103億円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営業利益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13.3億円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実効利益率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10年目 グループ年商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205億円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51760"/>
            <a:ext cx="5669280" cy="40690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51760"/>
            <a:ext cx="5669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リスクと対策　――　想定して備える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475488" cy="8778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190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立ち上げ期の売上未達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396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新店認知不足・口コミ形成に時間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719072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開業3ヶ月前からインフルエンサー戦略を実行。
手元残金630万円で最大6ヶ月の赤字に耐えられる財務設計。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6609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人材採用・定着の問題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081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飲食業界の人手不足・離職率の高さ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660904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時給を相場より50〜100円高く設定し採用競争力を確保。
仕組み化により属人依存を排除。常時採用を継続。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47872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47872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221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6027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原材料費の高騰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233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牛サガリの価格変動・円安影響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602736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複数仕入れ先を確保し価格交渉力を維持。
鶏・豚メニューの比率調整で原価率をコントロール。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89704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489704"/>
            <a:ext cx="475488" cy="877824"/>
          </a:xfrm>
          <a:prstGeom prst="rect">
            <a:avLst/>
          </a:prstGeom>
          <a:solidFill>
            <a:srgbClr val="27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6402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5445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④ 競合の模倣・追随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965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糀漬け肉定食業態の競合参入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544568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ブランド「然」の商標登録で保護（第43類・飲食）。
先行者優位と顧客ロイヤリティで差別化を維持。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1536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431536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705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4864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⑤ FC加盟者の品質管理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9070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FC展開後のQSCばらつき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5486400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SV定期巡回（月1回以上）・抜き打ち覆面調査の実施。
数値基準を下回る店舗には改善プログラムを発動。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今後90日のアクションプラン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374903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0〜30日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仕込みと準備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会社設立（登記・口座開設）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「肉酒場 然」商標調査・出願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物件情報収集（三軒茶屋・目黒・自由が丘）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日本政策金融公庫への相談・申込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Instagramアカウント開設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64208"/>
            <a:ext cx="3749039" cy="420624"/>
          </a:xfrm>
          <a:prstGeom prst="rect">
            <a:avLst/>
          </a:prstGeom>
          <a:solidFill>
            <a:srgbClr val="3A2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30〜60日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物件決定と資金確定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物件内見・スコアリング評価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公庫面談・融資確定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物件契約・内装業者選定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インフルエンサーリスト作成（50名）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メニュー最終試作・原価計算確定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664208"/>
            <a:ext cx="3749039" cy="420624"/>
          </a:xfrm>
          <a:prstGeom prst="rect">
            <a:avLst/>
          </a:prstGeom>
          <a:solidFill>
            <a:srgbClr val="3A2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60〜90日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着工と認知獲得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内装・厨房工事着工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スタッフ採用開始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インフルエンサー招待DM開始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Googleビジネスプロフィール登録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POSシステム・決済端末導入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46520"/>
            <a:ext cx="11247120" cy="3657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648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90日後のゴール：物件契約完了・融資確定・SNS認知スタート　→　開業へ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91440"/>
            <a:ext cx="51206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私たちが目指す未来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521208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6D3"/>
                </a:solidFill>
              </a:rPr>
              <a:t>日本全国に「然」の灯りを。
7年で100店舗。
発酵と肉で、新しい定番をつくる。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7A6A"/>
                </a:solidFill>
              </a:rPr>
              <a:t>肉酒場 然は、単なる飲食店ではありません。
糀という日本の発酵文化と、現代人の「おいしくて、体にいい」
という本質的なニーズを結びつけた、新しいブランドです。
直営で型をつくり、FCで全国へ。
その先には、日本の食文化に残る一皿があります。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